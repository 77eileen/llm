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81" r:id="rId3"/>
    <p:sldId id="282" r:id="rId4"/>
    <p:sldId id="280" r:id="rId5"/>
    <p:sldId id="284" r:id="rId6"/>
    <p:sldId id="258" r:id="rId7"/>
    <p:sldId id="260" r:id="rId8"/>
    <p:sldId id="261" r:id="rId9"/>
    <p:sldId id="262" r:id="rId10"/>
    <p:sldId id="264" r:id="rId11"/>
    <p:sldId id="263" r:id="rId12"/>
    <p:sldId id="265" r:id="rId13"/>
    <p:sldId id="266" r:id="rId14"/>
    <p:sldId id="283" r:id="rId15"/>
    <p:sldId id="267" r:id="rId16"/>
    <p:sldId id="286" r:id="rId17"/>
    <p:sldId id="270" r:id="rId18"/>
    <p:sldId id="285" r:id="rId19"/>
    <p:sldId id="272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437"/>
    <a:srgbClr val="0B431F"/>
    <a:srgbClr val="E1CCF0"/>
    <a:srgbClr val="0033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35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28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특성</a:t>
            </a:r>
            <a:r>
              <a:rPr lang="en-US" altLang="ko-KR" baseline="0" dirty="0"/>
              <a:t> </a:t>
            </a:r>
            <a:r>
              <a:rPr lang="ko-KR" altLang="en-US" baseline="0" dirty="0"/>
              <a:t>중요도</a:t>
            </a:r>
            <a:r>
              <a:rPr lang="en-US" altLang="ko-KR" baseline="0" dirty="0"/>
              <a:t>(Top 10)</a:t>
            </a:r>
            <a:endParaRPr lang="en-US" alt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3200337138343566"/>
          <c:y val="0.15554004798558399"/>
          <c:w val="0.64412508393404921"/>
          <c:h val="0.767811376926829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spPr>
            <a:solidFill>
              <a:schemeClr val="accent1"/>
            </a:solidFill>
            <a:ln w="1270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39C-4311-B981-7C635E086498}"/>
              </c:ext>
            </c:extLst>
          </c:dPt>
          <c:dPt>
            <c:idx val="1"/>
            <c:invertIfNegative val="0"/>
            <c:bubble3D val="0"/>
            <c:spPr>
              <a:solidFill>
                <a:srgbClr val="B8D4EE"/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39C-4311-B981-7C635E086498}"/>
              </c:ext>
            </c:extLst>
          </c:dPt>
          <c:dPt>
            <c:idx val="2"/>
            <c:invertIfNegative val="0"/>
            <c:bubble3D val="0"/>
            <c:spPr>
              <a:solidFill>
                <a:srgbClr val="ACCCEA"/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39C-4311-B981-7C635E086498}"/>
              </c:ext>
            </c:extLst>
          </c:dPt>
          <c:dPt>
            <c:idx val="3"/>
            <c:invertIfNegative val="0"/>
            <c:bubble3D val="0"/>
            <c:spPr>
              <a:solidFill>
                <a:srgbClr val="A3C7E7"/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39C-4311-B981-7C635E086498}"/>
              </c:ext>
            </c:extLst>
          </c:dPt>
          <c:dPt>
            <c:idx val="4"/>
            <c:invertIfNegative val="0"/>
            <c:bubble3D val="0"/>
            <c:spPr>
              <a:solidFill>
                <a:srgbClr val="84B4E0"/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39C-4311-B981-7C635E086498}"/>
              </c:ext>
            </c:extLst>
          </c:dPt>
          <c:dPt>
            <c:idx val="5"/>
            <c:invertIfNegative val="0"/>
            <c:bubble3D val="0"/>
            <c:spPr>
              <a:solidFill>
                <a:srgbClr val="70A8DA"/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A39C-4311-B981-7C635E086498}"/>
              </c:ext>
            </c:extLst>
          </c:dPt>
          <c:dPt>
            <c:idx val="6"/>
            <c:invertIfNegative val="0"/>
            <c:bubble3D val="0"/>
            <c:spPr>
              <a:solidFill>
                <a:srgbClr val="4E93D2"/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A39C-4311-B981-7C635E086498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A39C-4311-B981-7C635E086498}"/>
              </c:ext>
            </c:extLst>
          </c:dPt>
          <c:dPt>
            <c:idx val="8"/>
            <c:invertIfNegative val="0"/>
            <c:bubble3D val="0"/>
            <c:spPr>
              <a:solidFill>
                <a:srgbClr val="225686"/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A39C-4311-B981-7C635E086498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5">
                  <a:lumMod val="50000"/>
                  <a:alpha val="99000"/>
                </a:schemeClr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A39C-4311-B981-7C635E08649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1F3D19B-046E-46C4-83B6-0CF5643B67F0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39C-4311-B981-7C635E08649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F551B0C-42AD-4825-9A2D-6A575DBBB216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39C-4311-B981-7C635E08649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449E5A2-FD8A-447B-8BBA-2DA4E2A3A256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A39C-4311-B981-7C635E08649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A840EDA4-70B3-4F3E-BD5E-6A1536B6F5AD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A39C-4311-B981-7C635E08649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D362B9C3-1C27-41C1-A05B-6A574DFC0F44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A39C-4311-B981-7C635E08649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5B988261-7839-4545-B92F-A6D48830F50C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A39C-4311-B981-7C635E08649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80822F51-8ED5-498F-9503-B6149981505B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A39C-4311-B981-7C635E08649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6520CB39-2623-456C-8112-446C9BA07E01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F-A39C-4311-B981-7C635E08649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1641ECFA-DFA5-4E23-8796-CB581528F24E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1-A39C-4311-B981-7C635E08649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DBCCD401-6F26-4991-B6D2-A3AE2C1CD981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3-A39C-4311-B981-7C635E08649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지불방식</c:v>
                </c:pt>
                <c:pt idx="1">
                  <c:v>신규회원</c:v>
                </c:pt>
                <c:pt idx="2">
                  <c:v>최근 활동</c:v>
                </c:pt>
                <c:pt idx="3">
                  <c:v>이탈 위험도</c:v>
                </c:pt>
                <c:pt idx="4">
                  <c:v>나이</c:v>
                </c:pt>
                <c:pt idx="5">
                  <c:v>누적 수업 참여도</c:v>
                </c:pt>
                <c:pt idx="6">
                  <c:v>최근 수업 참여 빈도</c:v>
                </c:pt>
                <c:pt idx="7">
                  <c:v>계약 유형 및 기간</c:v>
                </c:pt>
                <c:pt idx="8">
                  <c:v>회원 유지 기간</c:v>
                </c:pt>
                <c:pt idx="9">
                  <c:v>계약 만료까지 남은 기간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3.2</c:v>
                </c:pt>
                <c:pt idx="1">
                  <c:v>3.99</c:v>
                </c:pt>
                <c:pt idx="2">
                  <c:v>4.51</c:v>
                </c:pt>
                <c:pt idx="3">
                  <c:v>5.88</c:v>
                </c:pt>
                <c:pt idx="4">
                  <c:v>6.12</c:v>
                </c:pt>
                <c:pt idx="5">
                  <c:v>7.56</c:v>
                </c:pt>
                <c:pt idx="6">
                  <c:v>9.8699999999999992</c:v>
                </c:pt>
                <c:pt idx="7">
                  <c:v>12.89</c:v>
                </c:pt>
                <c:pt idx="8">
                  <c:v>15.23</c:v>
                </c:pt>
                <c:pt idx="9">
                  <c:v>18.399999999999999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A39C-4311-B981-7C635E0864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2455855"/>
        <c:axId val="2092457295"/>
      </c:barChart>
      <c:catAx>
        <c:axId val="2092455855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92457295"/>
        <c:crosses val="autoZero"/>
        <c:auto val="1"/>
        <c:lblAlgn val="ctr"/>
        <c:lblOffset val="100"/>
        <c:noMultiLvlLbl val="0"/>
      </c:catAx>
      <c:valAx>
        <c:axId val="209245729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24558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95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네 지금부터 </a:t>
            </a:r>
            <a:r>
              <a:rPr lang="en-US" altLang="ko-KR" dirty="0"/>
              <a:t>2</a:t>
            </a:r>
            <a:r>
              <a:rPr lang="ko-KR" altLang="en-US" dirty="0"/>
              <a:t>팀 프로젝트 발표 진행하도록 하겠습니다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 dirty="0"/>
              <a:t>저희 팀은 다음과 같이 프로젝트를 구성하였습니다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8405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 dirty="0"/>
              <a:t>첫번째로 프로젝트의 개요와 목적에 대해 살펴보겠습니다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3470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51402-DF55-EA39-F699-08422163E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C1BFA-B028-923A-6209-DC2F9345E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EAE14-A7C5-C33F-C1FC-63D7E7137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혹시 </a:t>
            </a:r>
            <a:r>
              <a:rPr lang="ko-KR" altLang="en-US" dirty="0" err="1"/>
              <a:t>헬시플레저라는</a:t>
            </a:r>
            <a:r>
              <a:rPr lang="ko-KR" altLang="en-US" dirty="0"/>
              <a:t> 단어 </a:t>
            </a:r>
            <a:r>
              <a:rPr lang="ko-KR" altLang="en-US" dirty="0" err="1"/>
              <a:t>들어보셨을까요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ko-KR" altLang="en-US" dirty="0" err="1"/>
              <a:t>헬시플레저는</a:t>
            </a:r>
            <a:r>
              <a:rPr lang="ko-KR" altLang="en-US" dirty="0"/>
              <a:t> 건강과 즐거움의 합성어로 요즘 사회 트렌드인 운동을 통해 건강관리를 하며 맛있는 음식을 먹는 트렌드를 뜻하는데요</a:t>
            </a:r>
            <a:r>
              <a:rPr lang="en-US" altLang="ko-KR" dirty="0"/>
              <a:t>,</a:t>
            </a:r>
            <a:r>
              <a:rPr lang="ko-KR" altLang="en-US" dirty="0"/>
              <a:t> 이런 트렌드와 대비되는 한 통계자료가 있었습니다</a:t>
            </a:r>
            <a:r>
              <a:rPr lang="en-US" altLang="ko-KR" dirty="0"/>
              <a:t>.</a:t>
            </a:r>
            <a:r>
              <a:rPr lang="ko-KR" altLang="en-US" dirty="0"/>
              <a:t> 행안부에서 발표한 통계에 따르면 전국 헬스장 폐업이 증가하는 추세로 밝혀졌는데요</a:t>
            </a:r>
            <a:r>
              <a:rPr lang="en-US" altLang="ko-KR" dirty="0"/>
              <a:t>,</a:t>
            </a:r>
            <a:r>
              <a:rPr lang="ko-KR" altLang="en-US" dirty="0"/>
              <a:t> 이는 높은 회원 </a:t>
            </a:r>
            <a:r>
              <a:rPr lang="ko-KR" altLang="en-US" dirty="0" err="1"/>
              <a:t>이탈률이</a:t>
            </a:r>
            <a:r>
              <a:rPr lang="ko-KR" altLang="en-US" dirty="0"/>
              <a:t> 주 요인이라고 합니다</a:t>
            </a:r>
            <a:r>
              <a:rPr lang="en-US" altLang="ko-KR" dirty="0"/>
              <a:t>.</a:t>
            </a:r>
            <a:r>
              <a:rPr lang="ko-KR" altLang="en-US" dirty="0"/>
              <a:t> 따라서 본 프로젝트는 저희가 배운 </a:t>
            </a:r>
            <a:r>
              <a:rPr lang="ko-KR" altLang="en-US" dirty="0" err="1"/>
              <a:t>머신러닝과</a:t>
            </a:r>
            <a:r>
              <a:rPr lang="ko-KR" altLang="en-US" dirty="0"/>
              <a:t> </a:t>
            </a:r>
            <a:r>
              <a:rPr lang="ko-KR" altLang="en-US" dirty="0" err="1"/>
              <a:t>딥러닝을</a:t>
            </a:r>
            <a:r>
              <a:rPr lang="ko-KR" altLang="en-US" dirty="0"/>
              <a:t> 활용한 예측 모델을 구축해 이탈 가능성이 높은 고객을 </a:t>
            </a:r>
            <a:r>
              <a:rPr lang="ko-KR" altLang="en-US" dirty="0" err="1"/>
              <a:t>사전식별하여</a:t>
            </a:r>
            <a:r>
              <a:rPr lang="ko-KR" altLang="en-US" dirty="0"/>
              <a:t> 선제대응을 가능하게 하고자 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8F7E5-14DC-F82A-AF7D-1B67E7D643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27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 dirty="0"/>
              <a:t>다음으로 데이터 </a:t>
            </a:r>
            <a:r>
              <a:rPr kumimoji="1" lang="ko-KR" altLang="en-US" dirty="0" err="1"/>
              <a:t>전처리</a:t>
            </a:r>
            <a:r>
              <a:rPr kumimoji="1" lang="ko-KR" altLang="en-US" dirty="0"/>
              <a:t> 및 학습 과정을 보시겠습니다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0777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팀은 </a:t>
            </a:r>
            <a:r>
              <a:rPr lang="ko-KR" altLang="en-US" dirty="0" err="1"/>
              <a:t>케글에서</a:t>
            </a:r>
            <a:r>
              <a:rPr lang="ko-KR" altLang="en-US" dirty="0"/>
              <a:t>  찾은 헬스장 고객 특성과 이탈여부 데이터셋을 활용했습니다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4002</a:t>
            </a:r>
            <a:r>
              <a:rPr lang="ko-KR" altLang="en-US" dirty="0"/>
              <a:t>개의 고객 샘플과 </a:t>
            </a:r>
            <a:r>
              <a:rPr lang="en-US" altLang="ko-KR" dirty="0"/>
              <a:t>24</a:t>
            </a:r>
            <a:r>
              <a:rPr lang="ko-KR" altLang="en-US" dirty="0"/>
              <a:t>개의 특성 </a:t>
            </a:r>
            <a:r>
              <a:rPr lang="en-US" altLang="ko-KR" dirty="0"/>
              <a:t>column</a:t>
            </a:r>
            <a:r>
              <a:rPr lang="ko-KR" altLang="en-US" dirty="0"/>
              <a:t>을 가지고 있었는데요</a:t>
            </a:r>
            <a:r>
              <a:rPr lang="en-US" altLang="ko-KR" dirty="0"/>
              <a:t>,</a:t>
            </a:r>
            <a:r>
              <a:rPr lang="ko-KR" altLang="en-US" dirty="0"/>
              <a:t> 클래스 분포는 다음과 같이 </a:t>
            </a:r>
            <a:r>
              <a:rPr lang="en-US" altLang="ko-KR" dirty="0"/>
              <a:t>7:3</a:t>
            </a:r>
            <a:r>
              <a:rPr lang="ko-KR" altLang="en-US" dirty="0"/>
              <a:t>의 비율을 가지고 있었습니다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ko-KR" altLang="en-US" dirty="0" err="1"/>
              <a:t>결측치는</a:t>
            </a:r>
            <a:r>
              <a:rPr lang="ko-KR" altLang="en-US" dirty="0"/>
              <a:t> 존재하지 않았으며</a:t>
            </a:r>
            <a:r>
              <a:rPr lang="en-US" altLang="ko-KR" dirty="0"/>
              <a:t>,</a:t>
            </a:r>
            <a:r>
              <a:rPr lang="ko-KR" altLang="en-US" dirty="0"/>
              <a:t> 주요 특성으로는 고객 기본 정보</a:t>
            </a:r>
            <a:r>
              <a:rPr lang="en-US" altLang="ko-KR" dirty="0"/>
              <a:t>,</a:t>
            </a:r>
            <a:r>
              <a:rPr lang="ko-KR" altLang="en-US" dirty="0"/>
              <a:t> 계약 정보</a:t>
            </a:r>
            <a:r>
              <a:rPr lang="en-US" altLang="ko-KR" dirty="0"/>
              <a:t>,</a:t>
            </a:r>
            <a:r>
              <a:rPr lang="ko-KR" altLang="en-US" dirty="0"/>
              <a:t> 행동 데이터가 있었습니다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과정을 살펴보겠습니다</a:t>
            </a:r>
            <a:r>
              <a:rPr lang="en-US" altLang="ko-KR" dirty="0"/>
              <a:t>.</a:t>
            </a:r>
            <a:r>
              <a:rPr lang="ko-KR" altLang="en-US" dirty="0"/>
              <a:t> 첫 번째로 </a:t>
            </a:r>
            <a:r>
              <a:rPr lang="en-US" altLang="ko-KR" dirty="0"/>
              <a:t>Train-Test </a:t>
            </a:r>
            <a:r>
              <a:rPr lang="ko-KR" altLang="en-US" dirty="0"/>
              <a:t>셋을 </a:t>
            </a:r>
            <a:r>
              <a:rPr lang="en-US" altLang="ko-KR" dirty="0"/>
              <a:t>8:2</a:t>
            </a:r>
            <a:r>
              <a:rPr lang="ko-KR" altLang="en-US" dirty="0"/>
              <a:t> 비율로 분할하였으며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Standard Scaler</a:t>
            </a:r>
            <a:r>
              <a:rPr lang="ko-KR" altLang="en-US" dirty="0" err="1"/>
              <a:t>를</a:t>
            </a:r>
            <a:r>
              <a:rPr lang="ko-KR" altLang="en-US" dirty="0"/>
              <a:t> 적용하여 특성의 스케일 차이로 인한 모델 성능 저하를 방지하였습니다</a:t>
            </a:r>
            <a:r>
              <a:rPr lang="en-US" altLang="ko-KR" dirty="0"/>
              <a:t>.</a:t>
            </a:r>
            <a:r>
              <a:rPr lang="ko-KR" altLang="en-US" dirty="0"/>
              <a:t> 그 이후 </a:t>
            </a:r>
            <a:r>
              <a:rPr lang="en-US" altLang="ko-KR" dirty="0"/>
              <a:t>SMOTE</a:t>
            </a:r>
            <a:r>
              <a:rPr lang="ko-KR" altLang="en-US" dirty="0"/>
              <a:t> 기법을 활용하여 클래스의 불균형을 해소하였습니다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SMOTE </a:t>
            </a:r>
            <a:r>
              <a:rPr lang="ko-KR" altLang="en-US" dirty="0"/>
              <a:t>기법을 활용하여 클래스 분포를 </a:t>
            </a:r>
            <a:r>
              <a:rPr lang="en-US" altLang="ko-KR" dirty="0"/>
              <a:t>1:1</a:t>
            </a:r>
            <a:r>
              <a:rPr lang="ko-KR" altLang="en-US" dirty="0"/>
              <a:t>로 맞췄으며 적용했을 때와 대비하여 </a:t>
            </a:r>
            <a:r>
              <a:rPr lang="en-US" altLang="ko-KR" dirty="0"/>
              <a:t>F1 Score</a:t>
            </a:r>
            <a:r>
              <a:rPr lang="ko-KR" altLang="en-US" dirty="0"/>
              <a:t>의 향상을 이뤘습니다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팀은 모델의 예측력을 극대화하기 위해 </a:t>
            </a:r>
            <a:r>
              <a:rPr lang="en-US" altLang="ko-KR" dirty="0"/>
              <a:t>11</a:t>
            </a:r>
            <a:r>
              <a:rPr lang="ko-KR" altLang="en-US" dirty="0"/>
              <a:t>개의 파생 변수를 추가로 생성하였습니다</a:t>
            </a:r>
            <a:r>
              <a:rPr lang="en-US" altLang="ko-KR" dirty="0"/>
              <a:t>.</a:t>
            </a:r>
            <a:r>
              <a:rPr lang="ko-KR" altLang="en-US" dirty="0"/>
              <a:t> 주요 파생 특성으로는 다음과 같이 </a:t>
            </a:r>
            <a:r>
              <a:rPr lang="en-US" altLang="ko-KR" dirty="0"/>
              <a:t>5</a:t>
            </a:r>
            <a:r>
              <a:rPr lang="ko-KR" altLang="en-US" dirty="0"/>
              <a:t>개의 파생 변수를 선정하였습니다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Light</a:t>
            </a:r>
            <a:r>
              <a:rPr lang="en-US" altLang="ko-KR" dirty="0" err="1"/>
              <a:t>GBM</a:t>
            </a:r>
            <a:r>
              <a:rPr lang="ko-KR" altLang="en-US" dirty="0"/>
              <a:t>기법에는 </a:t>
            </a:r>
            <a:r>
              <a:rPr lang="ko-KR" altLang="en-US" dirty="0" err="1"/>
              <a:t>하이퍼파라미터</a:t>
            </a:r>
            <a:r>
              <a:rPr lang="ko-KR" altLang="en-US" dirty="0"/>
              <a:t> 튜닝을 적용했습니다</a:t>
            </a:r>
            <a:r>
              <a:rPr lang="en-US" altLang="ko-KR" dirty="0"/>
              <a:t>.</a:t>
            </a:r>
            <a:r>
              <a:rPr lang="ko-KR" altLang="en-US" dirty="0"/>
              <a:t> 파라메터들을 수차례 수정하며 테스트를 진행하였고</a:t>
            </a:r>
            <a:r>
              <a:rPr lang="en-US" altLang="ko-KR" dirty="0"/>
              <a:t>,</a:t>
            </a:r>
            <a:r>
              <a:rPr lang="ko-KR" altLang="en-US" dirty="0"/>
              <a:t> 다음과 같이 설정하였을 때 가장 큰 성능 향상을 이룰 수 있었습니다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모델로는 다음과 같이 </a:t>
            </a:r>
            <a:r>
              <a:rPr lang="ko-KR" altLang="en-US" dirty="0" err="1"/>
              <a:t>머신러닝과</a:t>
            </a:r>
            <a:r>
              <a:rPr lang="ko-KR" altLang="en-US" dirty="0"/>
              <a:t> </a:t>
            </a:r>
            <a:r>
              <a:rPr lang="ko-KR" altLang="en-US" dirty="0" err="1"/>
              <a:t>딥러닝을</a:t>
            </a:r>
            <a:r>
              <a:rPr lang="ko-KR" altLang="en-US" dirty="0"/>
              <a:t> 활용하였으며</a:t>
            </a:r>
            <a:r>
              <a:rPr lang="en-US" altLang="ko-KR" dirty="0"/>
              <a:t>,</a:t>
            </a:r>
            <a:r>
              <a:rPr lang="ko-KR" altLang="en-US" dirty="0"/>
              <a:t> 각 모델의 특성과 </a:t>
            </a:r>
            <a:r>
              <a:rPr lang="en-US" altLang="ko-KR" dirty="0"/>
              <a:t>F1 Score</a:t>
            </a:r>
            <a:r>
              <a:rPr lang="ko-KR" altLang="en-US" dirty="0" err="1"/>
              <a:t>를</a:t>
            </a:r>
            <a:r>
              <a:rPr lang="ko-KR" altLang="en-US" dirty="0"/>
              <a:t> 기준으로 평가한 결과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Stacking Ensemble</a:t>
            </a:r>
            <a:r>
              <a:rPr lang="ko-KR" altLang="en-US" dirty="0"/>
              <a:t> 모델이 가장 우수한 성능을 보였습니다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Stacking Ensemble </a:t>
            </a:r>
            <a:r>
              <a:rPr lang="ko-KR" altLang="en-US" dirty="0"/>
              <a:t>모델에 대해서는 뒤에서 설명을 드리겠습니다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Stacking Ensemble </a:t>
            </a:r>
            <a:r>
              <a:rPr lang="ko-KR" altLang="en-US" dirty="0"/>
              <a:t>모델은 여러 </a:t>
            </a:r>
            <a:r>
              <a:rPr lang="en-US" altLang="ko-KR" dirty="0"/>
              <a:t>Base </a:t>
            </a:r>
            <a:r>
              <a:rPr lang="ko-KR" altLang="en-US" dirty="0"/>
              <a:t>모델의 예측결과를 </a:t>
            </a:r>
            <a:r>
              <a:rPr lang="en-US" altLang="ko-KR" dirty="0"/>
              <a:t>Meta</a:t>
            </a:r>
            <a:r>
              <a:rPr lang="ko-KR" altLang="en-US" dirty="0"/>
              <a:t> 모델이 </a:t>
            </a:r>
            <a:r>
              <a:rPr lang="en-US" altLang="ko-KR" dirty="0"/>
              <a:t>Feature</a:t>
            </a:r>
            <a:r>
              <a:rPr lang="ko-KR" altLang="en-US" dirty="0"/>
              <a:t>로 받아 다시 학습하여 최종 예측을 수행하는 구조입니다</a:t>
            </a:r>
            <a:r>
              <a:rPr lang="en-US" altLang="ko-KR" dirty="0"/>
              <a:t>.</a:t>
            </a:r>
            <a:r>
              <a:rPr lang="ko-KR" altLang="en-US" dirty="0"/>
              <a:t> 위 모델은 개별 모델의 단점을 보완하고</a:t>
            </a:r>
            <a:r>
              <a:rPr lang="en-US" altLang="ko-KR" dirty="0"/>
              <a:t>,</a:t>
            </a:r>
            <a:r>
              <a:rPr lang="ko-KR" altLang="en-US" dirty="0"/>
              <a:t> 다양한 모델의 성능을 결합하여 최적의 성능을 추출할 수 있다는 장점이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Meta</a:t>
            </a:r>
            <a:r>
              <a:rPr lang="ko-KR" altLang="en-US" dirty="0"/>
              <a:t> 모델로는 로지스틱 회귀 외 </a:t>
            </a:r>
            <a:r>
              <a:rPr lang="en-US" altLang="ko-KR" dirty="0" err="1"/>
              <a:t>LightGBM</a:t>
            </a:r>
            <a:r>
              <a:rPr lang="en-US" altLang="ko-KR" dirty="0"/>
              <a:t>, Random Forest</a:t>
            </a:r>
            <a:r>
              <a:rPr lang="ko-KR" altLang="en-US" dirty="0"/>
              <a:t> 등 다양한 모델을 사용할 수 있지만</a:t>
            </a:r>
            <a:r>
              <a:rPr lang="en-US" altLang="ko-KR" dirty="0"/>
              <a:t>,</a:t>
            </a:r>
            <a:r>
              <a:rPr lang="ko-KR" altLang="en-US" dirty="0"/>
              <a:t> 이번 프로젝트에서는 과적합의 위험을 낮추기 위해 로지스틱 회귀 모델을 사용하였습니다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최종 성능 지표는 다음과 같습니다</a:t>
            </a:r>
            <a:r>
              <a:rPr lang="en-US" altLang="ko-KR" dirty="0"/>
              <a:t>.</a:t>
            </a:r>
            <a:r>
              <a:rPr lang="ko-KR" altLang="en-US" dirty="0"/>
              <a:t> 저희 팀의 최종 모델은 </a:t>
            </a:r>
            <a:r>
              <a:rPr lang="en-US" altLang="ko-KR" dirty="0"/>
              <a:t>5</a:t>
            </a:r>
            <a:r>
              <a:rPr lang="ko-KR" altLang="en-US" dirty="0"/>
              <a:t>가지 핵심 지표 모두에서 </a:t>
            </a:r>
            <a:r>
              <a:rPr lang="en-US" altLang="ko-KR" dirty="0"/>
              <a:t>90%</a:t>
            </a:r>
            <a:r>
              <a:rPr lang="ko-KR" altLang="en-US" dirty="0"/>
              <a:t>이상의 탁월한 성능을 달성했습니다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 dirty="0"/>
              <a:t>다음으로는 데이터 평가에 대해 살펴보겠습니다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45911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Confusion Matrix</a:t>
            </a:r>
            <a:r>
              <a:rPr lang="ko-KR" altLang="en-US" dirty="0"/>
              <a:t>는 모델의 예측 결과를 실제 값과 비교하여 시각적으로 보여주는 중요한 도구입니다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FN</a:t>
            </a:r>
            <a:r>
              <a:rPr lang="ko-KR" altLang="en-US" dirty="0" err="1"/>
              <a:t>에</a:t>
            </a:r>
            <a:r>
              <a:rPr lang="ko-KR" altLang="en-US" dirty="0"/>
              <a:t> 속하는 회원은 모델이 유지를 예측했으나</a:t>
            </a:r>
            <a:r>
              <a:rPr lang="en-US" altLang="ko-KR" dirty="0"/>
              <a:t>,</a:t>
            </a:r>
            <a:r>
              <a:rPr lang="ko-KR" altLang="en-US" dirty="0"/>
              <a:t> 실제로 이탈하는 회원을 나타내는 치명적인 오류로</a:t>
            </a:r>
            <a:r>
              <a:rPr lang="en-US" altLang="ko-KR" dirty="0"/>
              <a:t>,</a:t>
            </a:r>
            <a:r>
              <a:rPr lang="ko-KR" altLang="en-US" dirty="0"/>
              <a:t> 저희 팀은 </a:t>
            </a:r>
            <a:r>
              <a:rPr lang="en-US" altLang="ko-KR" dirty="0"/>
              <a:t>FN</a:t>
            </a:r>
            <a:r>
              <a:rPr lang="ko-KR" altLang="en-US" dirty="0"/>
              <a:t> 값을 최소로 하여 이탈 고객 예측의 신뢰성을 높였습니다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C4C33-06EF-C46D-8111-9CB6EEE4D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20E2A-74E0-8356-6F71-4DFA7603E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5D5EA4-8816-13D6-83C6-B8BB1A896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모델의 성능 개선 타임라인은 다음과 같습니다</a:t>
            </a:r>
            <a:r>
              <a:rPr lang="en-US" altLang="ko-KR" dirty="0"/>
              <a:t>.</a:t>
            </a:r>
            <a:r>
              <a:rPr lang="ko-KR" altLang="en-US" dirty="0"/>
              <a:t> 기본 </a:t>
            </a:r>
            <a:r>
              <a:rPr lang="ko-KR" altLang="en-US" dirty="0" err="1"/>
              <a:t>스태킹</a:t>
            </a:r>
            <a:r>
              <a:rPr lang="en-US" altLang="ko-KR" dirty="0"/>
              <a:t>,</a:t>
            </a:r>
            <a:r>
              <a:rPr lang="ko-KR" altLang="en-US" dirty="0"/>
              <a:t> 특성 엔지니어링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하이퍼</a:t>
            </a:r>
            <a:r>
              <a:rPr lang="ko-KR" altLang="en-US" dirty="0"/>
              <a:t> 파라미터 </a:t>
            </a:r>
            <a:r>
              <a:rPr lang="ko-KR" altLang="en-US" dirty="0" err="1"/>
              <a:t>튜닝등의</a:t>
            </a:r>
            <a:r>
              <a:rPr lang="ko-KR" altLang="en-US" dirty="0"/>
              <a:t> 과정을 거쳐 </a:t>
            </a:r>
            <a:r>
              <a:rPr lang="en-US" altLang="ko-KR" dirty="0"/>
              <a:t>F1 Score </a:t>
            </a:r>
            <a:r>
              <a:rPr lang="ko-KR" altLang="en-US" dirty="0"/>
              <a:t>기준 베이스 모델인</a:t>
            </a:r>
            <a:r>
              <a:rPr lang="en-US" altLang="ko-KR" dirty="0"/>
              <a:t> Random Forest </a:t>
            </a:r>
            <a:r>
              <a:rPr lang="ko-KR" altLang="en-US" dirty="0"/>
              <a:t>대비 </a:t>
            </a:r>
            <a:r>
              <a:rPr lang="en-US" altLang="ko-KR" dirty="0"/>
              <a:t>24.6%</a:t>
            </a:r>
            <a:r>
              <a:rPr lang="ko-KR" altLang="en-US" dirty="0"/>
              <a:t>의 성능향상을 이뤘습니다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7EC73-9DF6-3E7B-12D4-A781E9DE0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567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이탈률과</a:t>
            </a:r>
            <a:r>
              <a:rPr lang="ko-KR" altLang="en-US" dirty="0"/>
              <a:t> 연관된 중요한 특성들은 다음과 같았습니다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 dirty="0"/>
              <a:t>마지막은 </a:t>
            </a:r>
            <a:r>
              <a:rPr kumimoji="1" lang="ko-KR" altLang="en-US" dirty="0" err="1"/>
              <a:t>이탈률</a:t>
            </a:r>
            <a:r>
              <a:rPr kumimoji="1" lang="ko-KR" altLang="en-US" dirty="0"/>
              <a:t> 개선방안에 대해서 살펴보겠습니다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02202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고객 특성별 이탈 패턴을 </a:t>
            </a:r>
            <a:r>
              <a:rPr lang="en-US" altLang="ko-KR" dirty="0"/>
              <a:t>4</a:t>
            </a:r>
            <a:r>
              <a:rPr lang="ko-KR" altLang="en-US" dirty="0"/>
              <a:t>종류로 나눴습니다</a:t>
            </a:r>
            <a:r>
              <a:rPr lang="en-US" altLang="ko-KR" dirty="0"/>
              <a:t>.</a:t>
            </a:r>
            <a:r>
              <a:rPr lang="ko-KR" altLang="en-US" dirty="0"/>
              <a:t> 각각 신규 단기 회원</a:t>
            </a:r>
            <a:r>
              <a:rPr lang="en-US" altLang="ko-KR" dirty="0"/>
              <a:t>,</a:t>
            </a:r>
            <a:r>
              <a:rPr lang="ko-KR" altLang="en-US" dirty="0"/>
              <a:t> 활동성 저조 장기 회원</a:t>
            </a:r>
            <a:r>
              <a:rPr lang="en-US" altLang="ko-KR" dirty="0"/>
              <a:t>,</a:t>
            </a:r>
            <a:r>
              <a:rPr lang="ko-KR" altLang="en-US" dirty="0"/>
              <a:t> 계약 만료 임박 회원</a:t>
            </a:r>
            <a:r>
              <a:rPr lang="en-US" altLang="ko-KR" dirty="0"/>
              <a:t>,</a:t>
            </a:r>
            <a:r>
              <a:rPr lang="ko-KR" altLang="en-US" dirty="0"/>
              <a:t> 특정 프로그램 불만족 회원으로 분류하고 각각의 이탈원인과 패턴에 대해 분석하였습니다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분석한 결과에 따라 </a:t>
            </a:r>
            <a:r>
              <a:rPr lang="en-US" altLang="ko-KR" dirty="0"/>
              <a:t>6</a:t>
            </a:r>
            <a:r>
              <a:rPr lang="ko-KR" altLang="en-US" dirty="0"/>
              <a:t>가지의 개선 방안을 제시하였습니다</a:t>
            </a:r>
            <a:r>
              <a:rPr lang="en-US" altLang="ko-KR" dirty="0"/>
              <a:t>.</a:t>
            </a:r>
            <a:r>
              <a:rPr lang="ko-KR" altLang="en-US" dirty="0"/>
              <a:t> 이탈 </a:t>
            </a:r>
            <a:r>
              <a:rPr lang="ko-KR" altLang="en-US" dirty="0" err="1"/>
              <a:t>위험군</a:t>
            </a:r>
            <a:r>
              <a:rPr lang="ko-KR" altLang="en-US" dirty="0"/>
              <a:t> 대상 맞춤형 프로모션</a:t>
            </a:r>
            <a:r>
              <a:rPr lang="en-US" altLang="ko-KR" dirty="0"/>
              <a:t>,</a:t>
            </a:r>
            <a:r>
              <a:rPr lang="ko-KR" altLang="en-US" dirty="0"/>
              <a:t> 고객 피드백 시스템 개선 및 반영 등의 방안을 도입하면 회원 </a:t>
            </a:r>
            <a:r>
              <a:rPr lang="ko-KR" altLang="en-US" dirty="0" err="1"/>
              <a:t>이탈률을</a:t>
            </a:r>
            <a:r>
              <a:rPr lang="ko-KR" altLang="en-US" dirty="0"/>
              <a:t> 낮춰</a:t>
            </a:r>
            <a:r>
              <a:rPr lang="en-US" altLang="ko-KR" dirty="0"/>
              <a:t>,</a:t>
            </a:r>
            <a:r>
              <a:rPr lang="ko-KR" altLang="en-US" dirty="0"/>
              <a:t> 결과적으로 헬스장의 </a:t>
            </a:r>
            <a:r>
              <a:rPr lang="ko-KR" altLang="en-US" dirty="0" err="1"/>
              <a:t>폐업률을</a:t>
            </a:r>
            <a:r>
              <a:rPr lang="ko-KR" altLang="en-US" dirty="0"/>
              <a:t> 낮출 수 있을 것으로 예상됩니다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63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B386DFC-C92B-EF79-A01B-E524333A93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82309" y="6356350"/>
            <a:ext cx="96290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F41538A-B086-3061-5273-560459B66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404" y="6351892"/>
            <a:ext cx="4867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338D"/>
                </a:solidFill>
              </a:defRPr>
            </a:lvl1pPr>
          </a:lstStyle>
          <a:p>
            <a:fld id="{E9BDDC09-2A2F-4CC0-B05E-1CF9D30E30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FA020AD-62EB-6C9A-0FA5-AE6B0602F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1" y="175088"/>
            <a:ext cx="11521440" cy="6128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F6D6BE8-0FA7-0CA4-3D01-75C88A05F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711" y="962108"/>
            <a:ext cx="11521440" cy="5214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490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3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41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8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3.png"/><Relationship Id="rId18" Type="http://schemas.openxmlformats.org/officeDocument/2006/relationships/image" Target="../media/image98.png"/><Relationship Id="rId3" Type="http://schemas.openxmlformats.org/officeDocument/2006/relationships/image" Target="../media/image3.png"/><Relationship Id="rId7" Type="http://schemas.openxmlformats.org/officeDocument/2006/relationships/image" Target="../media/image89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7.png"/><Relationship Id="rId5" Type="http://schemas.openxmlformats.org/officeDocument/2006/relationships/image" Target="../media/image87.png"/><Relationship Id="rId15" Type="http://schemas.openxmlformats.org/officeDocument/2006/relationships/image" Target="../media/image95.png"/><Relationship Id="rId10" Type="http://schemas.openxmlformats.org/officeDocument/2006/relationships/image" Target="../media/image60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3" Type="http://schemas.openxmlformats.org/officeDocument/2006/relationships/image" Target="../media/image3.png"/><Relationship Id="rId7" Type="http://schemas.openxmlformats.org/officeDocument/2006/relationships/image" Target="../media/image102.png"/><Relationship Id="rId12" Type="http://schemas.openxmlformats.org/officeDocument/2006/relationships/image" Target="../media/image106.png"/><Relationship Id="rId17" Type="http://schemas.openxmlformats.org/officeDocument/2006/relationships/image" Target="../media/image111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10.png"/><Relationship Id="rId20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image" Target="../media/image105.png"/><Relationship Id="rId5" Type="http://schemas.openxmlformats.org/officeDocument/2006/relationships/image" Target="../media/image100.png"/><Relationship Id="rId15" Type="http://schemas.openxmlformats.org/officeDocument/2006/relationships/image" Target="../media/image109.png"/><Relationship Id="rId10" Type="http://schemas.openxmlformats.org/officeDocument/2006/relationships/image" Target="../media/image104.png"/><Relationship Id="rId19" Type="http://schemas.openxmlformats.org/officeDocument/2006/relationships/image" Target="../media/image113.png"/><Relationship Id="rId4" Type="http://schemas.openxmlformats.org/officeDocument/2006/relationships/image" Target="../media/image99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3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3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3" Type="http://schemas.openxmlformats.org/officeDocument/2006/relationships/image" Target="../media/image3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Relationship Id="rId14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3" Type="http://schemas.openxmlformats.org/officeDocument/2006/relationships/image" Target="../media/image3.png"/><Relationship Id="rId7" Type="http://schemas.openxmlformats.org/officeDocument/2006/relationships/image" Target="../media/image146.png"/><Relationship Id="rId12" Type="http://schemas.openxmlformats.org/officeDocument/2006/relationships/image" Target="../media/image151.png"/><Relationship Id="rId17" Type="http://schemas.openxmlformats.org/officeDocument/2006/relationships/image" Target="../media/image156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5" Type="http://schemas.openxmlformats.org/officeDocument/2006/relationships/image" Target="../media/image144.png"/><Relationship Id="rId15" Type="http://schemas.openxmlformats.org/officeDocument/2006/relationships/image" Target="../media/image154.png"/><Relationship Id="rId10" Type="http://schemas.openxmlformats.org/officeDocument/2006/relationships/image" Target="../media/image149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image" Target="../media/image161.png"/><Relationship Id="rId3" Type="http://schemas.openxmlformats.org/officeDocument/2006/relationships/image" Target="../media/image148.png"/><Relationship Id="rId7" Type="http://schemas.openxmlformats.org/officeDocument/2006/relationships/image" Target="../media/image157.png"/><Relationship Id="rId12" Type="http://schemas.openxmlformats.org/officeDocument/2006/relationships/image" Target="../media/image1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49.png"/><Relationship Id="rId5" Type="http://schemas.openxmlformats.org/officeDocument/2006/relationships/image" Target="../media/image154.png"/><Relationship Id="rId15" Type="http://schemas.openxmlformats.org/officeDocument/2006/relationships/image" Target="../media/image163.png"/><Relationship Id="rId10" Type="http://schemas.openxmlformats.org/officeDocument/2006/relationships/image" Target="../media/image160.png"/><Relationship Id="rId4" Type="http://schemas.openxmlformats.org/officeDocument/2006/relationships/image" Target="../media/image151.png"/><Relationship Id="rId9" Type="http://schemas.openxmlformats.org/officeDocument/2006/relationships/image" Target="../media/image159.png"/><Relationship Id="rId14" Type="http://schemas.openxmlformats.org/officeDocument/2006/relationships/image" Target="../media/image1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762000"/>
            <a:ext cx="1219200" cy="1219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876800"/>
            <a:ext cx="1219200" cy="1219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571750"/>
            <a:ext cx="1219200" cy="381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1341120" y="1847850"/>
            <a:ext cx="950976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헬스장 회원 이탈 </a:t>
            </a:r>
            <a:r>
              <a:rPr lang="en-US" sz="4500" b="1" kern="0" spc="-9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예측</a:t>
            </a:r>
            <a:r>
              <a:rPr lang="en-US" sz="4500" b="1" kern="0" spc="-9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ko-KR" altLang="en-US" sz="4500" b="1" kern="0" spc="-9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및 관리 전략</a:t>
            </a:r>
            <a:endParaRPr lang="en-US" sz="4500" dirty="0"/>
          </a:p>
        </p:txBody>
      </p:sp>
      <p:sp>
        <p:nvSpPr>
          <p:cNvPr id="15" name="Text 1"/>
          <p:cNvSpPr/>
          <p:nvPr/>
        </p:nvSpPr>
        <p:spPr>
          <a:xfrm>
            <a:off x="2133600" y="2838450"/>
            <a:ext cx="7924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+mn-ea"/>
              </a:rPr>
              <a:t>SKN</a:t>
            </a:r>
            <a:r>
              <a:rPr lang="ko-KR" altLang="en-US" sz="2400" dirty="0">
                <a:solidFill>
                  <a:srgbClr val="FFFFFF"/>
                </a:solidFill>
                <a:latin typeface="+mn-ea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+mn-ea"/>
              </a:rPr>
              <a:t>20</a:t>
            </a:r>
            <a:r>
              <a:rPr lang="ko-KR" altLang="en-US" sz="2400" dirty="0">
                <a:solidFill>
                  <a:srgbClr val="FFFFFF"/>
                </a:solidFill>
                <a:latin typeface="+mn-ea"/>
              </a:rPr>
              <a:t>기 </a:t>
            </a:r>
            <a:r>
              <a:rPr lang="en-US" sz="2400" dirty="0">
                <a:solidFill>
                  <a:srgbClr val="FFFFFF"/>
                </a:solidFill>
                <a:latin typeface="+mn-ea"/>
              </a:rPr>
              <a:t>2</a:t>
            </a:r>
            <a:r>
              <a:rPr lang="ko-KR" altLang="en-US" sz="2400" dirty="0">
                <a:solidFill>
                  <a:srgbClr val="FFFFFF"/>
                </a:solidFill>
                <a:latin typeface="+mn-ea"/>
              </a:rPr>
              <a:t>차 프로젝트</a:t>
            </a:r>
            <a:r>
              <a:rPr lang="en-US" altLang="ko-KR" sz="2400" dirty="0">
                <a:solidFill>
                  <a:srgbClr val="FFFFFF"/>
                </a:solidFill>
                <a:latin typeface="+mn-ea"/>
              </a:rPr>
              <a:t>_</a:t>
            </a:r>
            <a:r>
              <a:rPr lang="en-US" sz="2400" dirty="0">
                <a:solidFill>
                  <a:srgbClr val="FFFFFF"/>
                </a:solidFill>
                <a:latin typeface="+mn-ea"/>
              </a:rPr>
              <a:t>2TEAM</a:t>
            </a:r>
            <a:endParaRPr lang="en-US" sz="2400" dirty="0">
              <a:latin typeface="+mn-ea"/>
            </a:endParaRPr>
          </a:p>
        </p:txBody>
      </p:sp>
      <p:sp>
        <p:nvSpPr>
          <p:cNvPr id="22" name="Text 8"/>
          <p:cNvSpPr/>
          <p:nvPr/>
        </p:nvSpPr>
        <p:spPr>
          <a:xfrm>
            <a:off x="10331529" y="6248400"/>
            <a:ext cx="14794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2025년 11월 </a:t>
            </a:r>
            <a:r>
              <a:rPr lang="en-US" altLang="ko-KR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일</a:t>
            </a:r>
            <a:endParaRPr lang="en-US" sz="120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C24A7E17-9602-8656-03C6-9E4F10EBB7A8}"/>
              </a:ext>
            </a:extLst>
          </p:cNvPr>
          <p:cNvSpPr/>
          <p:nvPr/>
        </p:nvSpPr>
        <p:spPr>
          <a:xfrm>
            <a:off x="7629293" y="5810250"/>
            <a:ext cx="418170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ko-KR" altLang="en-US" sz="2000" dirty="0">
                <a:solidFill>
                  <a:srgbClr val="FFFFFF"/>
                </a:solidFill>
                <a:latin typeface="+mn-ea"/>
              </a:rPr>
              <a:t>박찬</a:t>
            </a:r>
            <a:r>
              <a:rPr lang="en-US" altLang="ko-KR" sz="2000" dirty="0">
                <a:solidFill>
                  <a:srgbClr val="FFFFFF"/>
                </a:solidFill>
                <a:latin typeface="+mn-ea"/>
              </a:rPr>
              <a:t>,</a:t>
            </a:r>
            <a:r>
              <a:rPr lang="ko-KR" altLang="en-US" sz="2000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altLang="en-US" sz="2000" dirty="0" err="1">
                <a:solidFill>
                  <a:srgbClr val="FFFFFF"/>
                </a:solidFill>
                <a:latin typeface="+mn-ea"/>
              </a:rPr>
              <a:t>최소영</a:t>
            </a:r>
            <a:r>
              <a:rPr lang="en-US" altLang="ko-KR" sz="2000" dirty="0">
                <a:solidFill>
                  <a:srgbClr val="FFFFFF"/>
                </a:solidFill>
                <a:latin typeface="+mn-ea"/>
              </a:rPr>
              <a:t>,</a:t>
            </a:r>
            <a:r>
              <a:rPr lang="ko-KR" altLang="en-US" sz="2000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altLang="en-US" sz="2000" dirty="0" err="1">
                <a:solidFill>
                  <a:srgbClr val="FFFFFF"/>
                </a:solidFill>
                <a:latin typeface="+mn-ea"/>
              </a:rPr>
              <a:t>나호성</a:t>
            </a:r>
            <a:r>
              <a:rPr lang="en-US" altLang="ko-KR" sz="2000" dirty="0">
                <a:solidFill>
                  <a:srgbClr val="FFFFFF"/>
                </a:solidFill>
                <a:latin typeface="+mn-ea"/>
              </a:rPr>
              <a:t>,</a:t>
            </a:r>
            <a:r>
              <a:rPr lang="ko-KR" altLang="en-US" sz="2000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altLang="en-US" sz="2000" dirty="0" err="1">
                <a:solidFill>
                  <a:srgbClr val="FFFFFF"/>
                </a:solidFill>
                <a:latin typeface="+mn-ea"/>
              </a:rPr>
              <a:t>권규리</a:t>
            </a:r>
            <a:r>
              <a:rPr lang="en-US" altLang="ko-KR" sz="2000" dirty="0">
                <a:solidFill>
                  <a:srgbClr val="FFFFFF"/>
                </a:solidFill>
                <a:latin typeface="+mn-ea"/>
              </a:rPr>
              <a:t>,</a:t>
            </a:r>
            <a:r>
              <a:rPr lang="ko-KR" altLang="en-US" sz="2000" dirty="0">
                <a:solidFill>
                  <a:srgbClr val="FFFFFF"/>
                </a:solidFill>
                <a:latin typeface="+mn-ea"/>
              </a:rPr>
              <a:t> 박준석</a:t>
            </a:r>
            <a:endParaRPr lang="en-US" sz="2000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5F13A8-C3FF-EA2B-EDDD-88A485629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9BDDC09-2A2F-4CC0-B05E-1CF9D30E3095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236E47-B29A-3886-037C-A8E564ED1988}"/>
              </a:ext>
            </a:extLst>
          </p:cNvPr>
          <p:cNvSpPr txBox="1"/>
          <p:nvPr/>
        </p:nvSpPr>
        <p:spPr>
          <a:xfrm>
            <a:off x="609598" y="274320"/>
            <a:ext cx="9573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8D"/>
                </a:solidFill>
              </a:defRPr>
            </a:pPr>
            <a:r>
              <a:rPr lang="ko-KR" altLang="en-US" sz="3200" dirty="0">
                <a:solidFill>
                  <a:schemeClr val="bg1"/>
                </a:solidFill>
                <a:latin typeface="+mj-lt"/>
              </a:rPr>
              <a:t>목차</a:t>
            </a:r>
            <a:endParaRPr sz="32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19C78CB-8E43-EADB-D4E9-24FE56B647DA}"/>
              </a:ext>
            </a:extLst>
          </p:cNvPr>
          <p:cNvGrpSpPr/>
          <p:nvPr/>
        </p:nvGrpSpPr>
        <p:grpSpPr>
          <a:xfrm>
            <a:off x="609598" y="1116129"/>
            <a:ext cx="9323083" cy="896362"/>
            <a:chOff x="1371344" y="1312582"/>
            <a:chExt cx="9323083" cy="896362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5292672-7042-753F-5C9D-4139621B2E3C}"/>
                </a:ext>
              </a:extLst>
            </p:cNvPr>
            <p:cNvSpPr/>
            <p:nvPr/>
          </p:nvSpPr>
          <p:spPr>
            <a:xfrm>
              <a:off x="2414427" y="1489753"/>
              <a:ext cx="8280000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8D"/>
                  </a:solidFill>
                  <a:effectLst/>
                  <a:uLnTx/>
                  <a:uFillTx/>
                  <a:latin typeface="+mj-lt"/>
                  <a:ea typeface="나눔고딕"/>
                  <a:cs typeface="+mn-cs"/>
                </a:rPr>
                <a:t>   프로젝트 개요</a:t>
              </a:r>
              <a:r>
                <a:rPr kumimoji="0" lang="en-US" altLang="ko-K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8D"/>
                  </a:solidFill>
                  <a:effectLst/>
                  <a:uLnTx/>
                  <a:uFillTx/>
                  <a:latin typeface="+mj-lt"/>
                  <a:ea typeface="나눔고딕"/>
                  <a:cs typeface="+mn-cs"/>
                </a:rPr>
                <a:t>&amp;</a:t>
              </a: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8D"/>
                  </a:solidFill>
                  <a:effectLst/>
                  <a:uLnTx/>
                  <a:uFillTx/>
                  <a:latin typeface="+mj-lt"/>
                  <a:ea typeface="나눔고딕"/>
                  <a:cs typeface="+mn-cs"/>
                </a:rPr>
                <a:t>목적</a:t>
              </a:r>
              <a:endParaRPr kumimoji="1" lang="ko-KR" altLang="en-US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E7A1FE1-9C4A-EFBF-06EF-00ED986FE449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01</a:t>
              </a:r>
              <a:endParaRPr kumimoji="1" lang="ko-KR" altLang="en-US" sz="2800" b="1" dirty="0"/>
            </a:p>
          </p:txBody>
        </p:sp>
        <p:sp>
          <p:nvSpPr>
            <p:cNvPr id="14" name="직각 삼각형[R] 13">
              <a:extLst>
                <a:ext uri="{FF2B5EF4-FFF2-40B4-BE49-F238E27FC236}">
                  <a16:creationId xmlns:a16="http://schemas.microsoft.com/office/drawing/2014/main" id="{9DDD4802-0D27-A8E2-6D6A-F8E545DBE371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수동 입력 15">
              <a:extLst>
                <a:ext uri="{FF2B5EF4-FFF2-40B4-BE49-F238E27FC236}">
                  <a16:creationId xmlns:a16="http://schemas.microsoft.com/office/drawing/2014/main" id="{9A2FB067-7C1B-96FF-8BFF-7C493CDB5F92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삼각형 16">
              <a:extLst>
                <a:ext uri="{FF2B5EF4-FFF2-40B4-BE49-F238E27FC236}">
                  <a16:creationId xmlns:a16="http://schemas.microsoft.com/office/drawing/2014/main" id="{24C31A6C-D514-530C-FA89-B3F2F1C282B2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323C8F5-987F-1F0F-7604-00BECFF3C417}"/>
              </a:ext>
            </a:extLst>
          </p:cNvPr>
          <p:cNvGrpSpPr/>
          <p:nvPr/>
        </p:nvGrpSpPr>
        <p:grpSpPr>
          <a:xfrm>
            <a:off x="609598" y="2216885"/>
            <a:ext cx="9323083" cy="896362"/>
            <a:chOff x="1371344" y="1312582"/>
            <a:chExt cx="9323083" cy="896362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C9ED472-67D7-FEA4-55A6-57C6DB3288C9}"/>
                </a:ext>
              </a:extLst>
            </p:cNvPr>
            <p:cNvSpPr/>
            <p:nvPr/>
          </p:nvSpPr>
          <p:spPr>
            <a:xfrm>
              <a:off x="2414427" y="1489753"/>
              <a:ext cx="8280000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2000" b="1">
                  <a:solidFill>
                    <a:srgbClr val="00338D"/>
                  </a:solidFill>
                </a:defRPr>
              </a:pPr>
              <a:r>
                <a:rPr lang="ko-KR" altLang="en-US" sz="2400" b="1" dirty="0">
                  <a:latin typeface="+mj-lt"/>
                </a:rPr>
                <a:t>   데이터 </a:t>
              </a:r>
              <a:r>
                <a:rPr lang="ko-KR" altLang="en-US" sz="2400" b="1" dirty="0" err="1">
                  <a:latin typeface="+mj-lt"/>
                </a:rPr>
                <a:t>전처리</a:t>
              </a:r>
              <a:r>
                <a:rPr lang="ko-KR" altLang="en-US" sz="2400" b="1" dirty="0">
                  <a:latin typeface="+mj-lt"/>
                </a:rPr>
                <a:t> 및 학습</a:t>
              </a:r>
              <a:endParaRPr lang="ko-KR" altLang="en-US" sz="3600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0345F60-23B2-C728-1683-724B31897D1F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02</a:t>
              </a:r>
              <a:endParaRPr kumimoji="1" lang="ko-KR" altLang="en-US" sz="2800" b="1" dirty="0"/>
            </a:p>
          </p:txBody>
        </p:sp>
        <p:sp>
          <p:nvSpPr>
            <p:cNvPr id="25" name="직각 삼각형[R] 24">
              <a:extLst>
                <a:ext uri="{FF2B5EF4-FFF2-40B4-BE49-F238E27FC236}">
                  <a16:creationId xmlns:a16="http://schemas.microsoft.com/office/drawing/2014/main" id="{D91BADDD-6D6F-1265-BC2C-7B965A18412E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6" name="수동 입력 25">
              <a:extLst>
                <a:ext uri="{FF2B5EF4-FFF2-40B4-BE49-F238E27FC236}">
                  <a16:creationId xmlns:a16="http://schemas.microsoft.com/office/drawing/2014/main" id="{2321D008-600C-DD03-9EA2-70E6271B670C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7" name="삼각형 26">
              <a:extLst>
                <a:ext uri="{FF2B5EF4-FFF2-40B4-BE49-F238E27FC236}">
                  <a16:creationId xmlns:a16="http://schemas.microsoft.com/office/drawing/2014/main" id="{230FBAB2-2ECF-EB10-5435-52A19EB5EE03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650EAF6-D832-FCD6-2A10-BDC1946B5180}"/>
              </a:ext>
            </a:extLst>
          </p:cNvPr>
          <p:cNvGrpSpPr/>
          <p:nvPr/>
        </p:nvGrpSpPr>
        <p:grpSpPr>
          <a:xfrm>
            <a:off x="609598" y="3319020"/>
            <a:ext cx="9323083" cy="896362"/>
            <a:chOff x="1371344" y="1312582"/>
            <a:chExt cx="9323083" cy="896362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26CC7C8-08E3-3769-210C-D62619997A49}"/>
                </a:ext>
              </a:extLst>
            </p:cNvPr>
            <p:cNvSpPr/>
            <p:nvPr/>
          </p:nvSpPr>
          <p:spPr>
            <a:xfrm>
              <a:off x="2414427" y="1489753"/>
              <a:ext cx="8280000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8D"/>
                  </a:solidFill>
                </a:defRPr>
              </a:pPr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데이터 </a:t>
              </a:r>
              <a:r>
                <a:rPr lang="ko-KR" altLang="en-US" sz="2400" b="1" dirty="0">
                  <a:solidFill>
                    <a:srgbClr val="00338D"/>
                  </a:solidFill>
                  <a:latin typeface="+mj-lt"/>
                  <a:ea typeface="나눔고딕"/>
                </a:rPr>
                <a:t>평가</a:t>
              </a:r>
              <a:endPara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338D"/>
                </a:solidFill>
                <a:effectLst/>
                <a:uLnTx/>
                <a:uFillTx/>
                <a:latin typeface="+mj-lt"/>
                <a:ea typeface="나눔고딕"/>
                <a:cs typeface="+mn-cs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349E67E-26C3-6CA1-46F4-F46A1E78715E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03</a:t>
              </a:r>
              <a:endParaRPr kumimoji="1" lang="ko-KR" altLang="en-US" sz="2800" b="1" dirty="0"/>
            </a:p>
          </p:txBody>
        </p:sp>
        <p:sp>
          <p:nvSpPr>
            <p:cNvPr id="31" name="직각 삼각형[R] 30">
              <a:extLst>
                <a:ext uri="{FF2B5EF4-FFF2-40B4-BE49-F238E27FC236}">
                  <a16:creationId xmlns:a16="http://schemas.microsoft.com/office/drawing/2014/main" id="{97B6F09A-9B02-8C40-3E24-4FBA5652D5BA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2" name="수동 입력 31">
              <a:extLst>
                <a:ext uri="{FF2B5EF4-FFF2-40B4-BE49-F238E27FC236}">
                  <a16:creationId xmlns:a16="http://schemas.microsoft.com/office/drawing/2014/main" id="{A62E9DB1-756A-8172-D521-364113016E07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3" name="삼각형 32">
              <a:extLst>
                <a:ext uri="{FF2B5EF4-FFF2-40B4-BE49-F238E27FC236}">
                  <a16:creationId xmlns:a16="http://schemas.microsoft.com/office/drawing/2014/main" id="{3C7BD7AE-85F4-5FA6-E15C-65551DEDD710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1D11340-7726-7CFC-800B-C50BCF4D3691}"/>
              </a:ext>
            </a:extLst>
          </p:cNvPr>
          <p:cNvGrpSpPr/>
          <p:nvPr/>
        </p:nvGrpSpPr>
        <p:grpSpPr>
          <a:xfrm>
            <a:off x="609598" y="4420530"/>
            <a:ext cx="9323083" cy="896362"/>
            <a:chOff x="1371344" y="1312582"/>
            <a:chExt cx="9323083" cy="896362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9D5C3B2-5614-12DE-77C1-BF779C7145DE}"/>
                </a:ext>
              </a:extLst>
            </p:cNvPr>
            <p:cNvSpPr/>
            <p:nvPr/>
          </p:nvSpPr>
          <p:spPr>
            <a:xfrm>
              <a:off x="2414427" y="1489753"/>
              <a:ext cx="8280000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개선 방안</a:t>
              </a:r>
              <a:endParaRPr lang="ko-KR" altLang="en-US" sz="2400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807F802-B5DF-F0C0-15B0-FF230AD813A2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04</a:t>
              </a:r>
              <a:endParaRPr kumimoji="1" lang="ko-KR" altLang="en-US" sz="2800" b="1" dirty="0"/>
            </a:p>
          </p:txBody>
        </p:sp>
        <p:sp>
          <p:nvSpPr>
            <p:cNvPr id="37" name="직각 삼각형[R] 36">
              <a:extLst>
                <a:ext uri="{FF2B5EF4-FFF2-40B4-BE49-F238E27FC236}">
                  <a16:creationId xmlns:a16="http://schemas.microsoft.com/office/drawing/2014/main" id="{5DA7CE9E-282E-C9A7-B5C2-F83A7B01B673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수동 입력 37">
              <a:extLst>
                <a:ext uri="{FF2B5EF4-FFF2-40B4-BE49-F238E27FC236}">
                  <a16:creationId xmlns:a16="http://schemas.microsoft.com/office/drawing/2014/main" id="{08872DBF-DA7B-C514-CFA7-52B17649C813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9" name="삼각형 38">
              <a:extLst>
                <a:ext uri="{FF2B5EF4-FFF2-40B4-BE49-F238E27FC236}">
                  <a16:creationId xmlns:a16="http://schemas.microsoft.com/office/drawing/2014/main" id="{83EF1BEA-47D1-910B-56C5-66AE6E2E9CC3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385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9D1F45-5BA2-99FA-94A1-276F4593C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92395E-4B58-7AA3-1862-0C12495FD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9BDDC09-2A2F-4CC0-B05E-1CF9D30E3095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250151-42A5-5B09-2271-88D48A7C9096}"/>
              </a:ext>
            </a:extLst>
          </p:cNvPr>
          <p:cNvSpPr txBox="1"/>
          <p:nvPr/>
        </p:nvSpPr>
        <p:spPr>
          <a:xfrm>
            <a:off x="609598" y="274320"/>
            <a:ext cx="9573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8D"/>
                </a:solidFill>
              </a:defRPr>
            </a:pPr>
            <a:r>
              <a:rPr lang="ko-KR" altLang="en-US" sz="3200" dirty="0">
                <a:solidFill>
                  <a:schemeClr val="bg1"/>
                </a:solidFill>
                <a:latin typeface="+mj-lt"/>
              </a:rPr>
              <a:t>목차</a:t>
            </a:r>
            <a:endParaRPr sz="32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1E5728C-6ABE-1CF8-4A14-73DC769F2186}"/>
              </a:ext>
            </a:extLst>
          </p:cNvPr>
          <p:cNvGrpSpPr/>
          <p:nvPr/>
        </p:nvGrpSpPr>
        <p:grpSpPr>
          <a:xfrm>
            <a:off x="609598" y="1116129"/>
            <a:ext cx="9323083" cy="896362"/>
            <a:chOff x="1371344" y="1312582"/>
            <a:chExt cx="9323083" cy="896362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5B6C22C-CF08-707E-93E8-9E7C1350AE67}"/>
                </a:ext>
              </a:extLst>
            </p:cNvPr>
            <p:cNvSpPr/>
            <p:nvPr/>
          </p:nvSpPr>
          <p:spPr>
            <a:xfrm>
              <a:off x="2414427" y="1489753"/>
              <a:ext cx="8280000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8D"/>
                  </a:solidFill>
                  <a:effectLst/>
                  <a:uLnTx/>
                  <a:uFillTx/>
                  <a:latin typeface="+mj-lt"/>
                  <a:ea typeface="나눔고딕"/>
                  <a:cs typeface="+mn-cs"/>
                </a:rPr>
                <a:t>   프로젝트 개요</a:t>
              </a:r>
              <a:r>
                <a:rPr kumimoji="0" lang="en-US" altLang="ko-K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8D"/>
                  </a:solidFill>
                  <a:effectLst/>
                  <a:uLnTx/>
                  <a:uFillTx/>
                  <a:latin typeface="+mj-lt"/>
                  <a:ea typeface="나눔고딕"/>
                  <a:cs typeface="+mn-cs"/>
                </a:rPr>
                <a:t>&amp;</a:t>
              </a: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8D"/>
                  </a:solidFill>
                  <a:effectLst/>
                  <a:uLnTx/>
                  <a:uFillTx/>
                  <a:latin typeface="+mj-lt"/>
                  <a:ea typeface="나눔고딕"/>
                  <a:cs typeface="+mn-cs"/>
                </a:rPr>
                <a:t>목적</a:t>
              </a:r>
              <a:endParaRPr kumimoji="1" lang="ko-KR" altLang="en-US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9DE8B95-E134-2DE9-E016-5AB2E4326A7A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01</a:t>
              </a:r>
              <a:endParaRPr kumimoji="1" lang="ko-KR" altLang="en-US" sz="2800" b="1" dirty="0"/>
            </a:p>
          </p:txBody>
        </p:sp>
        <p:sp>
          <p:nvSpPr>
            <p:cNvPr id="14" name="직각 삼각형[R] 13">
              <a:extLst>
                <a:ext uri="{FF2B5EF4-FFF2-40B4-BE49-F238E27FC236}">
                  <a16:creationId xmlns:a16="http://schemas.microsoft.com/office/drawing/2014/main" id="{9667006F-4625-C79F-55BA-2C9101B51991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수동 입력 15">
              <a:extLst>
                <a:ext uri="{FF2B5EF4-FFF2-40B4-BE49-F238E27FC236}">
                  <a16:creationId xmlns:a16="http://schemas.microsoft.com/office/drawing/2014/main" id="{720C4D12-A626-E779-C83B-BDF00FACED1A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삼각형 16">
              <a:extLst>
                <a:ext uri="{FF2B5EF4-FFF2-40B4-BE49-F238E27FC236}">
                  <a16:creationId xmlns:a16="http://schemas.microsoft.com/office/drawing/2014/main" id="{7B27A805-4A87-194B-C058-8D674DD5613E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4F5AC84-21E3-0CBF-4291-31FAFDE6755F}"/>
              </a:ext>
            </a:extLst>
          </p:cNvPr>
          <p:cNvGrpSpPr/>
          <p:nvPr/>
        </p:nvGrpSpPr>
        <p:grpSpPr>
          <a:xfrm>
            <a:off x="609598" y="2216885"/>
            <a:ext cx="1698704" cy="896362"/>
            <a:chOff x="1371344" y="1312582"/>
            <a:chExt cx="1698704" cy="896362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A15D5D4-FE7D-72EC-4DBB-B796F185712B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2000" b="1">
                  <a:solidFill>
                    <a:srgbClr val="00338D"/>
                  </a:solidFill>
                </a:defRPr>
              </a:pPr>
              <a:r>
                <a:rPr lang="ko-KR" altLang="en-US" sz="2400" b="1" dirty="0">
                  <a:latin typeface="+mj-lt"/>
                </a:rPr>
                <a:t>   </a:t>
              </a:r>
              <a:endParaRPr lang="ko-KR" altLang="en-US" sz="3600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28D6F6C-1BD7-B356-99BE-D1D6C30B6EBB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02</a:t>
              </a:r>
              <a:endParaRPr kumimoji="1" lang="ko-KR" altLang="en-US" sz="2800" b="1" dirty="0"/>
            </a:p>
          </p:txBody>
        </p:sp>
        <p:sp>
          <p:nvSpPr>
            <p:cNvPr id="25" name="직각 삼각형[R] 24">
              <a:extLst>
                <a:ext uri="{FF2B5EF4-FFF2-40B4-BE49-F238E27FC236}">
                  <a16:creationId xmlns:a16="http://schemas.microsoft.com/office/drawing/2014/main" id="{396D2F56-3B3D-EC45-E268-9319CDBDD1BF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6" name="수동 입력 25">
              <a:extLst>
                <a:ext uri="{FF2B5EF4-FFF2-40B4-BE49-F238E27FC236}">
                  <a16:creationId xmlns:a16="http://schemas.microsoft.com/office/drawing/2014/main" id="{7477ECA9-75E5-AAF3-9111-5EDEBC7F4079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7" name="삼각형 26">
              <a:extLst>
                <a:ext uri="{FF2B5EF4-FFF2-40B4-BE49-F238E27FC236}">
                  <a16:creationId xmlns:a16="http://schemas.microsoft.com/office/drawing/2014/main" id="{B8750479-D75F-EA5C-2859-FBACCB1CCC47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9F579D9-3FC7-3652-10F6-3C3FF0420B22}"/>
              </a:ext>
            </a:extLst>
          </p:cNvPr>
          <p:cNvGrpSpPr/>
          <p:nvPr/>
        </p:nvGrpSpPr>
        <p:grpSpPr>
          <a:xfrm>
            <a:off x="609598" y="3319020"/>
            <a:ext cx="1698704" cy="896362"/>
            <a:chOff x="1371344" y="1312582"/>
            <a:chExt cx="1698704" cy="896362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72046BE-97B8-DE23-2F00-82129028E14E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8D"/>
                  </a:solidFill>
                </a:defRPr>
              </a:pPr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</a:t>
              </a:r>
              <a:endPara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338D"/>
                </a:solidFill>
                <a:effectLst/>
                <a:uLnTx/>
                <a:uFillTx/>
                <a:latin typeface="+mj-lt"/>
                <a:ea typeface="나눔고딕"/>
                <a:cs typeface="+mn-cs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D1C57ACA-2940-EFAF-DBC7-F401FA1B9456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03</a:t>
              </a:r>
              <a:endParaRPr kumimoji="1" lang="ko-KR" altLang="en-US" sz="2800" b="1" dirty="0"/>
            </a:p>
          </p:txBody>
        </p:sp>
        <p:sp>
          <p:nvSpPr>
            <p:cNvPr id="31" name="직각 삼각형[R] 30">
              <a:extLst>
                <a:ext uri="{FF2B5EF4-FFF2-40B4-BE49-F238E27FC236}">
                  <a16:creationId xmlns:a16="http://schemas.microsoft.com/office/drawing/2014/main" id="{04DAD3B7-79A4-62AE-119F-2A877401C6FC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2" name="수동 입력 31">
              <a:extLst>
                <a:ext uri="{FF2B5EF4-FFF2-40B4-BE49-F238E27FC236}">
                  <a16:creationId xmlns:a16="http://schemas.microsoft.com/office/drawing/2014/main" id="{3C02B4EA-773E-C35C-2485-FEF4DDEEC2BB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3" name="삼각형 32">
              <a:extLst>
                <a:ext uri="{FF2B5EF4-FFF2-40B4-BE49-F238E27FC236}">
                  <a16:creationId xmlns:a16="http://schemas.microsoft.com/office/drawing/2014/main" id="{BD6628A0-D91B-747C-5061-20288BD0E95E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472794A-CA33-E91C-83A6-F7835B64EE54}"/>
              </a:ext>
            </a:extLst>
          </p:cNvPr>
          <p:cNvGrpSpPr/>
          <p:nvPr/>
        </p:nvGrpSpPr>
        <p:grpSpPr>
          <a:xfrm>
            <a:off x="609598" y="4420530"/>
            <a:ext cx="1698704" cy="896362"/>
            <a:chOff x="1371344" y="1312582"/>
            <a:chExt cx="1698704" cy="896362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DB113E3-E0D3-866E-5BC9-FA86AECCB6A6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</a:t>
              </a:r>
              <a:endParaRPr lang="ko-KR" altLang="en-US" sz="2400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8A60C7A-8C34-6F0B-B1B3-9E1BCCCD1BE6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04</a:t>
              </a:r>
              <a:endParaRPr kumimoji="1" lang="ko-KR" altLang="en-US" sz="2800" b="1" dirty="0"/>
            </a:p>
          </p:txBody>
        </p:sp>
        <p:sp>
          <p:nvSpPr>
            <p:cNvPr id="37" name="직각 삼각형[R] 36">
              <a:extLst>
                <a:ext uri="{FF2B5EF4-FFF2-40B4-BE49-F238E27FC236}">
                  <a16:creationId xmlns:a16="http://schemas.microsoft.com/office/drawing/2014/main" id="{CC37DE44-B114-952F-3EB2-04D5CEE1FF77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수동 입력 37">
              <a:extLst>
                <a:ext uri="{FF2B5EF4-FFF2-40B4-BE49-F238E27FC236}">
                  <a16:creationId xmlns:a16="http://schemas.microsoft.com/office/drawing/2014/main" id="{DEFADBF1-2A86-A347-E39B-D861709DEE5E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9" name="삼각형 38">
              <a:extLst>
                <a:ext uri="{FF2B5EF4-FFF2-40B4-BE49-F238E27FC236}">
                  <a16:creationId xmlns:a16="http://schemas.microsoft.com/office/drawing/2014/main" id="{8C099D16-1556-B143-6424-2410986F7FCF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386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9EB72-95B7-E33D-6DA6-A4EE5D1C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5F73BDD-D792-420A-62FA-344FB47D8E91}"/>
              </a:ext>
            </a:extLst>
          </p:cNvPr>
          <p:cNvSpPr/>
          <p:nvPr/>
        </p:nvSpPr>
        <p:spPr>
          <a:xfrm>
            <a:off x="1266594" y="4640067"/>
            <a:ext cx="10369350" cy="10783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D8D9B3DE-5425-AD2A-E4B7-5CD9DC959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96537"/>
            <a:ext cx="762000" cy="3810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FDF036B3-FCC6-E2AE-D390-92C19CA08AF7}"/>
              </a:ext>
            </a:extLst>
          </p:cNvPr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 &amp; 목적</a:t>
            </a:r>
            <a:endParaRPr lang="en-US" sz="27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AC854CD6-2342-9C00-8FD9-DAA927C9CB16}"/>
              </a:ext>
            </a:extLst>
          </p:cNvPr>
          <p:cNvSpPr/>
          <p:nvPr/>
        </p:nvSpPr>
        <p:spPr>
          <a:xfrm>
            <a:off x="7264152" y="3777807"/>
            <a:ext cx="3644348" cy="2254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ko-KR" altLang="en-US" b="1" dirty="0">
                <a:latin typeface="+mn-ea"/>
              </a:rPr>
              <a:t>높은 회원 </a:t>
            </a:r>
            <a:r>
              <a:rPr lang="ko-KR" altLang="en-US" b="1" dirty="0" err="1">
                <a:latin typeface="+mn-ea"/>
              </a:rPr>
              <a:t>이탈률로</a:t>
            </a:r>
            <a:r>
              <a:rPr lang="ko-KR" altLang="en-US" b="1" dirty="0">
                <a:latin typeface="+mn-ea"/>
              </a:rPr>
              <a:t> 인한 폐업 증가</a:t>
            </a:r>
            <a:endParaRPr lang="en-US" b="1" dirty="0">
              <a:latin typeface="+mn-ea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0F8BF582-EB9A-B024-86D1-D623AE45E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679" y="1280164"/>
            <a:ext cx="3133842" cy="23318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DAEF21-0802-5227-D22E-6C2238AF4152}"/>
              </a:ext>
            </a:extLst>
          </p:cNvPr>
          <p:cNvSpPr txBox="1"/>
          <p:nvPr/>
        </p:nvSpPr>
        <p:spPr>
          <a:xfrm>
            <a:off x="-1" y="6578176"/>
            <a:ext cx="90863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+mn-ea"/>
              </a:rPr>
              <a:t>헬시플레저</a:t>
            </a:r>
            <a:r>
              <a:rPr lang="en-US" altLang="ko-KR" sz="1100" dirty="0">
                <a:latin typeface="+mn-ea"/>
              </a:rPr>
              <a:t>:</a:t>
            </a:r>
            <a:r>
              <a:rPr lang="ko-KR" altLang="en-US" sz="1100" dirty="0">
                <a:latin typeface="+mn-ea"/>
              </a:rPr>
              <a:t> ‘건강</a:t>
            </a:r>
            <a:r>
              <a:rPr lang="en-US" altLang="ko-KR" sz="1100" dirty="0">
                <a:latin typeface="+mn-ea"/>
              </a:rPr>
              <a:t>(Health)’</a:t>
            </a:r>
            <a:r>
              <a:rPr lang="ko-KR" altLang="en-US" sz="1100" dirty="0">
                <a:latin typeface="+mn-ea"/>
              </a:rPr>
              <a:t>과 ‘즐거움</a:t>
            </a:r>
            <a:r>
              <a:rPr lang="en-US" altLang="ko-KR" sz="1100" dirty="0">
                <a:latin typeface="+mn-ea"/>
              </a:rPr>
              <a:t>(Pleasure)’</a:t>
            </a:r>
            <a:r>
              <a:rPr lang="ko-KR" altLang="en-US" sz="1100" dirty="0">
                <a:latin typeface="+mn-ea"/>
              </a:rPr>
              <a:t>의 합성어로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맛과 건강을 함께 챙기며 즐겁게 지속 가능한 건강관리를 추구하는 트렌드</a:t>
            </a: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9B1D54E1-F190-052D-3A2D-54EA301261A5}"/>
              </a:ext>
            </a:extLst>
          </p:cNvPr>
          <p:cNvSpPr/>
          <p:nvPr/>
        </p:nvSpPr>
        <p:spPr>
          <a:xfrm>
            <a:off x="1907964" y="3701607"/>
            <a:ext cx="292593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altLang="ko-KR" b="1" dirty="0">
                <a:latin typeface="+mn-ea"/>
                <a:cs typeface="Noto Sans KR" pitchFamily="34" charset="-120"/>
              </a:rPr>
              <a:t>‘</a:t>
            </a:r>
            <a:r>
              <a:rPr lang="ko-KR" altLang="en-US" b="1" dirty="0" err="1">
                <a:latin typeface="+mn-ea"/>
                <a:cs typeface="Noto Sans KR" pitchFamily="34" charset="-120"/>
              </a:rPr>
              <a:t>헬시플레저</a:t>
            </a:r>
            <a:r>
              <a:rPr lang="en-US" altLang="ko-KR" b="1" dirty="0">
                <a:latin typeface="+mn-ea"/>
                <a:cs typeface="Noto Sans KR" pitchFamily="34" charset="-120"/>
              </a:rPr>
              <a:t>’</a:t>
            </a:r>
            <a:r>
              <a:rPr lang="ko-KR" altLang="en-US" b="1" dirty="0">
                <a:latin typeface="+mn-ea"/>
                <a:cs typeface="Noto Sans KR" pitchFamily="34" charset="-120"/>
              </a:rPr>
              <a:t>와 </a:t>
            </a:r>
            <a:r>
              <a:rPr lang="en-US" altLang="ko-KR" b="1" dirty="0">
                <a:latin typeface="+mn-ea"/>
                <a:cs typeface="Noto Sans KR" pitchFamily="34" charset="-120"/>
              </a:rPr>
              <a:t>‘</a:t>
            </a:r>
            <a:r>
              <a:rPr lang="ko-KR" altLang="en-US" b="1" dirty="0">
                <a:latin typeface="+mn-ea"/>
                <a:cs typeface="Noto Sans KR" pitchFamily="34" charset="-120"/>
              </a:rPr>
              <a:t>러닝</a:t>
            </a:r>
            <a:r>
              <a:rPr lang="en-US" altLang="ko-KR" b="1" dirty="0">
                <a:latin typeface="+mn-ea"/>
                <a:cs typeface="Noto Sans KR" pitchFamily="34" charset="-120"/>
              </a:rPr>
              <a:t>’</a:t>
            </a:r>
            <a:r>
              <a:rPr lang="ko-KR" altLang="en-US" b="1" dirty="0">
                <a:latin typeface="+mn-ea"/>
                <a:cs typeface="Noto Sans KR" pitchFamily="34" charset="-120"/>
              </a:rPr>
              <a:t> 열풍</a:t>
            </a:r>
            <a:endParaRPr lang="en-US" b="1" dirty="0">
              <a:latin typeface="+mn-ea"/>
              <a:cs typeface="Noto Sans KR" pitchFamily="34" charset="-12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C6C923E-1F5B-ADA2-CAB1-365B21E3E9F7}"/>
              </a:ext>
            </a:extLst>
          </p:cNvPr>
          <p:cNvGrpSpPr/>
          <p:nvPr/>
        </p:nvGrpSpPr>
        <p:grpSpPr>
          <a:xfrm>
            <a:off x="1374522" y="1767427"/>
            <a:ext cx="3868421" cy="1844570"/>
            <a:chOff x="474169" y="1285290"/>
            <a:chExt cx="4132188" cy="14400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640D6678-25DF-BE9E-34B6-0F3BA9533861}"/>
                </a:ext>
              </a:extLst>
            </p:cNvPr>
            <p:cNvSpPr/>
            <p:nvPr/>
          </p:nvSpPr>
          <p:spPr>
            <a:xfrm>
              <a:off x="474169" y="1285290"/>
              <a:ext cx="1440000" cy="1440000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253E824-5C1B-3F10-3C7F-5E4AF18F2D89}"/>
                </a:ext>
              </a:extLst>
            </p:cNvPr>
            <p:cNvSpPr/>
            <p:nvPr/>
          </p:nvSpPr>
          <p:spPr>
            <a:xfrm>
              <a:off x="3166357" y="1285290"/>
              <a:ext cx="1440000" cy="1440000"/>
            </a:xfrm>
            <a:prstGeom prst="rect">
              <a:avLst/>
            </a:prstGeom>
            <a:blipFill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" name="더하기 6">
              <a:extLst>
                <a:ext uri="{FF2B5EF4-FFF2-40B4-BE49-F238E27FC236}">
                  <a16:creationId xmlns:a16="http://schemas.microsoft.com/office/drawing/2014/main" id="{5FFE1E83-365A-3AB4-89E4-9D509ACE7B57}"/>
                </a:ext>
              </a:extLst>
            </p:cNvPr>
            <p:cNvSpPr/>
            <p:nvPr/>
          </p:nvSpPr>
          <p:spPr>
            <a:xfrm>
              <a:off x="2177934" y="1691929"/>
              <a:ext cx="857539" cy="626722"/>
            </a:xfrm>
            <a:prstGeom prst="mathPlus">
              <a:avLst/>
            </a:prstGeom>
            <a:solidFill>
              <a:srgbClr val="1E40A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8" name="Text 5">
            <a:extLst>
              <a:ext uri="{FF2B5EF4-FFF2-40B4-BE49-F238E27FC236}">
                <a16:creationId xmlns:a16="http://schemas.microsoft.com/office/drawing/2014/main" id="{6AE7721C-0928-2522-8EAE-3A780D03B373}"/>
              </a:ext>
            </a:extLst>
          </p:cNvPr>
          <p:cNvSpPr/>
          <p:nvPr/>
        </p:nvSpPr>
        <p:spPr>
          <a:xfrm>
            <a:off x="5846282" y="2651980"/>
            <a:ext cx="1065956" cy="3104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40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61317B5-D0B5-6148-DC50-715BF7C502FF}"/>
              </a:ext>
            </a:extLst>
          </p:cNvPr>
          <p:cNvGrpSpPr/>
          <p:nvPr/>
        </p:nvGrpSpPr>
        <p:grpSpPr>
          <a:xfrm>
            <a:off x="1374522" y="4776169"/>
            <a:ext cx="10045071" cy="926718"/>
            <a:chOff x="838199" y="4415990"/>
            <a:chExt cx="10045071" cy="926718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5B5EF80F-5830-868B-888F-B0224602CEC3}"/>
                </a:ext>
              </a:extLst>
            </p:cNvPr>
            <p:cNvSpPr/>
            <p:nvPr/>
          </p:nvSpPr>
          <p:spPr>
            <a:xfrm>
              <a:off x="838199" y="4415990"/>
              <a:ext cx="10045071" cy="64960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600" dirty="0" err="1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헬스장</a:t>
              </a: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sz="1600" dirty="0" err="1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업계는</a:t>
              </a: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sz="1600" dirty="0" err="1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평균</a:t>
              </a: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sz="1600" b="1" dirty="0">
                  <a:solidFill>
                    <a:srgbClr val="FF0000"/>
                  </a:solidFill>
                  <a:latin typeface="+mn-ea"/>
                  <a:cs typeface="Noto Sans KR" pitchFamily="34" charset="-120"/>
                </a:rPr>
                <a:t>30%</a:t>
              </a: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에 달하는 높은 회원 이탈률로 인해 지속적인 </a:t>
              </a:r>
              <a:r>
                <a:rPr lang="en-US" sz="1600" b="1" dirty="0">
                  <a:solidFill>
                    <a:srgbClr val="FF0000"/>
                  </a:solidFill>
                  <a:latin typeface="+mn-ea"/>
                  <a:cs typeface="Noto Sans KR" pitchFamily="34" charset="-120"/>
                </a:rPr>
                <a:t>매출 손실</a:t>
              </a: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을 겪고 있습니다.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7483E3B6-AEE2-5D20-6A76-126428ACA7CF}"/>
                </a:ext>
              </a:extLst>
            </p:cNvPr>
            <p:cNvSpPr/>
            <p:nvPr/>
          </p:nvSpPr>
          <p:spPr>
            <a:xfrm>
              <a:off x="838199" y="4693101"/>
              <a:ext cx="10045070" cy="64960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2100"/>
                </a:lnSpc>
              </a:pP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본 </a:t>
              </a:r>
              <a:r>
                <a:rPr lang="en-US" sz="1600" dirty="0" err="1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프로젝트는</a:t>
              </a: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ko-KR" altLang="en-US" sz="1600" b="1" dirty="0" err="1">
                  <a:solidFill>
                    <a:srgbClr val="1E40AF"/>
                  </a:solidFill>
                  <a:latin typeface="+mn-ea"/>
                  <a:cs typeface="Noto Sans KR" pitchFamily="34" charset="-120"/>
                </a:rPr>
                <a:t>머신러닝</a:t>
              </a:r>
              <a:r>
                <a:rPr lang="ko-KR" altLang="en-US" sz="1600" dirty="0" err="1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과</a:t>
              </a:r>
              <a:r>
                <a:rPr lang="ko-KR" alt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ko-KR" altLang="en-US" sz="1600" b="1" dirty="0" err="1">
                  <a:solidFill>
                    <a:srgbClr val="1E40AF"/>
                  </a:solidFill>
                  <a:latin typeface="+mn-ea"/>
                  <a:cs typeface="Noto Sans KR" pitchFamily="34" charset="-120"/>
                </a:rPr>
                <a:t>딥러닝</a:t>
              </a:r>
              <a:r>
                <a:rPr lang="ko-KR" altLang="en-US" sz="1600" dirty="0" err="1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을</a:t>
              </a:r>
              <a:r>
                <a:rPr lang="ko-KR" alt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 활용한 </a:t>
              </a:r>
              <a:r>
                <a:rPr lang="en-US" sz="1600" b="1" dirty="0" err="1">
                  <a:solidFill>
                    <a:srgbClr val="1E40AF"/>
                  </a:solidFill>
                  <a:latin typeface="+mn-ea"/>
                  <a:cs typeface="Noto Sans KR" pitchFamily="34" charset="-120"/>
                </a:rPr>
                <a:t>예측</a:t>
              </a:r>
              <a:r>
                <a:rPr lang="en-US" sz="1600" b="1" dirty="0">
                  <a:solidFill>
                    <a:srgbClr val="1E40AF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sz="1600" b="1" dirty="0" err="1">
                  <a:solidFill>
                    <a:srgbClr val="1E40AF"/>
                  </a:solidFill>
                  <a:latin typeface="+mn-ea"/>
                  <a:cs typeface="Noto Sans KR" pitchFamily="34" charset="-120"/>
                </a:rPr>
                <a:t>모델</a:t>
              </a:r>
              <a:r>
                <a:rPr lang="en-US" sz="1600" dirty="0" err="1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을</a:t>
              </a: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ko-KR" alt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구축해</a:t>
              </a: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이탈</a:t>
              </a:r>
              <a:r>
                <a:rPr lang="en-US" altLang="ko-KR" sz="1600" dirty="0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가능성이</a:t>
              </a:r>
              <a:r>
                <a:rPr lang="en-US" altLang="ko-KR" sz="1600" dirty="0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높은</a:t>
              </a:r>
              <a:r>
                <a:rPr lang="en-US" altLang="ko-KR" sz="1600" dirty="0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고객을</a:t>
              </a:r>
              <a:r>
                <a:rPr lang="en-US" altLang="ko-KR" sz="1600" dirty="0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altLang="ko-KR" sz="1600" b="1" dirty="0" err="1">
                  <a:solidFill>
                    <a:srgbClr val="1E40AF"/>
                  </a:solidFill>
                  <a:latin typeface="+mn-ea"/>
                  <a:cs typeface="Noto Sans KR" pitchFamily="34" charset="-120"/>
                </a:rPr>
                <a:t>사전식별</a:t>
              </a:r>
              <a:r>
                <a:rPr lang="en-US" altLang="ko-KR" sz="1600" dirty="0" err="1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하여</a:t>
              </a:r>
              <a:r>
                <a:rPr lang="en-US" altLang="ko-KR" sz="1600" dirty="0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, </a:t>
              </a:r>
              <a:r>
                <a:rPr lang="en-US" altLang="ko-KR" sz="1600" b="1" dirty="0" err="1">
                  <a:solidFill>
                    <a:srgbClr val="1E40AF"/>
                  </a:solidFill>
                  <a:latin typeface="+mn-ea"/>
                  <a:cs typeface="Noto Sans KR" pitchFamily="34" charset="-120"/>
                </a:rPr>
                <a:t>선제대응</a:t>
              </a:r>
              <a:r>
                <a:rPr lang="en-US" altLang="ko-KR" sz="1600" dirty="0" err="1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을</a:t>
              </a:r>
              <a:r>
                <a:rPr lang="en-US" altLang="ko-KR" sz="1600" dirty="0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가능하게</a:t>
              </a:r>
              <a:r>
                <a:rPr lang="ko-KR" altLang="en-US" sz="1600" dirty="0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 하고자 </a:t>
              </a:r>
              <a:r>
                <a:rPr lang="en-US" altLang="ko-KR" sz="1600" dirty="0" err="1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합니다</a:t>
              </a:r>
              <a:r>
                <a:rPr lang="en-US" altLang="ko-KR" sz="1600" dirty="0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.</a:t>
              </a:r>
              <a:endParaRPr lang="en-US" altLang="ko-KR" sz="1600" dirty="0">
                <a:latin typeface="+mn-ea"/>
              </a:endParaRPr>
            </a:p>
            <a:p>
              <a:pPr marL="0" indent="0">
                <a:lnSpc>
                  <a:spcPts val="2100"/>
                </a:lnSpc>
                <a:buNone/>
              </a:pPr>
              <a:endParaRPr lang="en-US" sz="1600" dirty="0">
                <a:latin typeface="+mn-ea"/>
              </a:endParaRPr>
            </a:p>
          </p:txBody>
        </p:sp>
      </p:grpSp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EC64EDA8-C21E-FB5B-BE88-ED60B53260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056" y="4776170"/>
            <a:ext cx="644947" cy="77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0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03E3B-2533-37A3-4B67-107CF5BAD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F6028C-726A-CB92-BAA9-4E473F3C9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9BDDC09-2A2F-4CC0-B05E-1CF9D30E3095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C279F3-3D07-32AA-3717-425229D06521}"/>
              </a:ext>
            </a:extLst>
          </p:cNvPr>
          <p:cNvSpPr txBox="1"/>
          <p:nvPr/>
        </p:nvSpPr>
        <p:spPr>
          <a:xfrm>
            <a:off x="609598" y="274320"/>
            <a:ext cx="9573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8D"/>
                </a:solidFill>
              </a:defRPr>
            </a:pPr>
            <a:r>
              <a:rPr lang="ko-KR" altLang="en-US" sz="3200" dirty="0">
                <a:solidFill>
                  <a:schemeClr val="bg1"/>
                </a:solidFill>
                <a:latin typeface="+mj-lt"/>
              </a:rPr>
              <a:t>목차</a:t>
            </a:r>
            <a:endParaRPr sz="32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B2E772C-775A-FA66-740F-0087126AD4C7}"/>
              </a:ext>
            </a:extLst>
          </p:cNvPr>
          <p:cNvGrpSpPr/>
          <p:nvPr/>
        </p:nvGrpSpPr>
        <p:grpSpPr>
          <a:xfrm>
            <a:off x="609598" y="1116129"/>
            <a:ext cx="1698704" cy="896362"/>
            <a:chOff x="1371344" y="1312582"/>
            <a:chExt cx="1698704" cy="896362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4E1D3E4-060F-913F-AE2A-CE772D05830E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6106A84-1879-2FDC-0C75-73D8CF2B3F3A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01</a:t>
              </a:r>
              <a:endParaRPr kumimoji="1" lang="ko-KR" altLang="en-US" sz="2800" b="1" dirty="0"/>
            </a:p>
          </p:txBody>
        </p:sp>
        <p:sp>
          <p:nvSpPr>
            <p:cNvPr id="14" name="직각 삼각형[R] 13">
              <a:extLst>
                <a:ext uri="{FF2B5EF4-FFF2-40B4-BE49-F238E27FC236}">
                  <a16:creationId xmlns:a16="http://schemas.microsoft.com/office/drawing/2014/main" id="{4B2A4E73-AE5C-3665-2A95-0BEDA5F3FEC1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수동 입력 15">
              <a:extLst>
                <a:ext uri="{FF2B5EF4-FFF2-40B4-BE49-F238E27FC236}">
                  <a16:creationId xmlns:a16="http://schemas.microsoft.com/office/drawing/2014/main" id="{87F8F013-69AB-BC88-6590-B4963CDBA23C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삼각형 16">
              <a:extLst>
                <a:ext uri="{FF2B5EF4-FFF2-40B4-BE49-F238E27FC236}">
                  <a16:creationId xmlns:a16="http://schemas.microsoft.com/office/drawing/2014/main" id="{F3A794EF-C768-0296-8F54-77951E21549B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31C3C1C-FA5F-9691-8AE7-B115C5EB5FF8}"/>
              </a:ext>
            </a:extLst>
          </p:cNvPr>
          <p:cNvGrpSpPr/>
          <p:nvPr/>
        </p:nvGrpSpPr>
        <p:grpSpPr>
          <a:xfrm>
            <a:off x="609598" y="4420530"/>
            <a:ext cx="1698704" cy="896362"/>
            <a:chOff x="1371344" y="1312582"/>
            <a:chExt cx="1698704" cy="896362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1277780-8999-16D6-AB78-006EEE171AEC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</a:t>
              </a:r>
              <a:endParaRPr lang="ko-KR" altLang="en-US" sz="2400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BF71F251-32E4-2A5A-6860-9B336E0812B6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04</a:t>
              </a:r>
              <a:endParaRPr kumimoji="1" lang="ko-KR" altLang="en-US" sz="2800" b="1" dirty="0"/>
            </a:p>
          </p:txBody>
        </p:sp>
        <p:sp>
          <p:nvSpPr>
            <p:cNvPr id="37" name="직각 삼각형[R] 36">
              <a:extLst>
                <a:ext uri="{FF2B5EF4-FFF2-40B4-BE49-F238E27FC236}">
                  <a16:creationId xmlns:a16="http://schemas.microsoft.com/office/drawing/2014/main" id="{72565141-5054-5DD3-E42D-548250B6459E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수동 입력 37">
              <a:extLst>
                <a:ext uri="{FF2B5EF4-FFF2-40B4-BE49-F238E27FC236}">
                  <a16:creationId xmlns:a16="http://schemas.microsoft.com/office/drawing/2014/main" id="{75CCA493-3BC0-7803-1513-3E493B913B03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9" name="삼각형 38">
              <a:extLst>
                <a:ext uri="{FF2B5EF4-FFF2-40B4-BE49-F238E27FC236}">
                  <a16:creationId xmlns:a16="http://schemas.microsoft.com/office/drawing/2014/main" id="{F4402482-C332-AD6E-96F8-D51FAA183323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097C9BB-E571-511E-93CA-F7569475CBC5}"/>
              </a:ext>
            </a:extLst>
          </p:cNvPr>
          <p:cNvGrpSpPr/>
          <p:nvPr/>
        </p:nvGrpSpPr>
        <p:grpSpPr>
          <a:xfrm>
            <a:off x="609598" y="2216885"/>
            <a:ext cx="9323083" cy="896362"/>
            <a:chOff x="1371344" y="1312582"/>
            <a:chExt cx="9323083" cy="89636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3C19626-A16A-0843-9978-88600549D19B}"/>
                </a:ext>
              </a:extLst>
            </p:cNvPr>
            <p:cNvSpPr/>
            <p:nvPr/>
          </p:nvSpPr>
          <p:spPr>
            <a:xfrm>
              <a:off x="2414427" y="1489753"/>
              <a:ext cx="8280000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2000" b="1">
                  <a:solidFill>
                    <a:srgbClr val="00338D"/>
                  </a:solidFill>
                </a:defRPr>
              </a:pPr>
              <a:r>
                <a:rPr lang="ko-KR" altLang="en-US" sz="2400" b="1" dirty="0">
                  <a:latin typeface="+mj-lt"/>
                </a:rPr>
                <a:t>   데이터 </a:t>
              </a:r>
              <a:r>
                <a:rPr lang="ko-KR" altLang="en-US" sz="2400" b="1" dirty="0" err="1">
                  <a:latin typeface="+mj-lt"/>
                </a:rPr>
                <a:t>전처리</a:t>
              </a:r>
              <a:r>
                <a:rPr lang="ko-KR" altLang="en-US" sz="2400" b="1" dirty="0">
                  <a:latin typeface="+mj-lt"/>
                </a:rPr>
                <a:t> 및 학습</a:t>
              </a:r>
              <a:endParaRPr lang="ko-KR" altLang="en-US" sz="3600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18B3931-F6F3-8D14-E930-679C55B65D59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02</a:t>
              </a:r>
              <a:endParaRPr kumimoji="1" lang="ko-KR" altLang="en-US" sz="2800" b="1" dirty="0"/>
            </a:p>
          </p:txBody>
        </p:sp>
        <p:sp>
          <p:nvSpPr>
            <p:cNvPr id="10" name="직각 삼각형[R] 9">
              <a:extLst>
                <a:ext uri="{FF2B5EF4-FFF2-40B4-BE49-F238E27FC236}">
                  <a16:creationId xmlns:a16="http://schemas.microsoft.com/office/drawing/2014/main" id="{2ED15E5E-FD8B-7578-D4FB-1FBFAA76F061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수동 입력 10">
              <a:extLst>
                <a:ext uri="{FF2B5EF4-FFF2-40B4-BE49-F238E27FC236}">
                  <a16:creationId xmlns:a16="http://schemas.microsoft.com/office/drawing/2014/main" id="{2D9CA58E-7093-DAC4-7CC6-CD670D52B1DF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삼각형 11">
              <a:extLst>
                <a:ext uri="{FF2B5EF4-FFF2-40B4-BE49-F238E27FC236}">
                  <a16:creationId xmlns:a16="http://schemas.microsoft.com/office/drawing/2014/main" id="{860181A3-2BBD-0C20-DB00-E43F58C46274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9B8BA30-A314-D20D-A828-9B3992C08EE3}"/>
              </a:ext>
            </a:extLst>
          </p:cNvPr>
          <p:cNvGrpSpPr/>
          <p:nvPr/>
        </p:nvGrpSpPr>
        <p:grpSpPr>
          <a:xfrm>
            <a:off x="609598" y="3319020"/>
            <a:ext cx="1698704" cy="896362"/>
            <a:chOff x="1371344" y="1312582"/>
            <a:chExt cx="1698704" cy="89636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88C5AC4-DF3A-2507-6FCD-48BD9846F97A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8D"/>
                  </a:solidFill>
                </a:defRPr>
              </a:pPr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</a:t>
              </a:r>
              <a:endPara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338D"/>
                </a:solidFill>
                <a:effectLst/>
                <a:uLnTx/>
                <a:uFillTx/>
                <a:latin typeface="+mj-lt"/>
                <a:ea typeface="나눔고딕"/>
                <a:cs typeface="+mn-cs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A9B5B36-AACA-3040-3AD4-87B4DD64EEE3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03</a:t>
              </a:r>
              <a:endParaRPr kumimoji="1" lang="ko-KR" altLang="en-US" sz="2800" b="1" dirty="0"/>
            </a:p>
          </p:txBody>
        </p:sp>
        <p:sp>
          <p:nvSpPr>
            <p:cNvPr id="18" name="직각 삼각형[R] 17">
              <a:extLst>
                <a:ext uri="{FF2B5EF4-FFF2-40B4-BE49-F238E27FC236}">
                  <a16:creationId xmlns:a16="http://schemas.microsoft.com/office/drawing/2014/main" id="{DFBB1398-0755-E50A-15B2-908FE18B431F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수동 입력 18">
              <a:extLst>
                <a:ext uri="{FF2B5EF4-FFF2-40B4-BE49-F238E27FC236}">
                  <a16:creationId xmlns:a16="http://schemas.microsoft.com/office/drawing/2014/main" id="{178F7BB5-0A09-B14C-C710-96223A135DB3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0" name="삼각형 19">
              <a:extLst>
                <a:ext uri="{FF2B5EF4-FFF2-40B4-BE49-F238E27FC236}">
                  <a16:creationId xmlns:a16="http://schemas.microsoft.com/office/drawing/2014/main" id="{09A6D9D1-3761-6A72-8476-AEAA6BB58D2F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60408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09BA7A1D-654F-96F3-5154-2A1A4E367988}"/>
              </a:ext>
            </a:extLst>
          </p:cNvPr>
          <p:cNvSpPr/>
          <p:nvPr/>
        </p:nvSpPr>
        <p:spPr>
          <a:xfrm>
            <a:off x="546410" y="3389971"/>
            <a:ext cx="5244790" cy="24644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814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657600"/>
            <a:ext cx="25717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" y="4229100"/>
            <a:ext cx="1524000" cy="1524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2127" y="47434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2127" y="508635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839951"/>
            <a:ext cx="5334000" cy="800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792451"/>
            <a:ext cx="5334000" cy="800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3744951"/>
            <a:ext cx="5334000" cy="800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697451"/>
            <a:ext cx="5334000" cy="8001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정보</a:t>
            </a:r>
            <a:endParaRPr lang="en-US" sz="2700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7B5D8C8-AD2D-C443-D89E-89135E0FD1C8}"/>
              </a:ext>
            </a:extLst>
          </p:cNvPr>
          <p:cNvGrpSpPr/>
          <p:nvPr/>
        </p:nvGrpSpPr>
        <p:grpSpPr>
          <a:xfrm>
            <a:off x="546410" y="1382751"/>
            <a:ext cx="10959790" cy="2991780"/>
            <a:chOff x="546410" y="1382751"/>
            <a:chExt cx="10959790" cy="2991780"/>
          </a:xfrm>
        </p:grpSpPr>
        <p:sp>
          <p:nvSpPr>
            <p:cNvPr id="62" name="모서리가 둥근 직사각형 61">
              <a:extLst>
                <a:ext uri="{FF2B5EF4-FFF2-40B4-BE49-F238E27FC236}">
                  <a16:creationId xmlns:a16="http://schemas.microsoft.com/office/drawing/2014/main" id="{5C210C57-ABDB-3F09-1785-07BE1539F890}"/>
                </a:ext>
              </a:extLst>
            </p:cNvPr>
            <p:cNvSpPr/>
            <p:nvPr/>
          </p:nvSpPr>
          <p:spPr>
            <a:xfrm>
              <a:off x="6400800" y="1751671"/>
              <a:ext cx="5105400" cy="70485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49" name="모서리가 둥근 직사각형 48">
              <a:extLst>
                <a:ext uri="{FF2B5EF4-FFF2-40B4-BE49-F238E27FC236}">
                  <a16:creationId xmlns:a16="http://schemas.microsoft.com/office/drawing/2014/main" id="{97245378-1CD3-AACF-E02C-4A8A473962CD}"/>
                </a:ext>
              </a:extLst>
            </p:cNvPr>
            <p:cNvSpPr/>
            <p:nvPr/>
          </p:nvSpPr>
          <p:spPr>
            <a:xfrm>
              <a:off x="546410" y="1382751"/>
              <a:ext cx="5244790" cy="158904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85800" y="1524000"/>
              <a:ext cx="457200" cy="45720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14388" y="1600200"/>
              <a:ext cx="200025" cy="304800"/>
            </a:xfrm>
            <a:prstGeom prst="rect">
              <a:avLst/>
            </a:prstGeom>
          </p:spPr>
        </p:pic>
        <p:sp>
          <p:nvSpPr>
            <p:cNvPr id="26" name="Text 1"/>
            <p:cNvSpPr/>
            <p:nvPr/>
          </p:nvSpPr>
          <p:spPr>
            <a:xfrm>
              <a:off x="1295400" y="1485900"/>
              <a:ext cx="2244328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sz="18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 규모</a:t>
              </a:r>
              <a:endParaRPr lang="en-US" sz="1800" dirty="0"/>
            </a:p>
          </p:txBody>
        </p:sp>
        <p:sp>
          <p:nvSpPr>
            <p:cNvPr id="27" name="Text 2"/>
            <p:cNvSpPr/>
            <p:nvPr/>
          </p:nvSpPr>
          <p:spPr>
            <a:xfrm>
              <a:off x="1295400" y="1790700"/>
              <a:ext cx="2693194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총 4,002개의 </a:t>
              </a:r>
              <a:r>
                <a:rPr lang="en-US" sz="1200" dirty="0" err="1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샘플과</a:t>
              </a: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ko-KR" alt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13</a:t>
              </a: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개의 특성</a:t>
              </a:r>
              <a:endParaRPr lang="en-US" sz="1200" dirty="0"/>
            </a:p>
          </p:txBody>
        </p:sp>
        <p:sp>
          <p:nvSpPr>
            <p:cNvPr id="28" name="Text 3"/>
            <p:cNvSpPr/>
            <p:nvPr/>
          </p:nvSpPr>
          <p:spPr>
            <a:xfrm>
              <a:off x="1479709" y="2247900"/>
              <a:ext cx="1029772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3000"/>
                </a:lnSpc>
                <a:buNone/>
              </a:pPr>
              <a:r>
                <a:rPr lang="en-US" sz="27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4,002</a:t>
              </a:r>
              <a:endParaRPr lang="en-US" sz="2700" dirty="0"/>
            </a:p>
          </p:txBody>
        </p:sp>
        <p:sp>
          <p:nvSpPr>
            <p:cNvPr id="29" name="Text 4"/>
            <p:cNvSpPr/>
            <p:nvPr/>
          </p:nvSpPr>
          <p:spPr>
            <a:xfrm>
              <a:off x="1565523" y="2628900"/>
              <a:ext cx="85814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샘플 수</a:t>
              </a:r>
              <a:endParaRPr lang="en-US" sz="1200" dirty="0"/>
            </a:p>
          </p:txBody>
        </p:sp>
        <p:sp>
          <p:nvSpPr>
            <p:cNvPr id="30" name="Text 5"/>
            <p:cNvSpPr/>
            <p:nvPr/>
          </p:nvSpPr>
          <p:spPr>
            <a:xfrm>
              <a:off x="4133151" y="2247900"/>
              <a:ext cx="599539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3000"/>
                </a:lnSpc>
                <a:buNone/>
              </a:pPr>
              <a:r>
                <a:rPr lang="en-US" altLang="ko-KR" sz="27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</a:rPr>
                <a:t>13</a:t>
              </a:r>
              <a:endParaRPr lang="en-US" sz="2700" dirty="0"/>
            </a:p>
          </p:txBody>
        </p:sp>
        <p:sp>
          <p:nvSpPr>
            <p:cNvPr id="31" name="Text 6"/>
            <p:cNvSpPr/>
            <p:nvPr/>
          </p:nvSpPr>
          <p:spPr>
            <a:xfrm>
              <a:off x="4133151" y="2628900"/>
              <a:ext cx="599539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특성 수</a:t>
              </a:r>
              <a:endParaRPr lang="en-US" sz="1200" dirty="0"/>
            </a:p>
          </p:txBody>
        </p:sp>
        <p:sp>
          <p:nvSpPr>
            <p:cNvPr id="68" name="모서리가 둥근 직사각형 67">
              <a:extLst>
                <a:ext uri="{FF2B5EF4-FFF2-40B4-BE49-F238E27FC236}">
                  <a16:creationId xmlns:a16="http://schemas.microsoft.com/office/drawing/2014/main" id="{B2BF369C-6A6A-B373-C6AF-A22E79DF1734}"/>
                </a:ext>
              </a:extLst>
            </p:cNvPr>
            <p:cNvSpPr/>
            <p:nvPr/>
          </p:nvSpPr>
          <p:spPr>
            <a:xfrm>
              <a:off x="6400800" y="2710676"/>
              <a:ext cx="5105400" cy="70485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69" name="모서리가 둥근 직사각형 68">
              <a:extLst>
                <a:ext uri="{FF2B5EF4-FFF2-40B4-BE49-F238E27FC236}">
                  <a16:creationId xmlns:a16="http://schemas.microsoft.com/office/drawing/2014/main" id="{E57496A2-F433-C3AF-BA43-528A49B0D200}"/>
                </a:ext>
              </a:extLst>
            </p:cNvPr>
            <p:cNvSpPr/>
            <p:nvPr/>
          </p:nvSpPr>
          <p:spPr>
            <a:xfrm>
              <a:off x="6400800" y="3669681"/>
              <a:ext cx="5105400" cy="70485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32" name="Text 7"/>
          <p:cNvSpPr/>
          <p:nvPr/>
        </p:nvSpPr>
        <p:spPr>
          <a:xfrm>
            <a:off x="1295400" y="3543300"/>
            <a:ext cx="18491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분포</a:t>
            </a:r>
            <a:endParaRPr lang="en-US" sz="1800" dirty="0"/>
          </a:p>
        </p:txBody>
      </p:sp>
      <p:sp>
        <p:nvSpPr>
          <p:cNvPr id="33" name="Text 8"/>
          <p:cNvSpPr/>
          <p:nvPr/>
        </p:nvSpPr>
        <p:spPr>
          <a:xfrm>
            <a:off x="1295400" y="3848100"/>
            <a:ext cx="1849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 고객 vs 이탈 고객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4390727" y="4686300"/>
            <a:ext cx="14062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 고객: 70%</a:t>
            </a:r>
            <a:endParaRPr lang="en-US" sz="1350" dirty="0"/>
          </a:p>
        </p:txBody>
      </p:sp>
      <p:sp>
        <p:nvSpPr>
          <p:cNvPr id="35" name="Text 10"/>
          <p:cNvSpPr/>
          <p:nvPr/>
        </p:nvSpPr>
        <p:spPr>
          <a:xfrm>
            <a:off x="4390727" y="5029200"/>
            <a:ext cx="14062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고객: 30%</a:t>
            </a:r>
            <a:endParaRPr lang="en-US" sz="1350" dirty="0"/>
          </a:p>
        </p:txBody>
      </p:sp>
      <p:sp>
        <p:nvSpPr>
          <p:cNvPr id="36" name="Text 11"/>
          <p:cNvSpPr/>
          <p:nvPr/>
        </p:nvSpPr>
        <p:spPr>
          <a:xfrm>
            <a:off x="6400800" y="1382751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</a:t>
            </a: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특성</a:t>
            </a:r>
            <a:endParaRPr lang="en-US" sz="1800" dirty="0"/>
          </a:p>
        </p:txBody>
      </p:sp>
      <p:sp>
        <p:nvSpPr>
          <p:cNvPr id="37" name="Text 12"/>
          <p:cNvSpPr/>
          <p:nvPr/>
        </p:nvSpPr>
        <p:spPr>
          <a:xfrm>
            <a:off x="7162800" y="1872476"/>
            <a:ext cx="14987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기본 정보</a:t>
            </a:r>
            <a:endParaRPr lang="en-US" sz="1500" dirty="0"/>
          </a:p>
        </p:txBody>
      </p:sp>
      <p:sp>
        <p:nvSpPr>
          <p:cNvPr id="38" name="Text 13"/>
          <p:cNvSpPr/>
          <p:nvPr/>
        </p:nvSpPr>
        <p:spPr>
          <a:xfrm>
            <a:off x="7162800" y="2139176"/>
            <a:ext cx="14987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성별, 나이 등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7162800" y="2817077"/>
            <a:ext cx="13885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정보</a:t>
            </a:r>
            <a:endParaRPr lang="en-US" sz="1500" dirty="0"/>
          </a:p>
        </p:txBody>
      </p:sp>
      <p:sp>
        <p:nvSpPr>
          <p:cNvPr id="40" name="Text 15"/>
          <p:cNvSpPr/>
          <p:nvPr/>
        </p:nvSpPr>
        <p:spPr>
          <a:xfrm>
            <a:off x="7162800" y="3083777"/>
            <a:ext cx="1666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기간, 만료일 등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7162800" y="3810000"/>
            <a:ext cx="1930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데이터</a:t>
            </a:r>
            <a:endParaRPr lang="en-US" sz="1500" dirty="0"/>
          </a:p>
        </p:txBody>
      </p:sp>
      <p:sp>
        <p:nvSpPr>
          <p:cNvPr id="42" name="Text 17"/>
          <p:cNvSpPr/>
          <p:nvPr/>
        </p:nvSpPr>
        <p:spPr>
          <a:xfrm>
            <a:off x="7162800" y="4076700"/>
            <a:ext cx="2316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참여 빈도, 결제 이력 등</a:t>
            </a:r>
            <a:endParaRPr lang="en-US" sz="1200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AA387DF-E7D9-3244-46AA-59F0FB1F0693}"/>
              </a:ext>
            </a:extLst>
          </p:cNvPr>
          <p:cNvGrpSpPr/>
          <p:nvPr/>
        </p:nvGrpSpPr>
        <p:grpSpPr>
          <a:xfrm>
            <a:off x="6553200" y="1855981"/>
            <a:ext cx="457200" cy="457200"/>
            <a:chOff x="6553200" y="1885950"/>
            <a:chExt cx="457200" cy="457200"/>
          </a:xfrm>
        </p:grpSpPr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553200" y="1885950"/>
              <a:ext cx="457200" cy="457200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696075" y="1981200"/>
              <a:ext cx="171450" cy="266700"/>
            </a:xfrm>
            <a:prstGeom prst="rect">
              <a:avLst/>
            </a:prstGeom>
          </p:spPr>
        </p:pic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49F2CB9D-89F5-773A-8675-F6FCF2C5AD26}"/>
              </a:ext>
            </a:extLst>
          </p:cNvPr>
          <p:cNvGrpSpPr/>
          <p:nvPr/>
        </p:nvGrpSpPr>
        <p:grpSpPr>
          <a:xfrm>
            <a:off x="6553200" y="2836127"/>
            <a:ext cx="457200" cy="457200"/>
            <a:chOff x="6553200" y="2838450"/>
            <a:chExt cx="457200" cy="457200"/>
          </a:xfrm>
        </p:grpSpPr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553200" y="2838450"/>
              <a:ext cx="457200" cy="45720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0363" y="2933700"/>
              <a:ext cx="142875" cy="266700"/>
            </a:xfrm>
            <a:prstGeom prst="rect">
              <a:avLst/>
            </a:prstGeom>
          </p:spPr>
        </p:pic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2E124E9E-7BA6-AD32-9F88-727709864F48}"/>
              </a:ext>
            </a:extLst>
          </p:cNvPr>
          <p:cNvGrpSpPr/>
          <p:nvPr/>
        </p:nvGrpSpPr>
        <p:grpSpPr>
          <a:xfrm>
            <a:off x="6553200" y="3829050"/>
            <a:ext cx="457200" cy="457200"/>
            <a:chOff x="6553200" y="3790950"/>
            <a:chExt cx="457200" cy="457200"/>
          </a:xfrm>
        </p:grpSpPr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553200" y="3790950"/>
              <a:ext cx="457200" cy="457200"/>
            </a:xfrm>
            <a:prstGeom prst="rect">
              <a:avLst/>
            </a:prstGeom>
          </p:spPr>
        </p:pic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686550" y="3886200"/>
              <a:ext cx="190500" cy="26670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12FC8BC-6564-1D49-B5BB-70931E4DC5CD}"/>
              </a:ext>
            </a:extLst>
          </p:cNvPr>
          <p:cNvSpPr txBox="1"/>
          <p:nvPr/>
        </p:nvSpPr>
        <p:spPr>
          <a:xfrm>
            <a:off x="6295929" y="6596390"/>
            <a:ext cx="63668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출처 </a:t>
            </a:r>
            <a:r>
              <a:rPr lang="en-US" altLang="ko-KR" sz="1100" dirty="0">
                <a:latin typeface="+mn-ea"/>
              </a:rPr>
              <a:t>:</a:t>
            </a:r>
            <a:r>
              <a:rPr lang="ko-KR" altLang="en-US" sz="1100" dirty="0">
                <a:latin typeface="+mn-ea"/>
              </a:rPr>
              <a:t> ‘</a:t>
            </a:r>
            <a:r>
              <a:rPr lang="en-US" altLang="ko-KR" sz="1100" dirty="0">
                <a:latin typeface="+mn-ea"/>
              </a:rPr>
              <a:t>https://</a:t>
            </a:r>
            <a:r>
              <a:rPr lang="en-US" altLang="ko-KR" sz="1100" dirty="0" err="1">
                <a:latin typeface="+mn-ea"/>
              </a:rPr>
              <a:t>www.kaggle.com</a:t>
            </a:r>
            <a:r>
              <a:rPr lang="en-US" altLang="ko-KR" sz="1100" dirty="0">
                <a:latin typeface="+mn-ea"/>
              </a:rPr>
              <a:t>/datasets/</a:t>
            </a:r>
            <a:r>
              <a:rPr lang="en-US" altLang="ko-KR" sz="1100" dirty="0" err="1">
                <a:latin typeface="+mn-ea"/>
              </a:rPr>
              <a:t>adrianvinueza</a:t>
            </a:r>
            <a:r>
              <a:rPr lang="en-US" altLang="ko-KR" sz="1100" dirty="0">
                <a:latin typeface="+mn-ea"/>
              </a:rPr>
              <a:t>/gym-customers-features-and-churn</a:t>
            </a:r>
            <a:endParaRPr lang="ko-KR" altLang="en-US" sz="1100" dirty="0"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7" descr="preencoded.png">
            <a:extLst>
              <a:ext uri="{FF2B5EF4-FFF2-40B4-BE49-F238E27FC236}">
                <a16:creationId xmlns:a16="http://schemas.microsoft.com/office/drawing/2014/main" id="{DD4C913F-81CF-9653-3A4B-A3EDE0DDC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51" y="2095500"/>
            <a:ext cx="3606850" cy="2286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3241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4003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9718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5052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501" y="2095500"/>
            <a:ext cx="3606850" cy="2286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1101" y="23241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6826" y="2400300"/>
            <a:ext cx="28575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1101" y="29718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1101" y="35052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7950" y="2095500"/>
            <a:ext cx="3606701" cy="2286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6550" y="2324100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0850" y="24003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550" y="29718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550" y="3733800"/>
            <a:ext cx="152400" cy="1524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457200" y="12573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 정확도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높이기 위해 </a:t>
            </a: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 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과정은 필수적입니다. 본 프로젝트에서는 다음과 같은 단계를 거쳐 데이터를 정제하고 모델 학습에 적합한 형태로 변환했습니다.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1295400" y="2419350"/>
            <a:ext cx="15962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Train-Test 분할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914400" y="2933700"/>
            <a:ext cx="2920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데이터를 학습 세트(Train Set)와 테스트 세트(Test Set)로 80:20 비율로 분할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914400" y="3467100"/>
            <a:ext cx="28144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학습 및 평가의 객관성을 확보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5130701" y="2419350"/>
            <a:ext cx="24265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StandardScaler 정규화</a:t>
            </a:r>
            <a:endParaRPr lang="en-US" sz="1500" dirty="0"/>
          </a:p>
        </p:txBody>
      </p:sp>
      <p:sp>
        <p:nvSpPr>
          <p:cNvPr id="27" name="Text 6"/>
          <p:cNvSpPr/>
          <p:nvPr/>
        </p:nvSpPr>
        <p:spPr>
          <a:xfrm>
            <a:off x="4749701" y="2933700"/>
            <a:ext cx="2921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특성(Feature)의 스케일 차이로 인한 모델 성능 저하를 방지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4749701" y="3467100"/>
            <a:ext cx="2921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특성이 평균 0, 표준편차 1을 갖도록 변환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8966150" y="2419350"/>
            <a:ext cx="28323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 클래스 불균형 조정</a:t>
            </a:r>
            <a:endParaRPr lang="en-US" sz="1500" dirty="0"/>
          </a:p>
        </p:txBody>
      </p:sp>
      <p:sp>
        <p:nvSpPr>
          <p:cNvPr id="30" name="Text 9"/>
          <p:cNvSpPr/>
          <p:nvPr/>
        </p:nvSpPr>
        <p:spPr>
          <a:xfrm>
            <a:off x="8585150" y="2933700"/>
            <a:ext cx="29209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이탈(Churn) 클래스의 데이터 수가 유지(Retention) 클래스에 비해 현저히 적은 불균형 문제 해결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8585150" y="3695700"/>
            <a:ext cx="2920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 기법을 통해 소수 클래스의 샘플을 합성하여 데이터 불균형 해소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685800" y="4658423"/>
            <a:ext cx="1082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 흐름도</a:t>
            </a:r>
            <a:endParaRPr lang="en-US" sz="1500" dirty="0"/>
          </a:p>
        </p:txBody>
      </p:sp>
      <p:sp>
        <p:nvSpPr>
          <p:cNvPr id="34" name="Oval 4">
            <a:extLst>
              <a:ext uri="{FF2B5EF4-FFF2-40B4-BE49-F238E27FC236}">
                <a16:creationId xmlns:a16="http://schemas.microsoft.com/office/drawing/2014/main" id="{380B1F12-7AC0-0EDA-11A9-B0807BE6C43A}"/>
              </a:ext>
            </a:extLst>
          </p:cNvPr>
          <p:cNvSpPr/>
          <p:nvPr/>
        </p:nvSpPr>
        <p:spPr>
          <a:xfrm>
            <a:off x="733200" y="5208551"/>
            <a:ext cx="972000" cy="972000"/>
          </a:xfrm>
          <a:prstGeom prst="ellipse">
            <a:avLst/>
          </a:prstGeom>
          <a:solidFill>
            <a:srgbClr val="9BC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나눔스퀘어"/>
              </a:rPr>
              <a:t>원본 </a:t>
            </a:r>
            <a:endParaRPr lang="en-US" altLang="ko-KR" sz="1200" b="1" dirty="0">
              <a:solidFill>
                <a:srgbClr val="FFFFFF"/>
              </a:solidFill>
              <a:latin typeface="나눔스퀘어"/>
            </a:endParaRPr>
          </a:p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나눔스퀘어"/>
              </a:rPr>
              <a:t>데이터</a:t>
            </a:r>
            <a:endParaRPr sz="1200" b="1" dirty="0">
              <a:solidFill>
                <a:srgbClr val="FFFFFF"/>
              </a:solidFill>
              <a:latin typeface="나눔스퀘어"/>
            </a:endParaRPr>
          </a:p>
        </p:txBody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805A3913-6CB2-496C-8644-0EC323A78236}"/>
              </a:ext>
            </a:extLst>
          </p:cNvPr>
          <p:cNvSpPr/>
          <p:nvPr/>
        </p:nvSpPr>
        <p:spPr>
          <a:xfrm>
            <a:off x="3171600" y="5208551"/>
            <a:ext cx="972000" cy="972000"/>
          </a:xfrm>
          <a:prstGeom prst="ellipse">
            <a:avLst/>
          </a:prstGeom>
          <a:solidFill>
            <a:srgbClr val="005EB8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나눔스퀘어"/>
              </a:rPr>
              <a:t>Train/Test </a:t>
            </a:r>
          </a:p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나눔스퀘어"/>
              </a:rPr>
              <a:t>분할</a:t>
            </a:r>
            <a:endParaRPr sz="1200" b="1" dirty="0">
              <a:solidFill>
                <a:srgbClr val="FFFFFF"/>
              </a:solidFill>
              <a:latin typeface="나눔스퀘어"/>
            </a:endParaRPr>
          </a:p>
        </p:txBody>
      </p:sp>
      <p:sp>
        <p:nvSpPr>
          <p:cNvPr id="36" name="Oval 6">
            <a:extLst>
              <a:ext uri="{FF2B5EF4-FFF2-40B4-BE49-F238E27FC236}">
                <a16:creationId xmlns:a16="http://schemas.microsoft.com/office/drawing/2014/main" id="{95CDF881-8BF2-40A8-BF78-2B232955A5BC}"/>
              </a:ext>
            </a:extLst>
          </p:cNvPr>
          <p:cNvSpPr/>
          <p:nvPr/>
        </p:nvSpPr>
        <p:spPr>
          <a:xfrm>
            <a:off x="5610000" y="5208551"/>
            <a:ext cx="972000" cy="972000"/>
          </a:xfrm>
          <a:prstGeom prst="ellipse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나눔스퀘어"/>
              </a:rPr>
              <a:t>Standard Scaler</a:t>
            </a:r>
            <a:endParaRPr sz="1200" b="1" dirty="0">
              <a:solidFill>
                <a:srgbClr val="FFFFFF"/>
              </a:solidFill>
              <a:latin typeface="나눔스퀘어"/>
            </a:endParaRPr>
          </a:p>
        </p:txBody>
      </p:sp>
      <p:sp>
        <p:nvSpPr>
          <p:cNvPr id="37" name="Oval 7">
            <a:extLst>
              <a:ext uri="{FF2B5EF4-FFF2-40B4-BE49-F238E27FC236}">
                <a16:creationId xmlns:a16="http://schemas.microsoft.com/office/drawing/2014/main" id="{EE0C8384-56C5-C57E-F254-565292A4C212}"/>
              </a:ext>
            </a:extLst>
          </p:cNvPr>
          <p:cNvSpPr/>
          <p:nvPr/>
        </p:nvSpPr>
        <p:spPr>
          <a:xfrm>
            <a:off x="8048400" y="5208551"/>
            <a:ext cx="972000" cy="972000"/>
          </a:xfrm>
          <a:prstGeom prst="ellipse">
            <a:avLst/>
          </a:prstGeom>
          <a:solidFill>
            <a:srgbClr val="612771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나눔스퀘어"/>
              </a:rPr>
              <a:t>SMOTE</a:t>
            </a:r>
            <a:endParaRPr sz="1200" b="1" dirty="0">
              <a:solidFill>
                <a:srgbClr val="FFFFFF"/>
              </a:solidFill>
              <a:latin typeface="나눔스퀘어"/>
            </a:endParaRPr>
          </a:p>
        </p:txBody>
      </p:sp>
      <p:sp>
        <p:nvSpPr>
          <p:cNvPr id="38" name="Oval 8">
            <a:extLst>
              <a:ext uri="{FF2B5EF4-FFF2-40B4-BE49-F238E27FC236}">
                <a16:creationId xmlns:a16="http://schemas.microsoft.com/office/drawing/2014/main" id="{70C70582-7F59-C8A7-880F-F8F5159F413A}"/>
              </a:ext>
            </a:extLst>
          </p:cNvPr>
          <p:cNvSpPr/>
          <p:nvPr/>
        </p:nvSpPr>
        <p:spPr>
          <a:xfrm>
            <a:off x="10486800" y="5208551"/>
            <a:ext cx="972000" cy="972000"/>
          </a:xfrm>
          <a:prstGeom prst="ellipse">
            <a:avLst/>
          </a:prstGeom>
          <a:solidFill>
            <a:srgbClr val="3F286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solidFill>
                  <a:srgbClr val="FFFFFF"/>
                </a:solidFill>
                <a:latin typeface="나눔스퀘어"/>
              </a:rPr>
              <a:t>전처리</a:t>
            </a:r>
            <a:r>
              <a:rPr lang="ko-KR" altLang="en-US" sz="1200" b="1" dirty="0">
                <a:solidFill>
                  <a:srgbClr val="FFFFFF"/>
                </a:solidFill>
                <a:latin typeface="나눔스퀘어"/>
              </a:rPr>
              <a:t> 완료</a:t>
            </a:r>
            <a:endParaRPr sz="1200" b="1" dirty="0">
              <a:solidFill>
                <a:srgbClr val="FFFFFF"/>
              </a:solidFill>
              <a:latin typeface="나눔스퀘어"/>
            </a:endParaRPr>
          </a:p>
        </p:txBody>
      </p:sp>
      <p:sp>
        <p:nvSpPr>
          <p:cNvPr id="39" name="Chevron 5">
            <a:extLst>
              <a:ext uri="{FF2B5EF4-FFF2-40B4-BE49-F238E27FC236}">
                <a16:creationId xmlns:a16="http://schemas.microsoft.com/office/drawing/2014/main" id="{75DD3B1B-596E-A9C9-2BF2-E49BB166507B}"/>
              </a:ext>
            </a:extLst>
          </p:cNvPr>
          <p:cNvSpPr/>
          <p:nvPr/>
        </p:nvSpPr>
        <p:spPr>
          <a:xfrm>
            <a:off x="2147149" y="5469306"/>
            <a:ext cx="582502" cy="450489"/>
          </a:xfrm>
          <a:prstGeom prst="chevron">
            <a:avLst/>
          </a:prstGeom>
          <a:solidFill>
            <a:srgbClr val="9BCBEB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rgbClr val="FFFFFF"/>
              </a:solidFill>
              <a:latin typeface="나눔스퀘어"/>
            </a:endParaRPr>
          </a:p>
        </p:txBody>
      </p:sp>
      <p:sp>
        <p:nvSpPr>
          <p:cNvPr id="40" name="Chevron 5">
            <a:extLst>
              <a:ext uri="{FF2B5EF4-FFF2-40B4-BE49-F238E27FC236}">
                <a16:creationId xmlns:a16="http://schemas.microsoft.com/office/drawing/2014/main" id="{25CDF204-8B97-5C85-B9C8-C20259072B3B}"/>
              </a:ext>
            </a:extLst>
          </p:cNvPr>
          <p:cNvSpPr/>
          <p:nvPr/>
        </p:nvSpPr>
        <p:spPr>
          <a:xfrm>
            <a:off x="4585549" y="5433306"/>
            <a:ext cx="582502" cy="450489"/>
          </a:xfrm>
          <a:prstGeom prst="chevron">
            <a:avLst/>
          </a:prstGeom>
          <a:solidFill>
            <a:srgbClr val="005EB8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rgbClr val="FFFFFF"/>
              </a:solidFill>
              <a:latin typeface="나눔스퀘어"/>
            </a:endParaRPr>
          </a:p>
        </p:txBody>
      </p:sp>
      <p:sp>
        <p:nvSpPr>
          <p:cNvPr id="41" name="Chevron 5">
            <a:extLst>
              <a:ext uri="{FF2B5EF4-FFF2-40B4-BE49-F238E27FC236}">
                <a16:creationId xmlns:a16="http://schemas.microsoft.com/office/drawing/2014/main" id="{424248F0-1113-8A24-488B-4B14ABDA511B}"/>
              </a:ext>
            </a:extLst>
          </p:cNvPr>
          <p:cNvSpPr/>
          <p:nvPr/>
        </p:nvSpPr>
        <p:spPr>
          <a:xfrm>
            <a:off x="7023949" y="5433306"/>
            <a:ext cx="582502" cy="450489"/>
          </a:xfrm>
          <a:prstGeom prst="chevron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rgbClr val="FFFFFF"/>
              </a:solidFill>
              <a:latin typeface="나눔스퀘어"/>
            </a:endParaRPr>
          </a:p>
        </p:txBody>
      </p:sp>
      <p:sp>
        <p:nvSpPr>
          <p:cNvPr id="42" name="Chevron 5">
            <a:extLst>
              <a:ext uri="{FF2B5EF4-FFF2-40B4-BE49-F238E27FC236}">
                <a16:creationId xmlns:a16="http://schemas.microsoft.com/office/drawing/2014/main" id="{8643BE0A-C50D-26AD-7B6E-855BA63134DF}"/>
              </a:ext>
            </a:extLst>
          </p:cNvPr>
          <p:cNvSpPr/>
          <p:nvPr/>
        </p:nvSpPr>
        <p:spPr>
          <a:xfrm>
            <a:off x="9462349" y="5433306"/>
            <a:ext cx="582502" cy="450489"/>
          </a:xfrm>
          <a:prstGeom prst="chevron">
            <a:avLst/>
          </a:prstGeom>
          <a:solidFill>
            <a:srgbClr val="612771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rgbClr val="FFFFFF"/>
              </a:solidFill>
              <a:latin typeface="나눔스퀘어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43100"/>
            <a:ext cx="4698950" cy="2171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171700"/>
            <a:ext cx="2857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8325" y="2667000"/>
            <a:ext cx="949226" cy="94922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943100"/>
            <a:ext cx="4698950" cy="2171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2171700"/>
            <a:ext cx="2857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3815" y="2667000"/>
            <a:ext cx="992535" cy="99253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343400"/>
            <a:ext cx="11277600" cy="1485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81679" y="4572000"/>
            <a:ext cx="3429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10701" y="4572000"/>
            <a:ext cx="428625" cy="3810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 전후 비교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457200" y="11811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불균형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모델이 소수 클래스를 제대로 학습하지 못하게 하여 </a:t>
            </a: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성능을 저하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시키는 주요 원인입니다. </a:t>
            </a: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(Synthetic Minority Over-sampling Technique)를 통해 이러한 문제를 효과적으로 해결했습니다.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1123950" y="2190750"/>
            <a:ext cx="19507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 적용 전</a:t>
            </a:r>
            <a:endParaRPr lang="en-US" sz="1800" dirty="0"/>
          </a:p>
        </p:txBody>
      </p:sp>
      <p:sp>
        <p:nvSpPr>
          <p:cNvPr id="16" name="Text 3"/>
          <p:cNvSpPr/>
          <p:nvPr/>
        </p:nvSpPr>
        <p:spPr>
          <a:xfrm>
            <a:off x="685800" y="2667000"/>
            <a:ext cx="39510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분포: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유지 2,255명, 이탈 946명</a:t>
            </a:r>
            <a:endParaRPr lang="en-US" sz="1350" dirty="0"/>
          </a:p>
        </p:txBody>
      </p:sp>
      <p:sp>
        <p:nvSpPr>
          <p:cNvPr id="17" name="Text 4"/>
          <p:cNvSpPr/>
          <p:nvPr/>
        </p:nvSpPr>
        <p:spPr>
          <a:xfrm>
            <a:off x="685800" y="3009900"/>
            <a:ext cx="39510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불균형 비율: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2.33:1</a:t>
            </a:r>
            <a:endParaRPr lang="en-US" sz="1350" dirty="0"/>
          </a:p>
        </p:txBody>
      </p:sp>
      <p:sp>
        <p:nvSpPr>
          <p:cNvPr id="18" name="Text 5"/>
          <p:cNvSpPr/>
          <p:nvPr/>
        </p:nvSpPr>
        <p:spPr>
          <a:xfrm>
            <a:off x="685800" y="3352800"/>
            <a:ext cx="329252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문제점: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소수 클래스(이탈) 패턴을 제대로 학습하지 못함</a:t>
            </a:r>
            <a:endParaRPr lang="en-US" sz="1350" dirty="0"/>
          </a:p>
        </p:txBody>
      </p:sp>
      <p:sp>
        <p:nvSpPr>
          <p:cNvPr id="19" name="Text 6"/>
          <p:cNvSpPr/>
          <p:nvPr/>
        </p:nvSpPr>
        <p:spPr>
          <a:xfrm>
            <a:off x="6762750" y="2190750"/>
            <a:ext cx="19507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 적용 후</a:t>
            </a:r>
            <a:endParaRPr lang="en-US" sz="1800" dirty="0"/>
          </a:p>
        </p:txBody>
      </p:sp>
      <p:sp>
        <p:nvSpPr>
          <p:cNvPr id="20" name="Text 7"/>
          <p:cNvSpPr/>
          <p:nvPr/>
        </p:nvSpPr>
        <p:spPr>
          <a:xfrm>
            <a:off x="6324600" y="2667000"/>
            <a:ext cx="38990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분포: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유지 2,255명, 이탈 2,255명</a:t>
            </a:r>
            <a:endParaRPr lang="en-US" sz="1350" dirty="0"/>
          </a:p>
        </p:txBody>
      </p:sp>
      <p:sp>
        <p:nvSpPr>
          <p:cNvPr id="21" name="Text 8"/>
          <p:cNvSpPr/>
          <p:nvPr/>
        </p:nvSpPr>
        <p:spPr>
          <a:xfrm>
            <a:off x="6324600" y="3009900"/>
            <a:ext cx="32492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균형 비율: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1:1</a:t>
            </a:r>
            <a:endParaRPr lang="en-US" sz="1350" dirty="0"/>
          </a:p>
        </p:txBody>
      </p:sp>
      <p:sp>
        <p:nvSpPr>
          <p:cNvPr id="22" name="Text 9"/>
          <p:cNvSpPr/>
          <p:nvPr/>
        </p:nvSpPr>
        <p:spPr>
          <a:xfrm>
            <a:off x="6324600" y="3352800"/>
            <a:ext cx="3249216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효과: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모델이 이탈 고객 패턴을 더욱 정확하게 학습함</a:t>
            </a:r>
            <a:endParaRPr lang="en-US" sz="1350" dirty="0"/>
          </a:p>
        </p:txBody>
      </p:sp>
      <p:sp>
        <p:nvSpPr>
          <p:cNvPr id="23" name="Text 10"/>
          <p:cNvSpPr/>
          <p:nvPr/>
        </p:nvSpPr>
        <p:spPr>
          <a:xfrm>
            <a:off x="685800" y="4629150"/>
            <a:ext cx="827663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 적용 효과</a:t>
            </a:r>
            <a:endParaRPr lang="en-US" sz="1800" dirty="0"/>
          </a:p>
        </p:txBody>
      </p:sp>
      <p:sp>
        <p:nvSpPr>
          <p:cNvPr id="24" name="Text 11"/>
          <p:cNvSpPr/>
          <p:nvPr/>
        </p:nvSpPr>
        <p:spPr>
          <a:xfrm>
            <a:off x="685800" y="5010150"/>
            <a:ext cx="82766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FFFFFF"/>
                </a:solidFill>
                <a:latin typeface="Noto Sans KR" pitchFamily="34" charset="0"/>
              </a:rPr>
              <a:t>클래스 균형을 </a:t>
            </a:r>
            <a:r>
              <a:rPr lang="en-US" altLang="ko-KR" sz="1500" dirty="0">
                <a:solidFill>
                  <a:srgbClr val="FFFFFF"/>
                </a:solidFill>
                <a:latin typeface="Noto Sans KR" pitchFamily="34" charset="0"/>
              </a:rPr>
              <a:t>1:1</a:t>
            </a:r>
            <a:r>
              <a:rPr lang="ko-KR" altLang="en-US" sz="1500" dirty="0">
                <a:solidFill>
                  <a:srgbClr val="FFFFFF"/>
                </a:solidFill>
                <a:latin typeface="Noto Sans KR" pitchFamily="34" charset="0"/>
              </a:rPr>
              <a:t>로 맞춰</a:t>
            </a:r>
            <a:endParaRPr lang="en-US" sz="1500" dirty="0"/>
          </a:p>
        </p:txBody>
      </p:sp>
      <p:sp>
        <p:nvSpPr>
          <p:cNvPr id="25" name="Text 12"/>
          <p:cNvSpPr/>
          <p:nvPr/>
        </p:nvSpPr>
        <p:spPr>
          <a:xfrm>
            <a:off x="685800" y="5276850"/>
            <a:ext cx="82766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altLang="ko-KR" sz="1500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F1 Score</a:t>
            </a:r>
            <a:r>
              <a:rPr lang="ko-KR" altLang="en-US" sz="1500" dirty="0" err="1">
                <a:solidFill>
                  <a:srgbClr val="FFFFFF"/>
                </a:solidFill>
                <a:latin typeface="+mn-ea"/>
                <a:cs typeface="Noto Sans KR" pitchFamily="34" charset="-120"/>
              </a:rPr>
              <a:t>를</a:t>
            </a:r>
            <a:r>
              <a:rPr lang="ko-KR" altLang="en-US" sz="1500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500" b="1" i="1" dirty="0">
                <a:solidFill>
                  <a:srgbClr val="FFFF00"/>
                </a:solidFill>
                <a:latin typeface="+mn-ea"/>
                <a:cs typeface="Noto Sans KR" pitchFamily="34" charset="-120"/>
              </a:rPr>
              <a:t>15%</a:t>
            </a:r>
            <a:r>
              <a:rPr lang="ko-KR" altLang="en-US" sz="1500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500" dirty="0" err="1">
                <a:solidFill>
                  <a:srgbClr val="FFFFFF"/>
                </a:solidFill>
                <a:latin typeface="+mn-ea"/>
                <a:cs typeface="Noto Sans KR" pitchFamily="34" charset="-120"/>
              </a:rPr>
              <a:t>향상</a:t>
            </a:r>
            <a:r>
              <a:rPr lang="ko-KR" altLang="en-US" sz="1500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시켰습니다</a:t>
            </a:r>
            <a:r>
              <a:rPr lang="en-US" altLang="ko-KR" sz="1500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.</a:t>
            </a:r>
            <a:endParaRPr lang="en-US" altLang="ko-KR" sz="1500" dirty="0">
              <a:latin typeface="+mn-ea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9118595" y="5029200"/>
            <a:ext cx="8692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</a:t>
            </a:r>
            <a:endParaRPr lang="en-US" sz="1350" dirty="0"/>
          </a:p>
        </p:txBody>
      </p:sp>
      <p:sp>
        <p:nvSpPr>
          <p:cNvPr id="27" name="Text 14"/>
          <p:cNvSpPr/>
          <p:nvPr/>
        </p:nvSpPr>
        <p:spPr>
          <a:xfrm>
            <a:off x="9118595" y="5295900"/>
            <a:ext cx="86921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+15%</a:t>
            </a:r>
            <a:endParaRPr lang="en-US" sz="1800" dirty="0"/>
          </a:p>
        </p:txBody>
      </p:sp>
      <p:sp>
        <p:nvSpPr>
          <p:cNvPr id="28" name="Text 15"/>
          <p:cNvSpPr/>
          <p:nvPr/>
        </p:nvSpPr>
        <p:spPr>
          <a:xfrm>
            <a:off x="10282074" y="5029200"/>
            <a:ext cx="10860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균형</a:t>
            </a:r>
            <a:endParaRPr lang="en-US" sz="1350" dirty="0"/>
          </a:p>
        </p:txBody>
      </p:sp>
      <p:sp>
        <p:nvSpPr>
          <p:cNvPr id="29" name="Text 16"/>
          <p:cNvSpPr/>
          <p:nvPr/>
        </p:nvSpPr>
        <p:spPr>
          <a:xfrm>
            <a:off x="10282074" y="5295900"/>
            <a:ext cx="108602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1:1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1100"/>
            <a:ext cx="5410200" cy="2019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409700"/>
            <a:ext cx="3619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429000"/>
            <a:ext cx="5410200" cy="2247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9725" y="3667125"/>
            <a:ext cx="219075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8718" y="4838700"/>
            <a:ext cx="2476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9321" y="5010150"/>
            <a:ext cx="20955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05001" y="4838700"/>
            <a:ext cx="2476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8930" y="5010150"/>
            <a:ext cx="20955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5559" y="4838700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1600200"/>
            <a:ext cx="2628900" cy="990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17907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5900" y="1600200"/>
            <a:ext cx="2628900" cy="990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58300" y="1790700"/>
            <a:ext cx="1905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2743200"/>
            <a:ext cx="2628900" cy="990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29337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05900" y="2743200"/>
            <a:ext cx="2628900" cy="990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58300" y="29337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3886200"/>
            <a:ext cx="2628900" cy="800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4076700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4914900"/>
            <a:ext cx="5410200" cy="17907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특성 엔지니어링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1200150" y="1428750"/>
            <a:ext cx="33223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 향상을 위한 과정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685800" y="1905000"/>
            <a:ext cx="4953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 예측력을 극대화하기 위해 기존 데이터셋의 13개 특성 외에 </a:t>
            </a: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11개의 파생 변수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추가로 생성했습니다.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685800" y="2514600"/>
            <a:ext cx="4953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이는 숨겨진 고객 이탈 패턴을 명확히 드러내어 모델 성능을 </a:t>
            </a: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31% 향상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시키는 데 결정적인 역할을 했습니다.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685800" y="3695700"/>
            <a:ext cx="14351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아이디어</a:t>
            </a:r>
            <a:endParaRPr lang="en-US" sz="1500" dirty="0"/>
          </a:p>
        </p:txBody>
      </p:sp>
      <p:sp>
        <p:nvSpPr>
          <p:cNvPr id="30" name="Text 5"/>
          <p:cNvSpPr/>
          <p:nvPr/>
        </p:nvSpPr>
        <p:spPr>
          <a:xfrm>
            <a:off x="685800" y="4152900"/>
            <a:ext cx="4953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행동 데이터와 계약 정보를 결합하여 이탈 위험을 나타내는 새로운 지표를 발굴했습니다.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1350332" y="5257800"/>
            <a:ext cx="8445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데이터</a:t>
            </a:r>
            <a:endParaRPr lang="en-US" sz="1050" dirty="0"/>
          </a:p>
        </p:txBody>
      </p:sp>
      <p:sp>
        <p:nvSpPr>
          <p:cNvPr id="32" name="Text 7"/>
          <p:cNvSpPr/>
          <p:nvPr/>
        </p:nvSpPr>
        <p:spPr>
          <a:xfrm>
            <a:off x="2886626" y="5257800"/>
            <a:ext cx="684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파생 변수</a:t>
            </a:r>
            <a:endParaRPr lang="en-US" sz="1050" dirty="0"/>
          </a:p>
        </p:txBody>
      </p:sp>
      <p:sp>
        <p:nvSpPr>
          <p:cNvPr id="33" name="Text 8"/>
          <p:cNvSpPr/>
          <p:nvPr/>
        </p:nvSpPr>
        <p:spPr>
          <a:xfrm>
            <a:off x="4276234" y="5257800"/>
            <a:ext cx="684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향상</a:t>
            </a:r>
            <a:endParaRPr lang="en-US" sz="1050" dirty="0"/>
          </a:p>
        </p:txBody>
      </p:sp>
      <p:sp>
        <p:nvSpPr>
          <p:cNvPr id="34" name="Text 9"/>
          <p:cNvSpPr/>
          <p:nvPr/>
        </p:nvSpPr>
        <p:spPr>
          <a:xfrm>
            <a:off x="6324600" y="118110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파생 특성</a:t>
            </a:r>
            <a:endParaRPr lang="en-US" sz="1500" dirty="0"/>
          </a:p>
        </p:txBody>
      </p:sp>
      <p:sp>
        <p:nvSpPr>
          <p:cNvPr id="35" name="Text 10"/>
          <p:cNvSpPr/>
          <p:nvPr/>
        </p:nvSpPr>
        <p:spPr>
          <a:xfrm>
            <a:off x="6705600" y="1752600"/>
            <a:ext cx="10263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Churn_Risk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6477000" y="2057400"/>
            <a:ext cx="23241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기간, 활동 빈도 등을 종합하여 계산된 복합 리스크 점수 (0-4점)</a:t>
            </a:r>
            <a:endParaRPr lang="en-US" sz="1050" dirty="0"/>
          </a:p>
        </p:txBody>
      </p:sp>
      <p:sp>
        <p:nvSpPr>
          <p:cNvPr id="37" name="Text 12"/>
          <p:cNvSpPr/>
          <p:nvPr/>
        </p:nvSpPr>
        <p:spPr>
          <a:xfrm>
            <a:off x="9525000" y="1752600"/>
            <a:ext cx="16871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Class_Engagement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9258300" y="2057400"/>
            <a:ext cx="23241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고객의 누적 수업 참여도를 나타내는 지표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6705600" y="2895600"/>
            <a:ext cx="13721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Recent_Activity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6477000" y="3200400"/>
            <a:ext cx="23241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활동량의 변화율을 통해 활동성 감소 여부를 파악</a:t>
            </a:r>
            <a:endParaRPr lang="en-US" sz="1050" dirty="0"/>
          </a:p>
        </p:txBody>
      </p:sp>
      <p:sp>
        <p:nvSpPr>
          <p:cNvPr id="41" name="Text 16"/>
          <p:cNvSpPr/>
          <p:nvPr/>
        </p:nvSpPr>
        <p:spPr>
          <a:xfrm>
            <a:off x="9486900" y="2895600"/>
            <a:ext cx="1859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Contract_Completion</a:t>
            </a:r>
            <a:endParaRPr lang="en-US" sz="1200" dirty="0"/>
          </a:p>
        </p:txBody>
      </p:sp>
      <p:sp>
        <p:nvSpPr>
          <p:cNvPr id="42" name="Text 17"/>
          <p:cNvSpPr/>
          <p:nvPr/>
        </p:nvSpPr>
        <p:spPr>
          <a:xfrm>
            <a:off x="9258300" y="3200400"/>
            <a:ext cx="23241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진행도를 백분율로 나타내어 계약 만료 임박 여부 판단</a:t>
            </a:r>
            <a:endParaRPr lang="en-US" sz="1050" dirty="0"/>
          </a:p>
        </p:txBody>
      </p:sp>
      <p:sp>
        <p:nvSpPr>
          <p:cNvPr id="43" name="Text 18"/>
          <p:cNvSpPr/>
          <p:nvPr/>
        </p:nvSpPr>
        <p:spPr>
          <a:xfrm>
            <a:off x="6743700" y="4038600"/>
            <a:ext cx="14332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Is_New_Member</a:t>
            </a:r>
            <a:endParaRPr lang="en-US" sz="1200" dirty="0"/>
          </a:p>
        </p:txBody>
      </p:sp>
      <p:sp>
        <p:nvSpPr>
          <p:cNvPr id="44" name="Text 19"/>
          <p:cNvSpPr/>
          <p:nvPr/>
        </p:nvSpPr>
        <p:spPr>
          <a:xfrm>
            <a:off x="6477000" y="4343400"/>
            <a:ext cx="2788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회원 여부를 나타내는 플래그 변수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1100"/>
            <a:ext cx="11277600" cy="800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409700"/>
            <a:ext cx="3619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839408"/>
            <a:ext cx="5524500" cy="2324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2029908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2525208"/>
            <a:ext cx="1663601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7501" y="2525208"/>
            <a:ext cx="166375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450" y="2525208"/>
            <a:ext cx="166375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287208"/>
            <a:ext cx="5143500" cy="685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67273" y="3496758"/>
            <a:ext cx="200025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62538" y="3477708"/>
            <a:ext cx="614214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231266"/>
            <a:ext cx="5524500" cy="2324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125" y="4421766"/>
            <a:ext cx="219075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125" y="4917066"/>
            <a:ext cx="1663601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75926" y="4917066"/>
            <a:ext cx="166375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6125" y="5679066"/>
            <a:ext cx="5143500" cy="685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55698" y="5888616"/>
            <a:ext cx="200025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50963" y="5869566"/>
            <a:ext cx="614214" cy="3048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하이퍼파라미터 튜닝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1123950" y="1333500"/>
            <a:ext cx="407372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튜닝 방법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1123950" y="1600200"/>
            <a:ext cx="48884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RandomizedSearchCV를 활용한 50회 반복, 5-fold 교차 검증</a:t>
            </a:r>
            <a:endParaRPr lang="en-US" sz="1200" dirty="0"/>
          </a:p>
        </p:txBody>
      </p:sp>
      <p:sp>
        <p:nvSpPr>
          <p:cNvPr id="26" name="Text 3"/>
          <p:cNvSpPr/>
          <p:nvPr/>
        </p:nvSpPr>
        <p:spPr>
          <a:xfrm>
            <a:off x="1047750" y="2048958"/>
            <a:ext cx="11735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1800" dirty="0"/>
          </a:p>
        </p:txBody>
      </p:sp>
      <p:sp>
        <p:nvSpPr>
          <p:cNvPr id="27" name="Text 4"/>
          <p:cNvSpPr/>
          <p:nvPr/>
        </p:nvSpPr>
        <p:spPr>
          <a:xfrm>
            <a:off x="723900" y="2601408"/>
            <a:ext cx="181344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n_estimators</a:t>
            </a:r>
            <a:endParaRPr lang="en-US" sz="1050" dirty="0"/>
          </a:p>
        </p:txBody>
      </p:sp>
      <p:sp>
        <p:nvSpPr>
          <p:cNvPr id="28" name="Text 5"/>
          <p:cNvSpPr/>
          <p:nvPr/>
        </p:nvSpPr>
        <p:spPr>
          <a:xfrm>
            <a:off x="723900" y="2791908"/>
            <a:ext cx="15112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300</a:t>
            </a:r>
            <a:endParaRPr lang="en-US" sz="1350" dirty="0"/>
          </a:p>
        </p:txBody>
      </p:sp>
      <p:sp>
        <p:nvSpPr>
          <p:cNvPr id="29" name="Text 6"/>
          <p:cNvSpPr/>
          <p:nvPr/>
        </p:nvSpPr>
        <p:spPr>
          <a:xfrm>
            <a:off x="2463701" y="2601408"/>
            <a:ext cx="1511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max_depth</a:t>
            </a:r>
            <a:endParaRPr lang="en-US" sz="1050" dirty="0"/>
          </a:p>
        </p:txBody>
      </p:sp>
      <p:sp>
        <p:nvSpPr>
          <p:cNvPr id="30" name="Text 7"/>
          <p:cNvSpPr/>
          <p:nvPr/>
        </p:nvSpPr>
        <p:spPr>
          <a:xfrm>
            <a:off x="2463701" y="2791908"/>
            <a:ext cx="1511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350" dirty="0"/>
          </a:p>
        </p:txBody>
      </p:sp>
      <p:sp>
        <p:nvSpPr>
          <p:cNvPr id="31" name="Text 8"/>
          <p:cNvSpPr/>
          <p:nvPr/>
        </p:nvSpPr>
        <p:spPr>
          <a:xfrm>
            <a:off x="4203650" y="2601408"/>
            <a:ext cx="18136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learning_rate</a:t>
            </a:r>
            <a:endParaRPr lang="en-US" sz="1050" dirty="0"/>
          </a:p>
        </p:txBody>
      </p:sp>
      <p:sp>
        <p:nvSpPr>
          <p:cNvPr id="32" name="Text 9"/>
          <p:cNvSpPr/>
          <p:nvPr/>
        </p:nvSpPr>
        <p:spPr>
          <a:xfrm>
            <a:off x="4203650" y="2791908"/>
            <a:ext cx="1813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0.1261</a:t>
            </a:r>
            <a:endParaRPr lang="en-US" sz="1350" dirty="0"/>
          </a:p>
        </p:txBody>
      </p:sp>
      <p:sp>
        <p:nvSpPr>
          <p:cNvPr id="33" name="Text 10"/>
          <p:cNvSpPr/>
          <p:nvPr/>
        </p:nvSpPr>
        <p:spPr>
          <a:xfrm>
            <a:off x="762000" y="3401508"/>
            <a:ext cx="121836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튜닝 전 F1 Score</a:t>
            </a:r>
            <a:endParaRPr lang="en-US" sz="1050" dirty="0"/>
          </a:p>
        </p:txBody>
      </p:sp>
      <p:sp>
        <p:nvSpPr>
          <p:cNvPr id="34" name="Text 11"/>
          <p:cNvSpPr/>
          <p:nvPr/>
        </p:nvSpPr>
        <p:spPr>
          <a:xfrm>
            <a:off x="762000" y="3592008"/>
            <a:ext cx="12183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</a:t>
            </a:r>
            <a:r>
              <a:rPr lang="en-US" altLang="ko-KR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8847</a:t>
            </a:r>
            <a:endParaRPr lang="en-US" sz="1500" dirty="0"/>
          </a:p>
        </p:txBody>
      </p:sp>
      <p:sp>
        <p:nvSpPr>
          <p:cNvPr id="35" name="Text 12"/>
          <p:cNvSpPr/>
          <p:nvPr/>
        </p:nvSpPr>
        <p:spPr>
          <a:xfrm>
            <a:off x="3357265" y="3401508"/>
            <a:ext cx="121836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튜닝 후 F1 Score</a:t>
            </a:r>
            <a:endParaRPr lang="en-US" sz="1050" dirty="0"/>
          </a:p>
        </p:txBody>
      </p:sp>
      <p:sp>
        <p:nvSpPr>
          <p:cNvPr id="36" name="Text 13"/>
          <p:cNvSpPr/>
          <p:nvPr/>
        </p:nvSpPr>
        <p:spPr>
          <a:xfrm>
            <a:off x="3357265" y="3592008"/>
            <a:ext cx="12183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0.9100</a:t>
            </a:r>
            <a:endParaRPr lang="en-US" sz="1500" dirty="0"/>
          </a:p>
        </p:txBody>
      </p:sp>
      <p:sp>
        <p:nvSpPr>
          <p:cNvPr id="37" name="Text 14"/>
          <p:cNvSpPr/>
          <p:nvPr/>
        </p:nvSpPr>
        <p:spPr>
          <a:xfrm>
            <a:off x="5138277" y="3506572"/>
            <a:ext cx="4627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+2.9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969500" y="4440816"/>
            <a:ext cx="131034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1800" dirty="0"/>
          </a:p>
        </p:txBody>
      </p:sp>
      <p:sp>
        <p:nvSpPr>
          <p:cNvPr id="39" name="Text 16"/>
          <p:cNvSpPr/>
          <p:nvPr/>
        </p:nvSpPr>
        <p:spPr>
          <a:xfrm>
            <a:off x="712325" y="4993266"/>
            <a:ext cx="181344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n_estimators</a:t>
            </a:r>
            <a:endParaRPr lang="en-US" sz="1050" dirty="0"/>
          </a:p>
        </p:txBody>
      </p:sp>
      <p:sp>
        <p:nvSpPr>
          <p:cNvPr id="40" name="Text 17"/>
          <p:cNvSpPr/>
          <p:nvPr/>
        </p:nvSpPr>
        <p:spPr>
          <a:xfrm>
            <a:off x="712325" y="5183766"/>
            <a:ext cx="15112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700</a:t>
            </a:r>
            <a:endParaRPr lang="en-US" sz="1350" dirty="0"/>
          </a:p>
        </p:txBody>
      </p:sp>
      <p:sp>
        <p:nvSpPr>
          <p:cNvPr id="41" name="Text 18"/>
          <p:cNvSpPr/>
          <p:nvPr/>
        </p:nvSpPr>
        <p:spPr>
          <a:xfrm>
            <a:off x="2452126" y="4993266"/>
            <a:ext cx="18136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learning_rate</a:t>
            </a:r>
            <a:endParaRPr lang="en-US" sz="1050" dirty="0"/>
          </a:p>
        </p:txBody>
      </p:sp>
      <p:sp>
        <p:nvSpPr>
          <p:cNvPr id="42" name="Text 19"/>
          <p:cNvSpPr/>
          <p:nvPr/>
        </p:nvSpPr>
        <p:spPr>
          <a:xfrm>
            <a:off x="2452126" y="5183766"/>
            <a:ext cx="1813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0.0133</a:t>
            </a:r>
            <a:endParaRPr lang="en-US" sz="1350" dirty="0"/>
          </a:p>
        </p:txBody>
      </p:sp>
      <p:sp>
        <p:nvSpPr>
          <p:cNvPr id="43" name="Text 20"/>
          <p:cNvSpPr/>
          <p:nvPr/>
        </p:nvSpPr>
        <p:spPr>
          <a:xfrm>
            <a:off x="750425" y="5793366"/>
            <a:ext cx="121836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튜닝 전 F1 Score</a:t>
            </a:r>
            <a:endParaRPr lang="en-US" sz="1050" dirty="0"/>
          </a:p>
        </p:txBody>
      </p:sp>
      <p:sp>
        <p:nvSpPr>
          <p:cNvPr id="44" name="Text 21"/>
          <p:cNvSpPr/>
          <p:nvPr/>
        </p:nvSpPr>
        <p:spPr>
          <a:xfrm>
            <a:off x="750425" y="5983866"/>
            <a:ext cx="12183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</a:t>
            </a:r>
            <a:r>
              <a:rPr lang="en-US" altLang="ko-KR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8825</a:t>
            </a:r>
            <a:endParaRPr lang="en-US" sz="1500" dirty="0"/>
          </a:p>
        </p:txBody>
      </p:sp>
      <p:sp>
        <p:nvSpPr>
          <p:cNvPr id="45" name="Text 22"/>
          <p:cNvSpPr/>
          <p:nvPr/>
        </p:nvSpPr>
        <p:spPr>
          <a:xfrm>
            <a:off x="3345690" y="5793366"/>
            <a:ext cx="121836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튜닝 후 F1 Score</a:t>
            </a:r>
            <a:endParaRPr lang="en-US" sz="1050" dirty="0"/>
          </a:p>
        </p:txBody>
      </p:sp>
      <p:sp>
        <p:nvSpPr>
          <p:cNvPr id="46" name="Text 23"/>
          <p:cNvSpPr/>
          <p:nvPr/>
        </p:nvSpPr>
        <p:spPr>
          <a:xfrm>
            <a:off x="3345690" y="5983866"/>
            <a:ext cx="12183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0.9117</a:t>
            </a:r>
            <a:endParaRPr lang="en-US" sz="1500" dirty="0"/>
          </a:p>
        </p:txBody>
      </p:sp>
      <p:sp>
        <p:nvSpPr>
          <p:cNvPr id="47" name="Text 24"/>
          <p:cNvSpPr/>
          <p:nvPr/>
        </p:nvSpPr>
        <p:spPr>
          <a:xfrm>
            <a:off x="5151373" y="5898430"/>
            <a:ext cx="418355" cy="2568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+3.3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1200" dirty="0"/>
          </a:p>
        </p:txBody>
      </p:sp>
      <p:pic>
        <p:nvPicPr>
          <p:cNvPr id="56" name="그림 55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CA606B-E900-F032-8A1B-118F9367C6A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66939" y="2273747"/>
            <a:ext cx="5903096" cy="42030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66900"/>
            <a:ext cx="5486400" cy="4533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866900"/>
            <a:ext cx="2686050" cy="952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700" y="19812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0" y="1866900"/>
            <a:ext cx="2686050" cy="952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3050" y="19812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2933700"/>
            <a:ext cx="2686050" cy="952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2700" y="3048000"/>
            <a:ext cx="21907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8750" y="2933700"/>
            <a:ext cx="2686050" cy="952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3050" y="3048000"/>
            <a:ext cx="17145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4038600"/>
            <a:ext cx="5486400" cy="1295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4514850"/>
            <a:ext cx="323850" cy="3429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비교 (8종)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457200" y="11811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최적의 이탈 예측 모델을 선정하기 </a:t>
            </a:r>
            <a:r>
              <a:rPr lang="en-US" sz="135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위해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135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머신러닝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135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모델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7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종</a:t>
            </a:r>
            <a:r>
              <a:rPr lang="en-US" altLang="ko-KR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,</a:t>
            </a:r>
            <a:r>
              <a:rPr lang="ko-KR" alt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딥러닝 </a:t>
            </a:r>
            <a:r>
              <a:rPr lang="en-US" altLang="ko-KR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2</a:t>
            </a:r>
            <a:r>
              <a:rPr lang="ko-KR" alt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종</a:t>
            </a:r>
            <a:r>
              <a:rPr lang="en-US" sz="135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을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학습하고 성능을 비교했습니다. 각 모델의 특성과 F1 Score를 </a:t>
            </a:r>
            <a:r>
              <a:rPr lang="en-US" sz="135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기준으로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평가한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결과, </a:t>
            </a:r>
            <a:r>
              <a:rPr lang="en-US" sz="1350" b="1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Stacking Ensemble 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모델이 가장 우수한 </a:t>
            </a:r>
            <a:r>
              <a:rPr lang="en-US" sz="135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성능을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135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보였습니다</a:t>
            </a:r>
            <a:r>
              <a:rPr lang="en-US" altLang="ko-KR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.</a:t>
            </a:r>
            <a:endParaRPr lang="en-US" sz="1350" dirty="0">
              <a:latin typeface="+mn-ea"/>
            </a:endParaRPr>
          </a:p>
        </p:txBody>
      </p:sp>
      <p:sp>
        <p:nvSpPr>
          <p:cNvPr id="19" name="Text 3"/>
          <p:cNvSpPr/>
          <p:nvPr/>
        </p:nvSpPr>
        <p:spPr>
          <a:xfrm>
            <a:off x="6629400" y="1981200"/>
            <a:ext cx="188666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Stacking Ensemble</a:t>
            </a:r>
            <a:endParaRPr lang="en-US" sz="1350" dirty="0"/>
          </a:p>
        </p:txBody>
      </p:sp>
      <p:sp>
        <p:nvSpPr>
          <p:cNvPr id="20" name="Text 4"/>
          <p:cNvSpPr/>
          <p:nvPr/>
        </p:nvSpPr>
        <p:spPr>
          <a:xfrm>
            <a:off x="6362700" y="2286000"/>
            <a:ext cx="2948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Score: 0.9188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6362700" y="2514600"/>
            <a:ext cx="29489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최고 성능, 다양한 모델의 장점 결합</a:t>
            </a:r>
            <a:endParaRPr lang="en-US" sz="1050" dirty="0"/>
          </a:p>
        </p:txBody>
      </p:sp>
      <p:sp>
        <p:nvSpPr>
          <p:cNvPr id="22" name="Text 6"/>
          <p:cNvSpPr/>
          <p:nvPr/>
        </p:nvSpPr>
        <p:spPr>
          <a:xfrm>
            <a:off x="9429750" y="1981200"/>
            <a:ext cx="8802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1350" dirty="0"/>
          </a:p>
        </p:txBody>
      </p:sp>
      <p:sp>
        <p:nvSpPr>
          <p:cNvPr id="23" name="Text 7"/>
          <p:cNvSpPr/>
          <p:nvPr/>
        </p:nvSpPr>
        <p:spPr>
          <a:xfrm>
            <a:off x="9163050" y="2286000"/>
            <a:ext cx="2948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Score: 0.9100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9163050" y="2514600"/>
            <a:ext cx="29489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학습 속도, 강력한 예측 성능</a:t>
            </a:r>
            <a:endParaRPr lang="en-US" sz="1050" dirty="0"/>
          </a:p>
        </p:txBody>
      </p:sp>
      <p:sp>
        <p:nvSpPr>
          <p:cNvPr id="25" name="Text 9"/>
          <p:cNvSpPr/>
          <p:nvPr/>
        </p:nvSpPr>
        <p:spPr>
          <a:xfrm>
            <a:off x="6657975" y="3048000"/>
            <a:ext cx="17945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Gradient Boosting</a:t>
            </a:r>
            <a:endParaRPr lang="en-US" sz="1350" dirty="0"/>
          </a:p>
        </p:txBody>
      </p:sp>
      <p:sp>
        <p:nvSpPr>
          <p:cNvPr id="26" name="Text 10"/>
          <p:cNvSpPr/>
          <p:nvPr/>
        </p:nvSpPr>
        <p:spPr>
          <a:xfrm>
            <a:off x="6362700" y="3352800"/>
            <a:ext cx="2948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Score: 0.8941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6362700" y="3581400"/>
            <a:ext cx="24574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순차적 학습, 높은 정확도</a:t>
            </a:r>
            <a:endParaRPr lang="en-US" sz="1050" dirty="0"/>
          </a:p>
        </p:txBody>
      </p:sp>
      <p:sp>
        <p:nvSpPr>
          <p:cNvPr id="28" name="Text 12"/>
          <p:cNvSpPr/>
          <p:nvPr/>
        </p:nvSpPr>
        <p:spPr>
          <a:xfrm>
            <a:off x="9410700" y="3048000"/>
            <a:ext cx="15089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29" name="Text 13"/>
          <p:cNvSpPr/>
          <p:nvPr/>
        </p:nvSpPr>
        <p:spPr>
          <a:xfrm>
            <a:off x="9163050" y="3352800"/>
            <a:ext cx="2948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Score: 0.8389</a:t>
            </a:r>
            <a:endParaRPr lang="en-US" sz="1200" dirty="0"/>
          </a:p>
        </p:txBody>
      </p:sp>
      <p:sp>
        <p:nvSpPr>
          <p:cNvPr id="30" name="Text 14"/>
          <p:cNvSpPr/>
          <p:nvPr/>
        </p:nvSpPr>
        <p:spPr>
          <a:xfrm>
            <a:off x="9163050" y="3581400"/>
            <a:ext cx="29489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과적합 방지, 다양한 특성 처리</a:t>
            </a:r>
            <a:endParaRPr lang="en-US" sz="1050" dirty="0"/>
          </a:p>
        </p:txBody>
      </p:sp>
      <p:sp>
        <p:nvSpPr>
          <p:cNvPr id="31" name="Text 15"/>
          <p:cNvSpPr/>
          <p:nvPr/>
        </p:nvSpPr>
        <p:spPr>
          <a:xfrm>
            <a:off x="6838950" y="4191000"/>
            <a:ext cx="56921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Stacking Ensemble 모델의 우수성</a:t>
            </a:r>
            <a:endParaRPr lang="en-US" sz="1500" dirty="0"/>
          </a:p>
        </p:txBody>
      </p:sp>
      <p:sp>
        <p:nvSpPr>
          <p:cNvPr id="32" name="Text 16"/>
          <p:cNvSpPr/>
          <p:nvPr/>
        </p:nvSpPr>
        <p:spPr>
          <a:xfrm>
            <a:off x="6838950" y="4495800"/>
            <a:ext cx="47434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Base 모델(XGBoost, LightGBM, Random Forest, Gradient Boosting)의 예측 결과를 Meta 모델이 재학습하여 최종 예측을 수행함으로써, 개별 모델의 장점을 결합하고 단점을 보완합니다.</a:t>
            </a:r>
            <a:endParaRPr lang="en-US" sz="12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C2B3AE3-AE0E-7117-04F2-8FA175005B1E}"/>
              </a:ext>
            </a:extLst>
          </p:cNvPr>
          <p:cNvSpPr/>
          <p:nvPr/>
        </p:nvSpPr>
        <p:spPr>
          <a:xfrm rot="19016772">
            <a:off x="946114" y="5729729"/>
            <a:ext cx="1497105" cy="313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0599688-507E-E294-904F-7C8A7A5E8DE9}"/>
              </a:ext>
            </a:extLst>
          </p:cNvPr>
          <p:cNvSpPr/>
          <p:nvPr/>
        </p:nvSpPr>
        <p:spPr>
          <a:xfrm rot="19016772">
            <a:off x="444545" y="5729727"/>
            <a:ext cx="1497105" cy="313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C01E59D-9337-1527-25A8-3C036E1FA372}"/>
              </a:ext>
            </a:extLst>
          </p:cNvPr>
          <p:cNvSpPr/>
          <p:nvPr/>
        </p:nvSpPr>
        <p:spPr>
          <a:xfrm rot="19016772">
            <a:off x="2926960" y="5751607"/>
            <a:ext cx="1497105" cy="244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 descr="스크린샷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0B7CFA-0F29-C375-D7E0-BA5E9F08D3D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2456" y="1866898"/>
            <a:ext cx="5769263" cy="41077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06101">
            <a:off x="3138462" y="2441108"/>
            <a:ext cx="922350" cy="922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181600"/>
            <a:ext cx="11277600" cy="1219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5791200"/>
            <a:ext cx="19050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0601" y="5791200"/>
            <a:ext cx="190500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3650" y="5791200"/>
            <a:ext cx="190500" cy="2667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Stacking Ensemble 구조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457200" y="11811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최종적으로 가장 높은 예측 성능을 보인 </a:t>
            </a: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Stacking Ensemble 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모델은 여러 </a:t>
            </a: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모델의 예측 결과를 </a:t>
            </a: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Meta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모델이 다시 학습하여 최종 예측을 수행하는 구조입니다.</a:t>
            </a:r>
            <a:endParaRPr lang="en-US" sz="1500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7043BC0-C7C8-9472-C059-1404D9A42F7B}"/>
              </a:ext>
            </a:extLst>
          </p:cNvPr>
          <p:cNvGrpSpPr/>
          <p:nvPr/>
        </p:nvGrpSpPr>
        <p:grpSpPr>
          <a:xfrm>
            <a:off x="987929" y="1943100"/>
            <a:ext cx="1828800" cy="990600"/>
            <a:chOff x="1866900" y="1943100"/>
            <a:chExt cx="1828800" cy="990600"/>
          </a:xfrm>
        </p:grpSpPr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66900" y="1943100"/>
              <a:ext cx="1828800" cy="990600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38425" y="2095500"/>
              <a:ext cx="285750" cy="342900"/>
            </a:xfrm>
            <a:prstGeom prst="rect">
              <a:avLst/>
            </a:prstGeom>
          </p:spPr>
        </p:pic>
        <p:sp>
          <p:nvSpPr>
            <p:cNvPr id="26" name="Text 2"/>
            <p:cNvSpPr/>
            <p:nvPr/>
          </p:nvSpPr>
          <p:spPr>
            <a:xfrm>
              <a:off x="2019300" y="2514600"/>
              <a:ext cx="15240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XGBoost</a:t>
              </a:r>
              <a:endParaRPr lang="en-US" sz="1350" dirty="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EC7FF3F-6062-C49E-FA79-EEC76D5D3E51}"/>
              </a:ext>
            </a:extLst>
          </p:cNvPr>
          <p:cNvGrpSpPr/>
          <p:nvPr/>
        </p:nvGrpSpPr>
        <p:grpSpPr>
          <a:xfrm>
            <a:off x="987929" y="3659226"/>
            <a:ext cx="1828800" cy="990600"/>
            <a:chOff x="4076700" y="1943100"/>
            <a:chExt cx="1828800" cy="990600"/>
          </a:xfrm>
        </p:grpSpPr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76700" y="1943100"/>
              <a:ext cx="1828800" cy="990600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848225" y="2095500"/>
              <a:ext cx="285750" cy="342900"/>
            </a:xfrm>
            <a:prstGeom prst="rect">
              <a:avLst/>
            </a:prstGeom>
          </p:spPr>
        </p:pic>
        <p:sp>
          <p:nvSpPr>
            <p:cNvPr id="27" name="Text 3"/>
            <p:cNvSpPr/>
            <p:nvPr/>
          </p:nvSpPr>
          <p:spPr>
            <a:xfrm>
              <a:off x="4076700" y="2514600"/>
              <a:ext cx="18288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LightGBM</a:t>
              </a:r>
              <a:endParaRPr lang="en-US" sz="1350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3514093-A8A0-01DE-88C1-18AD71ED8D7D}"/>
              </a:ext>
            </a:extLst>
          </p:cNvPr>
          <p:cNvGrpSpPr/>
          <p:nvPr/>
        </p:nvGrpSpPr>
        <p:grpSpPr>
          <a:xfrm>
            <a:off x="9371818" y="1943100"/>
            <a:ext cx="1828800" cy="990600"/>
            <a:chOff x="6286500" y="1943100"/>
            <a:chExt cx="1828800" cy="990600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286500" y="1943100"/>
              <a:ext cx="1828800" cy="990600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077075" y="2095500"/>
              <a:ext cx="247650" cy="342900"/>
            </a:xfrm>
            <a:prstGeom prst="rect">
              <a:avLst/>
            </a:prstGeom>
          </p:spPr>
        </p:pic>
        <p:sp>
          <p:nvSpPr>
            <p:cNvPr id="28" name="Text 4"/>
            <p:cNvSpPr/>
            <p:nvPr/>
          </p:nvSpPr>
          <p:spPr>
            <a:xfrm>
              <a:off x="6286500" y="2514600"/>
              <a:ext cx="18288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Random Forest</a:t>
              </a:r>
              <a:endParaRPr lang="en-US" sz="1350" dirty="0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52CCED3-0C6B-0114-FC6B-55176A8E0658}"/>
              </a:ext>
            </a:extLst>
          </p:cNvPr>
          <p:cNvGrpSpPr/>
          <p:nvPr/>
        </p:nvGrpSpPr>
        <p:grpSpPr>
          <a:xfrm>
            <a:off x="9371818" y="3650138"/>
            <a:ext cx="1828800" cy="990600"/>
            <a:chOff x="8496300" y="1943100"/>
            <a:chExt cx="1828800" cy="990600"/>
          </a:xfrm>
        </p:grpSpPr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496300" y="1943100"/>
              <a:ext cx="1828800" cy="990600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8775" y="2095500"/>
              <a:ext cx="323850" cy="342900"/>
            </a:xfrm>
            <a:prstGeom prst="rect">
              <a:avLst/>
            </a:prstGeom>
          </p:spPr>
        </p:pic>
        <p:sp>
          <p:nvSpPr>
            <p:cNvPr id="29" name="Text 5"/>
            <p:cNvSpPr/>
            <p:nvPr/>
          </p:nvSpPr>
          <p:spPr>
            <a:xfrm>
              <a:off x="8496300" y="2514600"/>
              <a:ext cx="18288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Gradient Boosting</a:t>
              </a:r>
              <a:endParaRPr lang="en-US" sz="135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4B444FC-61A9-DB3E-40E3-266F7329FB38}"/>
              </a:ext>
            </a:extLst>
          </p:cNvPr>
          <p:cNvGrpSpPr/>
          <p:nvPr/>
        </p:nvGrpSpPr>
        <p:grpSpPr>
          <a:xfrm>
            <a:off x="4724400" y="2438400"/>
            <a:ext cx="2743200" cy="2019300"/>
            <a:chOff x="4724400" y="2705100"/>
            <a:chExt cx="2743200" cy="2019300"/>
          </a:xfrm>
        </p:grpSpPr>
        <p:pic>
          <p:nvPicPr>
            <p:cNvPr id="16" name="Image 14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724400" y="2705100"/>
              <a:ext cx="2743200" cy="1981200"/>
            </a:xfrm>
            <a:prstGeom prst="rect">
              <a:avLst/>
            </a:prstGeom>
          </p:spPr>
        </p:pic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924550" y="2933700"/>
              <a:ext cx="342900" cy="381000"/>
            </a:xfrm>
            <a:prstGeom prst="rect">
              <a:avLst/>
            </a:prstGeom>
          </p:spPr>
        </p:pic>
        <p:sp>
          <p:nvSpPr>
            <p:cNvPr id="30" name="Text 6"/>
            <p:cNvSpPr/>
            <p:nvPr/>
          </p:nvSpPr>
          <p:spPr>
            <a:xfrm>
              <a:off x="4953000" y="3429000"/>
              <a:ext cx="2286000" cy="533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Meta 모델: Logistic Regression</a:t>
              </a:r>
              <a:endParaRPr lang="en-US" sz="1500" dirty="0"/>
            </a:p>
          </p:txBody>
        </p:sp>
        <p:sp>
          <p:nvSpPr>
            <p:cNvPr id="31" name="Text 7"/>
            <p:cNvSpPr/>
            <p:nvPr/>
          </p:nvSpPr>
          <p:spPr>
            <a:xfrm>
              <a:off x="4953000" y="4038600"/>
              <a:ext cx="2286000" cy="685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Base 모델들의 예측 확률을 입력으로 </a:t>
              </a:r>
              <a:r>
                <a:rPr lang="en-US" sz="1200" dirty="0" err="1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받아</a:t>
              </a:r>
              <a:r>
                <a:rPr lang="en-US" sz="1200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200" dirty="0" err="1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</a:t>
              </a:r>
              <a:r>
                <a:rPr lang="ko-KR" altLang="en-US" sz="1200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종</a:t>
              </a:r>
              <a:r>
                <a:rPr lang="en-US" sz="1200" dirty="0" err="1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이탈</a:t>
              </a:r>
              <a:r>
                <a:rPr lang="en-US" sz="1200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여부를 분류</a:t>
              </a:r>
              <a:endParaRPr lang="en-US" sz="1200" dirty="0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7C8ACD9-716B-99E3-0816-8599447F05CB}"/>
              </a:ext>
            </a:extLst>
          </p:cNvPr>
          <p:cNvGrpSpPr/>
          <p:nvPr/>
        </p:nvGrpSpPr>
        <p:grpSpPr>
          <a:xfrm>
            <a:off x="3900741" y="4599413"/>
            <a:ext cx="4940498" cy="495300"/>
            <a:chOff x="7439918" y="4457700"/>
            <a:chExt cx="4940498" cy="495300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5DDDA76F-3663-53F7-94C0-D6BA24384173}"/>
                </a:ext>
              </a:extLst>
            </p:cNvPr>
            <p:cNvGrpSpPr/>
            <p:nvPr/>
          </p:nvGrpSpPr>
          <p:grpSpPr>
            <a:xfrm>
              <a:off x="7439918" y="4457700"/>
              <a:ext cx="4294882" cy="495300"/>
              <a:chOff x="7439918" y="4457700"/>
              <a:chExt cx="4294882" cy="495300"/>
            </a:xfrm>
          </p:grpSpPr>
          <p:pic>
            <p:nvPicPr>
              <p:cNvPr id="18" name="Image 16" descr="preencoded.png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39918" y="4457700"/>
                <a:ext cx="4294882" cy="495300"/>
              </a:xfrm>
              <a:prstGeom prst="rect">
                <a:avLst/>
              </a:prstGeom>
            </p:spPr>
          </p:pic>
          <p:pic>
            <p:nvPicPr>
              <p:cNvPr id="19" name="Image 17" descr="preencoded.png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554218" y="4572000"/>
                <a:ext cx="190500" cy="266700"/>
              </a:xfrm>
              <a:prstGeom prst="rect">
                <a:avLst/>
              </a:prstGeom>
            </p:spPr>
          </p:pic>
        </p:grpSp>
        <p:sp>
          <p:nvSpPr>
            <p:cNvPr id="32" name="Text 8"/>
            <p:cNvSpPr/>
            <p:nvPr/>
          </p:nvSpPr>
          <p:spPr>
            <a:xfrm>
              <a:off x="7820918" y="4591050"/>
              <a:ext cx="4559498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10-fold Cross Validation을 통해 모델의 일반화 성능 검증</a:t>
              </a:r>
              <a:endParaRPr lang="en-US" sz="1200" dirty="0"/>
            </a:p>
          </p:txBody>
        </p:sp>
      </p:grpSp>
      <p:sp>
        <p:nvSpPr>
          <p:cNvPr id="33" name="Text 9"/>
          <p:cNvSpPr/>
          <p:nvPr/>
        </p:nvSpPr>
        <p:spPr>
          <a:xfrm>
            <a:off x="647700" y="5372100"/>
            <a:ext cx="1089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Stacking Ensemble의 장점</a:t>
            </a:r>
            <a:endParaRPr lang="en-US" sz="1500" dirty="0"/>
          </a:p>
        </p:txBody>
      </p:sp>
      <p:sp>
        <p:nvSpPr>
          <p:cNvPr id="34" name="Text 10"/>
          <p:cNvSpPr/>
          <p:nvPr/>
        </p:nvSpPr>
        <p:spPr>
          <a:xfrm>
            <a:off x="952500" y="5753100"/>
            <a:ext cx="32257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모델의 장점을 결합하여 보완적인 예측 구조를 만듭니다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4635401" y="5753100"/>
            <a:ext cx="322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모델의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단점을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보완</a:t>
            </a:r>
            <a:r>
              <a:rPr lang="ko-KR" alt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예측의 안정성을 높입니다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8318450" y="5753100"/>
            <a:ext cx="32257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모델 조합으로부터 최적의 성능을 추출합니다</a:t>
            </a:r>
            <a:endParaRPr lang="en-US" sz="1200" dirty="0"/>
          </a:p>
        </p:txBody>
      </p:sp>
      <p:pic>
        <p:nvPicPr>
          <p:cNvPr id="44" name="Image 10" descr="preencoded.png">
            <a:extLst>
              <a:ext uri="{FF2B5EF4-FFF2-40B4-BE49-F238E27FC236}">
                <a16:creationId xmlns:a16="http://schemas.microsoft.com/office/drawing/2014/main" id="{4AE30452-2B51-3848-9F2A-A243D4371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100000">
            <a:off x="3142161" y="3396350"/>
            <a:ext cx="936898" cy="936898"/>
          </a:xfrm>
          <a:prstGeom prst="rect">
            <a:avLst/>
          </a:prstGeom>
        </p:spPr>
      </p:pic>
      <p:pic>
        <p:nvPicPr>
          <p:cNvPr id="45" name="Image 10" descr="preencoded.png">
            <a:extLst>
              <a:ext uri="{FF2B5EF4-FFF2-40B4-BE49-F238E27FC236}">
                <a16:creationId xmlns:a16="http://schemas.microsoft.com/office/drawing/2014/main" id="{00800DBB-661B-3B55-BC1C-E34F0C26A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169939">
            <a:off x="8053216" y="2440800"/>
            <a:ext cx="922350" cy="922350"/>
          </a:xfrm>
          <a:prstGeom prst="rect">
            <a:avLst/>
          </a:prstGeom>
        </p:spPr>
      </p:pic>
      <p:pic>
        <p:nvPicPr>
          <p:cNvPr id="46" name="Image 10" descr="preencoded.png">
            <a:extLst>
              <a:ext uri="{FF2B5EF4-FFF2-40B4-BE49-F238E27FC236}">
                <a16:creationId xmlns:a16="http://schemas.microsoft.com/office/drawing/2014/main" id="{FB6B5254-AEF7-F232-65EE-9CD818BFB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088680">
            <a:off x="8043331" y="3394800"/>
            <a:ext cx="936898" cy="9368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57300"/>
            <a:ext cx="2133600" cy="133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700" y="14097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1257300"/>
            <a:ext cx="2133600" cy="1333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5700" y="14097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57300"/>
            <a:ext cx="2133600" cy="1333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3125" y="1409700"/>
            <a:ext cx="2857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1257300"/>
            <a:ext cx="2133600" cy="1333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7700" y="14097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1257300"/>
            <a:ext cx="2133600" cy="1333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53700" y="14097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2895600"/>
            <a:ext cx="11277600" cy="2667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581400"/>
            <a:ext cx="419100" cy="5048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369570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3581400"/>
            <a:ext cx="419100" cy="5048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369570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572000"/>
            <a:ext cx="419100" cy="50482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4686300"/>
            <a:ext cx="19050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4572000"/>
            <a:ext cx="419100" cy="50482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4686300"/>
            <a:ext cx="190500" cy="2667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성능 지표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609600" y="1790700"/>
            <a:ext cx="182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</a:t>
            </a:r>
            <a:endParaRPr lang="en-US" sz="1350" dirty="0"/>
          </a:p>
        </p:txBody>
      </p:sp>
      <p:sp>
        <p:nvSpPr>
          <p:cNvPr id="25" name="Text 2"/>
          <p:cNvSpPr/>
          <p:nvPr/>
        </p:nvSpPr>
        <p:spPr>
          <a:xfrm>
            <a:off x="426720" y="2095500"/>
            <a:ext cx="21945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0.9188</a:t>
            </a:r>
            <a:endParaRPr lang="en-US" sz="2250" dirty="0"/>
          </a:p>
        </p:txBody>
      </p:sp>
      <p:sp>
        <p:nvSpPr>
          <p:cNvPr id="26" name="Text 3"/>
          <p:cNvSpPr/>
          <p:nvPr/>
        </p:nvSpPr>
        <p:spPr>
          <a:xfrm>
            <a:off x="2895600" y="1790700"/>
            <a:ext cx="182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</a:t>
            </a:r>
            <a:endParaRPr lang="en-US" sz="1350" dirty="0"/>
          </a:p>
        </p:txBody>
      </p:sp>
      <p:sp>
        <p:nvSpPr>
          <p:cNvPr id="27" name="Text 4"/>
          <p:cNvSpPr/>
          <p:nvPr/>
        </p:nvSpPr>
        <p:spPr>
          <a:xfrm>
            <a:off x="2712720" y="2095500"/>
            <a:ext cx="21945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95.63%</a:t>
            </a:r>
            <a:endParaRPr lang="en-US" sz="2250" dirty="0"/>
          </a:p>
        </p:txBody>
      </p:sp>
      <p:sp>
        <p:nvSpPr>
          <p:cNvPr id="28" name="Text 5"/>
          <p:cNvSpPr/>
          <p:nvPr/>
        </p:nvSpPr>
        <p:spPr>
          <a:xfrm>
            <a:off x="4998720" y="1790700"/>
            <a:ext cx="21945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29" name="Text 6"/>
          <p:cNvSpPr/>
          <p:nvPr/>
        </p:nvSpPr>
        <p:spPr>
          <a:xfrm>
            <a:off x="4998720" y="2095500"/>
            <a:ext cx="21945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90.41%</a:t>
            </a:r>
            <a:endParaRPr lang="en-US" sz="2250" dirty="0"/>
          </a:p>
        </p:txBody>
      </p:sp>
      <p:sp>
        <p:nvSpPr>
          <p:cNvPr id="30" name="Text 7"/>
          <p:cNvSpPr/>
          <p:nvPr/>
        </p:nvSpPr>
        <p:spPr>
          <a:xfrm>
            <a:off x="7467600" y="1790700"/>
            <a:ext cx="182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</a:t>
            </a:r>
            <a:endParaRPr lang="en-US" sz="1350" dirty="0"/>
          </a:p>
        </p:txBody>
      </p:sp>
      <p:sp>
        <p:nvSpPr>
          <p:cNvPr id="31" name="Text 8"/>
          <p:cNvSpPr/>
          <p:nvPr/>
        </p:nvSpPr>
        <p:spPr>
          <a:xfrm>
            <a:off x="7284720" y="2095500"/>
            <a:ext cx="21945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93.40%</a:t>
            </a:r>
            <a:endParaRPr lang="en-US" sz="2250" dirty="0"/>
          </a:p>
        </p:txBody>
      </p:sp>
      <p:sp>
        <p:nvSpPr>
          <p:cNvPr id="32" name="Text 9"/>
          <p:cNvSpPr/>
          <p:nvPr/>
        </p:nvSpPr>
        <p:spPr>
          <a:xfrm>
            <a:off x="9753600" y="1790700"/>
            <a:ext cx="182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AUC-ROC</a:t>
            </a:r>
            <a:endParaRPr lang="en-US" sz="1350" dirty="0"/>
          </a:p>
        </p:txBody>
      </p:sp>
      <p:sp>
        <p:nvSpPr>
          <p:cNvPr id="33" name="Text 10"/>
          <p:cNvSpPr/>
          <p:nvPr/>
        </p:nvSpPr>
        <p:spPr>
          <a:xfrm>
            <a:off x="9570720" y="2095500"/>
            <a:ext cx="21945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0.9851</a:t>
            </a:r>
            <a:endParaRPr lang="en-US" sz="2250" dirty="0"/>
          </a:p>
        </p:txBody>
      </p:sp>
      <p:sp>
        <p:nvSpPr>
          <p:cNvPr id="35" name="Text 12"/>
          <p:cNvSpPr/>
          <p:nvPr/>
        </p:nvSpPr>
        <p:spPr>
          <a:xfrm>
            <a:off x="1257300" y="3581400"/>
            <a:ext cx="5669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 (0.9188)</a:t>
            </a:r>
            <a:endParaRPr lang="en-US" sz="1500" dirty="0"/>
          </a:p>
        </p:txBody>
      </p:sp>
      <p:sp>
        <p:nvSpPr>
          <p:cNvPr id="36" name="Text 13"/>
          <p:cNvSpPr/>
          <p:nvPr/>
        </p:nvSpPr>
        <p:spPr>
          <a:xfrm>
            <a:off x="1257300" y="38862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예측 모델의 균형 잡힌 성능을 나타내는 지표로,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높은 </a:t>
            </a:r>
            <a:endParaRPr lang="en-US" altLang="ko-KR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정확도를 달성했습니다.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6781800" y="3581400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 (93.40%)</a:t>
            </a:r>
            <a:endParaRPr lang="en-US" sz="1500" dirty="0"/>
          </a:p>
        </p:txBody>
      </p:sp>
      <p:sp>
        <p:nvSpPr>
          <p:cNvPr id="38" name="Text 15"/>
          <p:cNvSpPr/>
          <p:nvPr/>
        </p:nvSpPr>
        <p:spPr>
          <a:xfrm>
            <a:off x="6781800" y="38862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이탈한 회원 중 모델이 이탈할 것이라고 정확하게 예측한 비율로, 이탈 위험 고객을 놓치지 않고 조기에 감지하는 능력이 뛰어납니다.</a:t>
            </a:r>
            <a:endParaRPr lang="en-US" sz="1200" dirty="0"/>
          </a:p>
        </p:txBody>
      </p:sp>
      <p:sp>
        <p:nvSpPr>
          <p:cNvPr id="39" name="Text 16"/>
          <p:cNvSpPr/>
          <p:nvPr/>
        </p:nvSpPr>
        <p:spPr>
          <a:xfrm>
            <a:off x="1257300" y="4572000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 (90.41%)</a:t>
            </a:r>
            <a:endParaRPr lang="en-US" sz="1500" dirty="0"/>
          </a:p>
        </p:txBody>
      </p:sp>
      <p:sp>
        <p:nvSpPr>
          <p:cNvPr id="40" name="Text 17"/>
          <p:cNvSpPr/>
          <p:nvPr/>
        </p:nvSpPr>
        <p:spPr>
          <a:xfrm>
            <a:off x="1257300" y="48768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이탈할 것이라고 예측한 회원 중 실제로 이탈한 회원의 비율로, 불필요한 개입 비용을 줄이는 데 중요합니다.</a:t>
            </a:r>
            <a:endParaRPr lang="en-US" sz="1200" dirty="0"/>
          </a:p>
        </p:txBody>
      </p:sp>
      <p:sp>
        <p:nvSpPr>
          <p:cNvPr id="41" name="Text 18"/>
          <p:cNvSpPr/>
          <p:nvPr/>
        </p:nvSpPr>
        <p:spPr>
          <a:xfrm>
            <a:off x="6781800" y="4572000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AUC-ROC (0.9851)</a:t>
            </a:r>
            <a:endParaRPr lang="en-US" sz="1500" dirty="0"/>
          </a:p>
        </p:txBody>
      </p:sp>
      <p:sp>
        <p:nvSpPr>
          <p:cNvPr id="42" name="Text 19"/>
          <p:cNvSpPr/>
          <p:nvPr/>
        </p:nvSpPr>
        <p:spPr>
          <a:xfrm>
            <a:off x="6781800" y="48768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이탈자와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비이탈자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구분 성능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1에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가까울수록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분류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성능이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우수함을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의미합니다.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6E3E0-559B-42F1-6716-01335126A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70903A-78F9-11BF-B18A-0F62BD3DD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9BDDC09-2A2F-4CC0-B05E-1CF9D30E3095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4AD260-C300-F097-ADAF-DC5203719CCA}"/>
              </a:ext>
            </a:extLst>
          </p:cNvPr>
          <p:cNvSpPr txBox="1"/>
          <p:nvPr/>
        </p:nvSpPr>
        <p:spPr>
          <a:xfrm>
            <a:off x="609598" y="274320"/>
            <a:ext cx="9573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8D"/>
                </a:solidFill>
              </a:defRPr>
            </a:pPr>
            <a:r>
              <a:rPr lang="ko-KR" altLang="en-US" sz="3200" dirty="0">
                <a:solidFill>
                  <a:schemeClr val="bg1"/>
                </a:solidFill>
                <a:latin typeface="+mj-lt"/>
              </a:rPr>
              <a:t>목차</a:t>
            </a:r>
            <a:endParaRPr sz="32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D8B7032-E188-E8CF-7178-1EC65A26B7CD}"/>
              </a:ext>
            </a:extLst>
          </p:cNvPr>
          <p:cNvGrpSpPr/>
          <p:nvPr/>
        </p:nvGrpSpPr>
        <p:grpSpPr>
          <a:xfrm>
            <a:off x="609598" y="1116129"/>
            <a:ext cx="1698704" cy="896362"/>
            <a:chOff x="1371344" y="1312582"/>
            <a:chExt cx="1698704" cy="896362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BB02880-CFB8-4922-791D-0B96EC8A018D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F19B93B-D8D9-61D8-6013-7CEE2D2CEEED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01</a:t>
              </a:r>
              <a:endParaRPr kumimoji="1" lang="ko-KR" altLang="en-US" sz="2800" b="1" dirty="0"/>
            </a:p>
          </p:txBody>
        </p:sp>
        <p:sp>
          <p:nvSpPr>
            <p:cNvPr id="14" name="직각 삼각형[R] 13">
              <a:extLst>
                <a:ext uri="{FF2B5EF4-FFF2-40B4-BE49-F238E27FC236}">
                  <a16:creationId xmlns:a16="http://schemas.microsoft.com/office/drawing/2014/main" id="{F67DB927-44BD-14BC-6318-8B8B83CED25D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수동 입력 15">
              <a:extLst>
                <a:ext uri="{FF2B5EF4-FFF2-40B4-BE49-F238E27FC236}">
                  <a16:creationId xmlns:a16="http://schemas.microsoft.com/office/drawing/2014/main" id="{572C443B-25E5-05A6-E1D4-424FC44F4BAF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삼각형 16">
              <a:extLst>
                <a:ext uri="{FF2B5EF4-FFF2-40B4-BE49-F238E27FC236}">
                  <a16:creationId xmlns:a16="http://schemas.microsoft.com/office/drawing/2014/main" id="{A5D09B97-1E21-FFD6-9338-A355E2A43118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9D0A81E-8D8C-A8B0-5E29-06CC57A3309E}"/>
              </a:ext>
            </a:extLst>
          </p:cNvPr>
          <p:cNvGrpSpPr/>
          <p:nvPr/>
        </p:nvGrpSpPr>
        <p:grpSpPr>
          <a:xfrm>
            <a:off x="609598" y="4420530"/>
            <a:ext cx="1698704" cy="896362"/>
            <a:chOff x="1371344" y="1312582"/>
            <a:chExt cx="1698704" cy="896362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54CC51A-6B8B-55F6-62A2-ACF892997B5B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</a:t>
              </a:r>
              <a:endParaRPr lang="ko-KR" altLang="en-US" sz="2400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521F506-5EAA-063A-F966-7ACA53B1ED8A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04</a:t>
              </a:r>
              <a:endParaRPr kumimoji="1" lang="ko-KR" altLang="en-US" sz="2800" b="1" dirty="0"/>
            </a:p>
          </p:txBody>
        </p:sp>
        <p:sp>
          <p:nvSpPr>
            <p:cNvPr id="37" name="직각 삼각형[R] 36">
              <a:extLst>
                <a:ext uri="{FF2B5EF4-FFF2-40B4-BE49-F238E27FC236}">
                  <a16:creationId xmlns:a16="http://schemas.microsoft.com/office/drawing/2014/main" id="{3F8BD0A4-C5EF-39D9-461B-2200517E69EA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수동 입력 37">
              <a:extLst>
                <a:ext uri="{FF2B5EF4-FFF2-40B4-BE49-F238E27FC236}">
                  <a16:creationId xmlns:a16="http://schemas.microsoft.com/office/drawing/2014/main" id="{8FC293DB-346D-7FAA-901C-7EB162E10026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9" name="삼각형 38">
              <a:extLst>
                <a:ext uri="{FF2B5EF4-FFF2-40B4-BE49-F238E27FC236}">
                  <a16:creationId xmlns:a16="http://schemas.microsoft.com/office/drawing/2014/main" id="{20AAB426-45A6-E504-79AA-CF971FE28647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3246A0A-757F-D5C9-3B2F-A525EDE301A1}"/>
              </a:ext>
            </a:extLst>
          </p:cNvPr>
          <p:cNvGrpSpPr/>
          <p:nvPr/>
        </p:nvGrpSpPr>
        <p:grpSpPr>
          <a:xfrm>
            <a:off x="609598" y="2216885"/>
            <a:ext cx="1698704" cy="896362"/>
            <a:chOff x="1371344" y="1312582"/>
            <a:chExt cx="1698704" cy="89636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2C0F330-FBDF-385F-ECD6-59D5663FAF83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2000" b="1">
                  <a:solidFill>
                    <a:srgbClr val="00338D"/>
                  </a:solidFill>
                </a:defRPr>
              </a:pPr>
              <a:r>
                <a:rPr lang="ko-KR" altLang="en-US" sz="2400" b="1" dirty="0">
                  <a:latin typeface="+mj-lt"/>
                </a:rPr>
                <a:t>   </a:t>
              </a:r>
              <a:endParaRPr lang="ko-KR" altLang="en-US" sz="3600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11467BE-E217-350D-7A60-3BDDAA90C913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02</a:t>
              </a:r>
              <a:endParaRPr kumimoji="1" lang="ko-KR" altLang="en-US" sz="2800" b="1" dirty="0"/>
            </a:p>
          </p:txBody>
        </p:sp>
        <p:sp>
          <p:nvSpPr>
            <p:cNvPr id="10" name="직각 삼각형[R] 9">
              <a:extLst>
                <a:ext uri="{FF2B5EF4-FFF2-40B4-BE49-F238E27FC236}">
                  <a16:creationId xmlns:a16="http://schemas.microsoft.com/office/drawing/2014/main" id="{92168FA1-B714-9EC7-AFBA-EE8F0DB04A10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수동 입력 10">
              <a:extLst>
                <a:ext uri="{FF2B5EF4-FFF2-40B4-BE49-F238E27FC236}">
                  <a16:creationId xmlns:a16="http://schemas.microsoft.com/office/drawing/2014/main" id="{41CFEDFB-1FB7-59B7-C882-A4743782511E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삼각형 11">
              <a:extLst>
                <a:ext uri="{FF2B5EF4-FFF2-40B4-BE49-F238E27FC236}">
                  <a16:creationId xmlns:a16="http://schemas.microsoft.com/office/drawing/2014/main" id="{94918379-F167-F32F-0498-A8D399EA7DC2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8826131-686D-A676-56EB-1EFD212112A5}"/>
              </a:ext>
            </a:extLst>
          </p:cNvPr>
          <p:cNvGrpSpPr/>
          <p:nvPr/>
        </p:nvGrpSpPr>
        <p:grpSpPr>
          <a:xfrm>
            <a:off x="609598" y="3319020"/>
            <a:ext cx="9323083" cy="896362"/>
            <a:chOff x="1371344" y="1312582"/>
            <a:chExt cx="9323083" cy="896362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49BB973-653C-7CF4-9198-BB0BA532452F}"/>
                </a:ext>
              </a:extLst>
            </p:cNvPr>
            <p:cNvSpPr/>
            <p:nvPr/>
          </p:nvSpPr>
          <p:spPr>
            <a:xfrm>
              <a:off x="2414427" y="1489753"/>
              <a:ext cx="8280000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8D"/>
                  </a:solidFill>
                </a:defRPr>
              </a:pPr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데이터 </a:t>
              </a:r>
              <a:r>
                <a:rPr lang="ko-KR" altLang="en-US" sz="2400" b="1" dirty="0">
                  <a:solidFill>
                    <a:srgbClr val="00338D"/>
                  </a:solidFill>
                  <a:latin typeface="+mj-lt"/>
                  <a:ea typeface="나눔고딕"/>
                </a:rPr>
                <a:t>평가</a:t>
              </a:r>
              <a:endPara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338D"/>
                </a:solidFill>
                <a:effectLst/>
                <a:uLnTx/>
                <a:uFillTx/>
                <a:latin typeface="+mj-lt"/>
                <a:ea typeface="나눔고딕"/>
                <a:cs typeface="+mn-cs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21E5C49-D7D3-C44B-9E10-7147D7AE6427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03</a:t>
              </a:r>
              <a:endParaRPr kumimoji="1" lang="ko-KR" altLang="en-US" sz="2800" b="1" dirty="0"/>
            </a:p>
          </p:txBody>
        </p:sp>
        <p:sp>
          <p:nvSpPr>
            <p:cNvPr id="20" name="직각 삼각형[R] 19">
              <a:extLst>
                <a:ext uri="{FF2B5EF4-FFF2-40B4-BE49-F238E27FC236}">
                  <a16:creationId xmlns:a16="http://schemas.microsoft.com/office/drawing/2014/main" id="{B092A64A-660E-E033-2375-FE80FD695090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0" name="수동 입력 39">
              <a:extLst>
                <a:ext uri="{FF2B5EF4-FFF2-40B4-BE49-F238E27FC236}">
                  <a16:creationId xmlns:a16="http://schemas.microsoft.com/office/drawing/2014/main" id="{A28A3E25-BDEC-7357-1184-AC407B560C1C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1" name="삼각형 40">
              <a:extLst>
                <a:ext uri="{FF2B5EF4-FFF2-40B4-BE49-F238E27FC236}">
                  <a16:creationId xmlns:a16="http://schemas.microsoft.com/office/drawing/2014/main" id="{7DE2A38D-5204-1447-745E-40CA770CCE84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6522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43100"/>
            <a:ext cx="5486400" cy="1638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495550"/>
            <a:ext cx="1295400" cy="800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3521929"/>
            <a:ext cx="5486400" cy="1981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104580"/>
            <a:ext cx="171450" cy="3048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Confusion Matrix 해석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457200" y="11811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Confusion Matrix는 모델의 예측 결과를 실제 값과 비교하여 시각적으로 보여주는 중요한 도구입니다. 특히, 이탈 예측 모델에서는 </a:t>
            </a:r>
            <a:r>
              <a:rPr lang="en-US" sz="13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False Negative(FN)</a:t>
            </a:r>
            <a:r>
              <a:rPr lang="en-US" sz="1350" b="1" dirty="0" err="1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  <a:r>
              <a:rPr lang="en-US" sz="13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US" sz="1350" b="1" dirty="0" err="1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최소화</a:t>
            </a:r>
            <a:r>
              <a:rPr lang="en-US" sz="13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것이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중요합니다.</a:t>
            </a:r>
            <a:endParaRPr lang="en-US" sz="1350" dirty="0"/>
          </a:p>
        </p:txBody>
      </p:sp>
      <p:sp>
        <p:nvSpPr>
          <p:cNvPr id="32" name="Text 13"/>
          <p:cNvSpPr/>
          <p:nvPr/>
        </p:nvSpPr>
        <p:spPr>
          <a:xfrm>
            <a:off x="6400800" y="209550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False Negative (FN) 분석</a:t>
            </a:r>
            <a:endParaRPr lang="en-US" sz="1500" dirty="0"/>
          </a:p>
        </p:txBody>
      </p:sp>
      <p:sp>
        <p:nvSpPr>
          <p:cNvPr id="33" name="Text 14"/>
          <p:cNvSpPr/>
          <p:nvPr/>
        </p:nvSpPr>
        <p:spPr>
          <a:xfrm>
            <a:off x="6477000" y="2571750"/>
            <a:ext cx="114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</a:rPr>
              <a:t>14</a:t>
            </a:r>
            <a:endParaRPr lang="en-US" sz="1350" dirty="0"/>
          </a:p>
        </p:txBody>
      </p:sp>
      <p:sp>
        <p:nvSpPr>
          <p:cNvPr id="34" name="Text 15"/>
          <p:cNvSpPr/>
          <p:nvPr/>
        </p:nvSpPr>
        <p:spPr>
          <a:xfrm>
            <a:off x="6477000" y="2838450"/>
            <a:ext cx="1143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False Negative (FN)</a:t>
            </a:r>
            <a:endParaRPr lang="en-US" sz="1050" dirty="0"/>
          </a:p>
        </p:txBody>
      </p:sp>
      <p:sp>
        <p:nvSpPr>
          <p:cNvPr id="35" name="Text 16"/>
          <p:cNvSpPr/>
          <p:nvPr/>
        </p:nvSpPr>
        <p:spPr>
          <a:xfrm>
            <a:off x="7772400" y="2552700"/>
            <a:ext cx="37338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유지를 예측했으나 실제로는 이탈한 회원. </a:t>
            </a:r>
            <a:r>
              <a:rPr lang="en-US" sz="12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위험 고객을 놓친 치명적인 오류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로,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손실이 발생할 수 있습니다.</a:t>
            </a:r>
            <a:endParaRPr lang="en-US" sz="1200" dirty="0"/>
          </a:p>
        </p:txBody>
      </p:sp>
      <p:sp>
        <p:nvSpPr>
          <p:cNvPr id="36" name="Text 17"/>
          <p:cNvSpPr/>
          <p:nvPr/>
        </p:nvSpPr>
        <p:spPr>
          <a:xfrm>
            <a:off x="6400800" y="368548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임팩트</a:t>
            </a:r>
            <a:endParaRPr lang="en-US" sz="1500" dirty="0"/>
          </a:p>
        </p:txBody>
      </p:sp>
      <p:sp>
        <p:nvSpPr>
          <p:cNvPr id="37" name="Text 18"/>
          <p:cNvSpPr/>
          <p:nvPr/>
        </p:nvSpPr>
        <p:spPr>
          <a:xfrm>
            <a:off x="6686550" y="4066480"/>
            <a:ext cx="489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FN을 최소화함으로써 실제 이탈 고객을 놓치지 않고 조기에 대응할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있습니다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38" name="Text 19"/>
          <p:cNvSpPr/>
          <p:nvPr/>
        </p:nvSpPr>
        <p:spPr>
          <a:xfrm>
            <a:off x="6686550" y="4599880"/>
            <a:ext cx="489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모델은 FN 비율을 극도로 낮춰, 이탈 고객 예측의 신뢰성을 높였습니다.</a:t>
            </a:r>
            <a:endParaRPr lang="en-US" sz="1200" dirty="0"/>
          </a:p>
        </p:txBody>
      </p:sp>
      <p:sp>
        <p:nvSpPr>
          <p:cNvPr id="39" name="Text 20"/>
          <p:cNvSpPr/>
          <p:nvPr/>
        </p:nvSpPr>
        <p:spPr>
          <a:xfrm>
            <a:off x="6686550" y="5133280"/>
            <a:ext cx="4420065" cy="2072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DE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결과적으로, 매출 손실 방지에 직접적인 기여를 합니다.</a:t>
            </a:r>
            <a:endParaRPr lang="en-US" sz="1200" dirty="0"/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D3B21565-7A5D-92FA-7219-0C78F5301073}"/>
              </a:ext>
            </a:extLst>
          </p:cNvPr>
          <p:cNvSpPr/>
          <p:nvPr/>
        </p:nvSpPr>
        <p:spPr>
          <a:xfrm>
            <a:off x="479312" y="209550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Confusion Matrix</a:t>
            </a:r>
            <a:endParaRPr lang="en-US" dirty="0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0C9C7A64-477F-D025-698B-9D105F6A57CE}"/>
              </a:ext>
            </a:extLst>
          </p:cNvPr>
          <p:cNvGrpSpPr/>
          <p:nvPr/>
        </p:nvGrpSpPr>
        <p:grpSpPr>
          <a:xfrm>
            <a:off x="535257" y="2667183"/>
            <a:ext cx="5262166" cy="2278380"/>
            <a:chOff x="919695" y="2522220"/>
            <a:chExt cx="4610100" cy="1888582"/>
          </a:xfrm>
        </p:grpSpPr>
        <p:pic>
          <p:nvPicPr>
            <p:cNvPr id="42" name="Image 12" descr="preencoded.png">
              <a:extLst>
                <a:ext uri="{FF2B5EF4-FFF2-40B4-BE49-F238E27FC236}">
                  <a16:creationId xmlns:a16="http://schemas.microsoft.com/office/drawing/2014/main" id="{6ADFEE81-55BF-A5DF-3F6D-AEF250C58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6903" y="3662137"/>
              <a:ext cx="2154775" cy="748665"/>
            </a:xfrm>
            <a:prstGeom prst="rect">
              <a:avLst/>
            </a:prstGeom>
          </p:spPr>
        </p:pic>
        <p:pic>
          <p:nvPicPr>
            <p:cNvPr id="44" name="Image 3" descr="preencoded.png">
              <a:extLst>
                <a:ext uri="{FF2B5EF4-FFF2-40B4-BE49-F238E27FC236}">
                  <a16:creationId xmlns:a16="http://schemas.microsoft.com/office/drawing/2014/main" id="{06E313EE-7BF0-2A40-52AD-4CFF53BD7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12614" y="2522220"/>
              <a:ext cx="4312010" cy="381000"/>
            </a:xfrm>
            <a:prstGeom prst="rect">
              <a:avLst/>
            </a:prstGeom>
          </p:spPr>
        </p:pic>
        <p:pic>
          <p:nvPicPr>
            <p:cNvPr id="45" name="Image 4" descr="preencoded.png">
              <a:extLst>
                <a:ext uri="{FF2B5EF4-FFF2-40B4-BE49-F238E27FC236}">
                  <a16:creationId xmlns:a16="http://schemas.microsoft.com/office/drawing/2014/main" id="{A880E4B1-D8EA-CE97-F487-5A5920D7E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27240" y="2895600"/>
              <a:ext cx="3906759" cy="762000"/>
            </a:xfrm>
            <a:prstGeom prst="rect">
              <a:avLst/>
            </a:prstGeom>
          </p:spPr>
        </p:pic>
        <p:pic>
          <p:nvPicPr>
            <p:cNvPr id="46" name="Image 5" descr="preencoded.png">
              <a:extLst>
                <a:ext uri="{FF2B5EF4-FFF2-40B4-BE49-F238E27FC236}">
                  <a16:creationId xmlns:a16="http://schemas.microsoft.com/office/drawing/2014/main" id="{80F83994-C548-D689-D3FD-A17B098F9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201677" y="3648075"/>
              <a:ext cx="2132321" cy="762000"/>
            </a:xfrm>
            <a:prstGeom prst="rect">
              <a:avLst/>
            </a:prstGeom>
          </p:spPr>
        </p:pic>
        <p:pic>
          <p:nvPicPr>
            <p:cNvPr id="47" name="Image 6" descr="preencoded.png">
              <a:extLst>
                <a:ext uri="{FF2B5EF4-FFF2-40B4-BE49-F238E27FC236}">
                  <a16:creationId xmlns:a16="http://schemas.microsoft.com/office/drawing/2014/main" id="{B50FC7B9-835C-B713-B569-2ECB14E77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188688" y="2895600"/>
              <a:ext cx="2146158" cy="762000"/>
            </a:xfrm>
            <a:prstGeom prst="rect">
              <a:avLst/>
            </a:prstGeom>
          </p:spPr>
        </p:pic>
        <p:pic>
          <p:nvPicPr>
            <p:cNvPr id="48" name="Image 8" descr="preencoded.png">
              <a:extLst>
                <a:ext uri="{FF2B5EF4-FFF2-40B4-BE49-F238E27FC236}">
                  <a16:creationId xmlns:a16="http://schemas.microsoft.com/office/drawing/2014/main" id="{6917A06E-03B0-54FC-C8F4-F487D0326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54521" y="2895600"/>
              <a:ext cx="2148561" cy="762000"/>
            </a:xfrm>
            <a:prstGeom prst="rect">
              <a:avLst/>
            </a:prstGeom>
          </p:spPr>
        </p:pic>
        <p:sp>
          <p:nvSpPr>
            <p:cNvPr id="50" name="Text 3">
              <a:extLst>
                <a:ext uri="{FF2B5EF4-FFF2-40B4-BE49-F238E27FC236}">
                  <a16:creationId xmlns:a16="http://schemas.microsoft.com/office/drawing/2014/main" id="{E71C363E-5786-93FF-8F8F-05025612670C}"/>
                </a:ext>
              </a:extLst>
            </p:cNvPr>
            <p:cNvSpPr/>
            <p:nvPr/>
          </p:nvSpPr>
          <p:spPr>
            <a:xfrm>
              <a:off x="919695" y="2571750"/>
              <a:ext cx="2590800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예측</a:t>
              </a:r>
              <a:r>
                <a:rPr 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</a:t>
              </a:r>
              <a:r>
                <a:rPr lang="ko-KR" alt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유지</a:t>
              </a:r>
              <a:endParaRPr lang="en-US" sz="1200" dirty="0"/>
            </a:p>
          </p:txBody>
        </p:sp>
        <p:sp>
          <p:nvSpPr>
            <p:cNvPr id="51" name="Text 6">
              <a:extLst>
                <a:ext uri="{FF2B5EF4-FFF2-40B4-BE49-F238E27FC236}">
                  <a16:creationId xmlns:a16="http://schemas.microsoft.com/office/drawing/2014/main" id="{85F91EE1-9E5A-F640-D0E0-BF0E31F20CF6}"/>
                </a:ext>
              </a:extLst>
            </p:cNvPr>
            <p:cNvSpPr/>
            <p:nvPr/>
          </p:nvSpPr>
          <p:spPr>
            <a:xfrm>
              <a:off x="1208017" y="3114675"/>
              <a:ext cx="1808685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</a:rPr>
                <a:t>567</a:t>
              </a:r>
              <a:endParaRPr lang="en-US" sz="1350" dirty="0"/>
            </a:p>
          </p:txBody>
        </p:sp>
        <p:sp>
          <p:nvSpPr>
            <p:cNvPr id="52" name="Text 7">
              <a:extLst>
                <a:ext uri="{FF2B5EF4-FFF2-40B4-BE49-F238E27FC236}">
                  <a16:creationId xmlns:a16="http://schemas.microsoft.com/office/drawing/2014/main" id="{EF763DE2-6A87-CB82-A599-EB6A0BEC900E}"/>
                </a:ext>
              </a:extLst>
            </p:cNvPr>
            <p:cNvSpPr/>
            <p:nvPr/>
          </p:nvSpPr>
          <p:spPr>
            <a:xfrm>
              <a:off x="1012614" y="3390900"/>
              <a:ext cx="2170422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True Negative (TN)</a:t>
              </a:r>
              <a:endParaRPr lang="en-US" sz="1050" dirty="0"/>
            </a:p>
          </p:txBody>
        </p:sp>
        <p:sp>
          <p:nvSpPr>
            <p:cNvPr id="53" name="Text 9">
              <a:extLst>
                <a:ext uri="{FF2B5EF4-FFF2-40B4-BE49-F238E27FC236}">
                  <a16:creationId xmlns:a16="http://schemas.microsoft.com/office/drawing/2014/main" id="{F4C75738-8B96-416E-87CA-031C3DD555B4}"/>
                </a:ext>
              </a:extLst>
            </p:cNvPr>
            <p:cNvSpPr/>
            <p:nvPr/>
          </p:nvSpPr>
          <p:spPr>
            <a:xfrm>
              <a:off x="3372914" y="3810000"/>
              <a:ext cx="1808685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</a:rPr>
                <a:t>198</a:t>
              </a:r>
              <a:endParaRPr lang="en-US" sz="1350" dirty="0"/>
            </a:p>
          </p:txBody>
        </p:sp>
        <p:sp>
          <p:nvSpPr>
            <p:cNvPr id="54" name="Text 10">
              <a:extLst>
                <a:ext uri="{FF2B5EF4-FFF2-40B4-BE49-F238E27FC236}">
                  <a16:creationId xmlns:a16="http://schemas.microsoft.com/office/drawing/2014/main" id="{3BA3A96B-1539-502D-AC71-01D7DF89B9C1}"/>
                </a:ext>
              </a:extLst>
            </p:cNvPr>
            <p:cNvSpPr/>
            <p:nvPr/>
          </p:nvSpPr>
          <p:spPr>
            <a:xfrm>
              <a:off x="3239778" y="4076700"/>
              <a:ext cx="2170422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True Positive (TP)</a:t>
              </a:r>
            </a:p>
            <a:p>
              <a:pPr marL="0" indent="0" algn="ctr">
                <a:lnSpc>
                  <a:spcPts val="1500"/>
                </a:lnSpc>
                <a:buNone/>
              </a:pPr>
              <a:endParaRPr lang="en-US" sz="1050" dirty="0"/>
            </a:p>
          </p:txBody>
        </p:sp>
        <p:sp>
          <p:nvSpPr>
            <p:cNvPr id="55" name="Text 3">
              <a:extLst>
                <a:ext uri="{FF2B5EF4-FFF2-40B4-BE49-F238E27FC236}">
                  <a16:creationId xmlns:a16="http://schemas.microsoft.com/office/drawing/2014/main" id="{0F56698B-C621-D957-30C0-BEA9C2B6545A}"/>
                </a:ext>
              </a:extLst>
            </p:cNvPr>
            <p:cNvSpPr/>
            <p:nvPr/>
          </p:nvSpPr>
          <p:spPr>
            <a:xfrm>
              <a:off x="2938995" y="2571750"/>
              <a:ext cx="2590800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예측</a:t>
              </a:r>
              <a:r>
                <a:rPr 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</a:t>
              </a:r>
              <a:r>
                <a:rPr lang="ko-KR" alt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이탈</a:t>
              </a:r>
              <a:endParaRPr lang="en-US" sz="1200" dirty="0"/>
            </a:p>
          </p:txBody>
        </p:sp>
        <p:sp>
          <p:nvSpPr>
            <p:cNvPr id="56" name="Text 6">
              <a:extLst>
                <a:ext uri="{FF2B5EF4-FFF2-40B4-BE49-F238E27FC236}">
                  <a16:creationId xmlns:a16="http://schemas.microsoft.com/office/drawing/2014/main" id="{E50651BB-B3EE-B083-2C6A-8DAA3163FB42}"/>
                </a:ext>
              </a:extLst>
            </p:cNvPr>
            <p:cNvSpPr/>
            <p:nvPr/>
          </p:nvSpPr>
          <p:spPr>
            <a:xfrm>
              <a:off x="3372914" y="3093720"/>
              <a:ext cx="1808685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altLang="ko-KR" sz="135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</a:rPr>
                <a:t>21</a:t>
              </a:r>
              <a:endParaRPr lang="en-US" sz="1350" dirty="0"/>
            </a:p>
          </p:txBody>
        </p:sp>
        <p:sp>
          <p:nvSpPr>
            <p:cNvPr id="57" name="Text 10">
              <a:extLst>
                <a:ext uri="{FF2B5EF4-FFF2-40B4-BE49-F238E27FC236}">
                  <a16:creationId xmlns:a16="http://schemas.microsoft.com/office/drawing/2014/main" id="{4EF10026-F574-15FA-FA1F-1D8DB41F1F5F}"/>
                </a:ext>
              </a:extLst>
            </p:cNvPr>
            <p:cNvSpPr/>
            <p:nvPr/>
          </p:nvSpPr>
          <p:spPr>
            <a:xfrm>
              <a:off x="3211548" y="3379470"/>
              <a:ext cx="2170422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altLang="ko-KR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False Positive (FP)</a:t>
              </a:r>
              <a:endParaRPr lang="en-US" sz="1050" dirty="0"/>
            </a:p>
          </p:txBody>
        </p:sp>
        <p:sp>
          <p:nvSpPr>
            <p:cNvPr id="58" name="Text 9">
              <a:extLst>
                <a:ext uri="{FF2B5EF4-FFF2-40B4-BE49-F238E27FC236}">
                  <a16:creationId xmlns:a16="http://schemas.microsoft.com/office/drawing/2014/main" id="{74210BDA-6673-C5BB-ADFD-15165DA8337E}"/>
                </a:ext>
              </a:extLst>
            </p:cNvPr>
            <p:cNvSpPr/>
            <p:nvPr/>
          </p:nvSpPr>
          <p:spPr>
            <a:xfrm>
              <a:off x="1212124" y="3825240"/>
              <a:ext cx="1808685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altLang="ko-KR" sz="135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</a:rPr>
                <a:t>14</a:t>
              </a:r>
              <a:endParaRPr lang="en-US" sz="1350" dirty="0"/>
            </a:p>
          </p:txBody>
        </p:sp>
        <p:sp>
          <p:nvSpPr>
            <p:cNvPr id="59" name="Text 10">
              <a:extLst>
                <a:ext uri="{FF2B5EF4-FFF2-40B4-BE49-F238E27FC236}">
                  <a16:creationId xmlns:a16="http://schemas.microsoft.com/office/drawing/2014/main" id="{A1798225-BBE2-10B3-4A01-FE0E83CE1E78}"/>
                </a:ext>
              </a:extLst>
            </p:cNvPr>
            <p:cNvSpPr/>
            <p:nvPr/>
          </p:nvSpPr>
          <p:spPr>
            <a:xfrm>
              <a:off x="1031256" y="4122420"/>
              <a:ext cx="2170422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altLang="ko-KR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False Negative (FN)</a:t>
              </a:r>
              <a:endPara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  <a:p>
              <a:pPr marL="0" indent="0" algn="ctr">
                <a:lnSpc>
                  <a:spcPts val="1500"/>
                </a:lnSpc>
                <a:buNone/>
              </a:pPr>
              <a:endParaRPr lang="en-US" sz="105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F4D21-3FFF-2660-49B0-6FCD2263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9037305-86C9-B45C-58F6-8AE8F0525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0C3D4093-D839-9A80-BEA0-74A925A0CDB9}"/>
              </a:ext>
            </a:extLst>
          </p:cNvPr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개선 타임라인</a:t>
            </a:r>
            <a:endParaRPr lang="en-US" sz="27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EC21BCEB-C800-1495-BAD1-60F86F27A359}"/>
              </a:ext>
            </a:extLst>
          </p:cNvPr>
          <p:cNvSpPr/>
          <p:nvPr/>
        </p:nvSpPr>
        <p:spPr>
          <a:xfrm>
            <a:off x="457200" y="11811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베이스 모델 대비 </a:t>
            </a:r>
            <a:r>
              <a:rPr lang="en-US" altLang="ko-KR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 </a:t>
            </a:r>
            <a:r>
              <a:rPr lang="ko-KR" alt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</a:t>
            </a:r>
            <a:r>
              <a:rPr lang="en-US" altLang="ko-KR" sz="15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24.6%</a:t>
            </a:r>
            <a:r>
              <a:rPr lang="ko-KR" alt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성능 향상을 이뤘습니다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5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95D4AE-FF5C-7244-0817-0F3FD689EF22}"/>
              </a:ext>
            </a:extLst>
          </p:cNvPr>
          <p:cNvSpPr/>
          <p:nvPr/>
        </p:nvSpPr>
        <p:spPr>
          <a:xfrm rot="20207471">
            <a:off x="7415876" y="4859302"/>
            <a:ext cx="1366903" cy="194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5" name="그림 34" descr="라인, 그래프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75DE31-F806-01E6-DE85-8B677A09F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78062"/>
            <a:ext cx="8773426" cy="4356037"/>
          </a:xfrm>
          <a:prstGeom prst="rect">
            <a:avLst/>
          </a:prstGeom>
        </p:spPr>
      </p:pic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D46BF4A-6833-94C3-13E0-A6036E0040A5}"/>
              </a:ext>
            </a:extLst>
          </p:cNvPr>
          <p:cNvCxnSpPr/>
          <p:nvPr/>
        </p:nvCxnSpPr>
        <p:spPr>
          <a:xfrm flipV="1">
            <a:off x="1219200" y="2519408"/>
            <a:ext cx="7546530" cy="2502622"/>
          </a:xfrm>
          <a:prstGeom prst="straightConnector1">
            <a:avLst/>
          </a:prstGeom>
          <a:ln w="22225">
            <a:solidFill>
              <a:srgbClr val="0C7437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4AAB1E1-44DB-D13B-A1E4-39E739599240}"/>
              </a:ext>
            </a:extLst>
          </p:cNvPr>
          <p:cNvSpPr txBox="1"/>
          <p:nvPr/>
        </p:nvSpPr>
        <p:spPr>
          <a:xfrm>
            <a:off x="4397107" y="3890919"/>
            <a:ext cx="11907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b="1" i="1" dirty="0">
                <a:solidFill>
                  <a:srgbClr val="0C7437"/>
                </a:solidFill>
                <a:latin typeface="+mn-ea"/>
              </a:rPr>
              <a:t>24.6% </a:t>
            </a:r>
            <a:r>
              <a:rPr kumimoji="1" lang="ko-KR" altLang="en-US" sz="1100" b="1" i="1" dirty="0">
                <a:solidFill>
                  <a:srgbClr val="0C7437"/>
                </a:solidFill>
                <a:latin typeface="+mn-ea"/>
              </a:rPr>
              <a:t>향상</a:t>
            </a:r>
            <a:endParaRPr kumimoji="1" lang="ko-KR" altLang="en-US" sz="1000" b="1" i="1" dirty="0">
              <a:solidFill>
                <a:srgbClr val="0C7437"/>
              </a:solidFill>
              <a:latin typeface="+mn-ea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2D891DB-F864-0D4A-12AC-2D78AAC61838}"/>
              </a:ext>
            </a:extLst>
          </p:cNvPr>
          <p:cNvGrpSpPr>
            <a:grpSpLocks noChangeAspect="1"/>
          </p:cNvGrpSpPr>
          <p:nvPr/>
        </p:nvGrpSpPr>
        <p:grpSpPr>
          <a:xfrm>
            <a:off x="9333685" y="2137064"/>
            <a:ext cx="2467862" cy="1008000"/>
            <a:chOff x="4998720" y="7673340"/>
            <a:chExt cx="2705100" cy="1104900"/>
          </a:xfrm>
        </p:grpSpPr>
        <p:pic>
          <p:nvPicPr>
            <p:cNvPr id="34" name="Image 3" descr="preencoded.png">
              <a:extLst>
                <a:ext uri="{FF2B5EF4-FFF2-40B4-BE49-F238E27FC236}">
                  <a16:creationId xmlns:a16="http://schemas.microsoft.com/office/drawing/2014/main" id="{200D5B14-4B9E-6D2F-2BE5-1C1B2CAF0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98720" y="7673340"/>
              <a:ext cx="2705100" cy="1104900"/>
            </a:xfrm>
            <a:prstGeom prst="rect">
              <a:avLst/>
            </a:prstGeom>
          </p:spPr>
        </p:pic>
        <p:pic>
          <p:nvPicPr>
            <p:cNvPr id="36" name="Image 4" descr="preencoded.png">
              <a:extLst>
                <a:ext uri="{FF2B5EF4-FFF2-40B4-BE49-F238E27FC236}">
                  <a16:creationId xmlns:a16="http://schemas.microsoft.com/office/drawing/2014/main" id="{4324218A-4FF1-357F-1B88-E5FD7D121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51120" y="8073390"/>
              <a:ext cx="228600" cy="304800"/>
            </a:xfrm>
            <a:prstGeom prst="rect">
              <a:avLst/>
            </a:prstGeom>
          </p:spPr>
        </p:pic>
        <p:sp>
          <p:nvSpPr>
            <p:cNvPr id="37" name="Text 2">
              <a:extLst>
                <a:ext uri="{FF2B5EF4-FFF2-40B4-BE49-F238E27FC236}">
                  <a16:creationId xmlns:a16="http://schemas.microsoft.com/office/drawing/2014/main" id="{6D1CFF2B-6A92-0C15-1C7E-1176A40CF87E}"/>
                </a:ext>
              </a:extLst>
            </p:cNvPr>
            <p:cNvSpPr/>
            <p:nvPr/>
          </p:nvSpPr>
          <p:spPr>
            <a:xfrm>
              <a:off x="5494020" y="7825740"/>
              <a:ext cx="1105644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350" b="1" dirty="0" err="1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기본</a:t>
              </a:r>
              <a:r>
                <a:rPr lang="en-US" sz="135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ko-KR" altLang="en-US" sz="1350" b="1" dirty="0" err="1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스태킹</a:t>
              </a:r>
              <a:endParaRPr lang="en-US" sz="1350" dirty="0"/>
            </a:p>
          </p:txBody>
        </p:sp>
        <p:sp>
          <p:nvSpPr>
            <p:cNvPr id="38" name="Text 3">
              <a:extLst>
                <a:ext uri="{FF2B5EF4-FFF2-40B4-BE49-F238E27FC236}">
                  <a16:creationId xmlns:a16="http://schemas.microsoft.com/office/drawing/2014/main" id="{56258A2C-BBDD-FE61-059A-AD65C133C6DB}"/>
                </a:ext>
              </a:extLst>
            </p:cNvPr>
            <p:cNvSpPr/>
            <p:nvPr/>
          </p:nvSpPr>
          <p:spPr>
            <a:xfrm>
              <a:off x="5494020" y="8092440"/>
              <a:ext cx="132677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ko-KR" alt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모델 결합</a:t>
              </a:r>
              <a:endParaRPr lang="en-US" sz="1200" dirty="0"/>
            </a:p>
          </p:txBody>
        </p:sp>
        <p:sp>
          <p:nvSpPr>
            <p:cNvPr id="39" name="Text 4">
              <a:extLst>
                <a:ext uri="{FF2B5EF4-FFF2-40B4-BE49-F238E27FC236}">
                  <a16:creationId xmlns:a16="http://schemas.microsoft.com/office/drawing/2014/main" id="{893A9708-E438-C75A-501C-1F7DE4A2B7AE}"/>
                </a:ext>
              </a:extLst>
            </p:cNvPr>
            <p:cNvSpPr/>
            <p:nvPr/>
          </p:nvSpPr>
          <p:spPr>
            <a:xfrm>
              <a:off x="5494020" y="8321040"/>
              <a:ext cx="1326773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altLang="ko-KR" sz="18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+</a:t>
              </a:r>
              <a:r>
                <a:rPr lang="en-US" sz="18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3</a:t>
              </a:r>
              <a:r>
                <a:rPr lang="en-US" altLang="ko-KR" sz="18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.0%</a:t>
              </a:r>
              <a:r>
                <a:rPr lang="ko-KR" altLang="en-US" sz="18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향상</a:t>
              </a:r>
              <a:endParaRPr lang="en-US" sz="18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F79B81C-903C-B6F8-63A9-A7445E8448B6}"/>
              </a:ext>
            </a:extLst>
          </p:cNvPr>
          <p:cNvGrpSpPr>
            <a:grpSpLocks noChangeAspect="1"/>
          </p:cNvGrpSpPr>
          <p:nvPr/>
        </p:nvGrpSpPr>
        <p:grpSpPr>
          <a:xfrm>
            <a:off x="9333685" y="3145064"/>
            <a:ext cx="2467862" cy="1008000"/>
            <a:chOff x="7856220" y="7673340"/>
            <a:chExt cx="2705100" cy="1104900"/>
          </a:xfrm>
        </p:grpSpPr>
        <p:pic>
          <p:nvPicPr>
            <p:cNvPr id="41" name="Image 5" descr="preencoded.png">
              <a:extLst>
                <a:ext uri="{FF2B5EF4-FFF2-40B4-BE49-F238E27FC236}">
                  <a16:creationId xmlns:a16="http://schemas.microsoft.com/office/drawing/2014/main" id="{B83D7FC4-17AD-25E1-B066-B00A1415E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56220" y="7673340"/>
              <a:ext cx="2705100" cy="1104900"/>
            </a:xfrm>
            <a:prstGeom prst="rect">
              <a:avLst/>
            </a:prstGeom>
          </p:spPr>
        </p:pic>
        <p:pic>
          <p:nvPicPr>
            <p:cNvPr id="42" name="Image 6" descr="preencoded.png">
              <a:extLst>
                <a:ext uri="{FF2B5EF4-FFF2-40B4-BE49-F238E27FC236}">
                  <a16:creationId xmlns:a16="http://schemas.microsoft.com/office/drawing/2014/main" id="{A61E2AFA-7864-1FCD-B46C-C9097B58E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08620" y="8073390"/>
              <a:ext cx="228600" cy="304800"/>
            </a:xfrm>
            <a:prstGeom prst="rect">
              <a:avLst/>
            </a:prstGeom>
          </p:spPr>
        </p:pic>
        <p:sp>
          <p:nvSpPr>
            <p:cNvPr id="43" name="Text 5">
              <a:extLst>
                <a:ext uri="{FF2B5EF4-FFF2-40B4-BE49-F238E27FC236}">
                  <a16:creationId xmlns:a16="http://schemas.microsoft.com/office/drawing/2014/main" id="{E713D840-6AC5-A6E4-8DB1-382480CCA9FB}"/>
                </a:ext>
              </a:extLst>
            </p:cNvPr>
            <p:cNvSpPr/>
            <p:nvPr/>
          </p:nvSpPr>
          <p:spPr>
            <a:xfrm>
              <a:off x="8351520" y="7825740"/>
              <a:ext cx="1410355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ko-KR" altLang="en-US" sz="135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</a:rPr>
                <a:t>특성 엔지니어링</a:t>
              </a:r>
              <a:endParaRPr lang="en-US" sz="1350" dirty="0"/>
            </a:p>
          </p:txBody>
        </p:sp>
        <p:sp>
          <p:nvSpPr>
            <p:cNvPr id="44" name="Text 6">
              <a:extLst>
                <a:ext uri="{FF2B5EF4-FFF2-40B4-BE49-F238E27FC236}">
                  <a16:creationId xmlns:a16="http://schemas.microsoft.com/office/drawing/2014/main" id="{C4F5D8BC-3164-17F9-32BC-13D6562F9E77}"/>
                </a:ext>
              </a:extLst>
            </p:cNvPr>
            <p:cNvSpPr/>
            <p:nvPr/>
          </p:nvSpPr>
          <p:spPr>
            <a:xfrm>
              <a:off x="8351520" y="8092440"/>
              <a:ext cx="1175296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ko-KR" altLang="en-US" sz="1200" dirty="0">
                  <a:solidFill>
                    <a:srgbClr val="4B5563"/>
                  </a:solidFill>
                  <a:latin typeface="Noto Sans KR" pitchFamily="34" charset="0"/>
                </a:rPr>
                <a:t>파생변수</a:t>
              </a:r>
              <a:endParaRPr lang="en-US" sz="1200" dirty="0"/>
            </a:p>
          </p:txBody>
        </p:sp>
        <p:sp>
          <p:nvSpPr>
            <p:cNvPr id="45" name="Text 7">
              <a:extLst>
                <a:ext uri="{FF2B5EF4-FFF2-40B4-BE49-F238E27FC236}">
                  <a16:creationId xmlns:a16="http://schemas.microsoft.com/office/drawing/2014/main" id="{D6822609-3C59-406A-0D3B-D7F22668F096}"/>
                </a:ext>
              </a:extLst>
            </p:cNvPr>
            <p:cNvSpPr/>
            <p:nvPr/>
          </p:nvSpPr>
          <p:spPr>
            <a:xfrm>
              <a:off x="8351519" y="8321042"/>
              <a:ext cx="1524119" cy="304799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sz="18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+</a:t>
              </a:r>
              <a:r>
                <a:rPr lang="en-US" altLang="ko-KR" sz="18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12</a:t>
              </a:r>
              <a:r>
                <a:rPr lang="en-US" sz="18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</a:t>
              </a:r>
              <a:r>
                <a:rPr lang="en-US" altLang="ko-KR" sz="18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</a:t>
              </a:r>
              <a:r>
                <a:rPr lang="en-US" sz="18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% 향상</a:t>
              </a:r>
              <a:endParaRPr lang="en-US" sz="1800" dirty="0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EC90326-F96C-6A7E-6BF0-368D843F2897}"/>
              </a:ext>
            </a:extLst>
          </p:cNvPr>
          <p:cNvGrpSpPr>
            <a:grpSpLocks noChangeAspect="1"/>
          </p:cNvGrpSpPr>
          <p:nvPr/>
        </p:nvGrpSpPr>
        <p:grpSpPr>
          <a:xfrm>
            <a:off x="9333685" y="4153064"/>
            <a:ext cx="2467862" cy="1008000"/>
            <a:chOff x="10713720" y="7673340"/>
            <a:chExt cx="2705100" cy="1104900"/>
          </a:xfrm>
        </p:grpSpPr>
        <p:pic>
          <p:nvPicPr>
            <p:cNvPr id="47" name="Image 7" descr="preencoded.png">
              <a:extLst>
                <a:ext uri="{FF2B5EF4-FFF2-40B4-BE49-F238E27FC236}">
                  <a16:creationId xmlns:a16="http://schemas.microsoft.com/office/drawing/2014/main" id="{52D701A3-8EEB-B29B-75AE-C878FD2B6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713720" y="7673340"/>
              <a:ext cx="2705100" cy="1104900"/>
            </a:xfrm>
            <a:prstGeom prst="rect">
              <a:avLst/>
            </a:prstGeom>
          </p:spPr>
        </p:pic>
        <p:pic>
          <p:nvPicPr>
            <p:cNvPr id="48" name="Image 8" descr="preencoded.png">
              <a:extLst>
                <a:ext uri="{FF2B5EF4-FFF2-40B4-BE49-F238E27FC236}">
                  <a16:creationId xmlns:a16="http://schemas.microsoft.com/office/drawing/2014/main" id="{E6D12DB1-2B4C-C55A-640D-CCFD60ACE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866120" y="8073390"/>
              <a:ext cx="228600" cy="304800"/>
            </a:xfrm>
            <a:prstGeom prst="rect">
              <a:avLst/>
            </a:prstGeom>
          </p:spPr>
        </p:pic>
        <p:sp>
          <p:nvSpPr>
            <p:cNvPr id="49" name="Text 8">
              <a:extLst>
                <a:ext uri="{FF2B5EF4-FFF2-40B4-BE49-F238E27FC236}">
                  <a16:creationId xmlns:a16="http://schemas.microsoft.com/office/drawing/2014/main" id="{43BDBD11-FF60-90B6-8E11-D59CFA457838}"/>
                </a:ext>
              </a:extLst>
            </p:cNvPr>
            <p:cNvSpPr/>
            <p:nvPr/>
          </p:nvSpPr>
          <p:spPr>
            <a:xfrm>
              <a:off x="11209020" y="7825740"/>
              <a:ext cx="1908989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하이퍼파라미터 튜닝</a:t>
              </a:r>
              <a:endParaRPr lang="en-US" sz="1350" dirty="0"/>
            </a:p>
          </p:txBody>
        </p:sp>
        <p:sp>
          <p:nvSpPr>
            <p:cNvPr id="50" name="Text 9">
              <a:extLst>
                <a:ext uri="{FF2B5EF4-FFF2-40B4-BE49-F238E27FC236}">
                  <a16:creationId xmlns:a16="http://schemas.microsoft.com/office/drawing/2014/main" id="{906A53DD-855F-2E00-EABE-C7FA2A7E9A5E}"/>
                </a:ext>
              </a:extLst>
            </p:cNvPr>
            <p:cNvSpPr/>
            <p:nvPr/>
          </p:nvSpPr>
          <p:spPr>
            <a:xfrm>
              <a:off x="11209020" y="8092440"/>
              <a:ext cx="1908989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XGBoost &amp; LightGBM</a:t>
              </a:r>
              <a:endParaRPr lang="en-US" sz="1200" dirty="0"/>
            </a:p>
          </p:txBody>
        </p:sp>
        <p:sp>
          <p:nvSpPr>
            <p:cNvPr id="51" name="Text 10">
              <a:extLst>
                <a:ext uri="{FF2B5EF4-FFF2-40B4-BE49-F238E27FC236}">
                  <a16:creationId xmlns:a16="http://schemas.microsoft.com/office/drawing/2014/main" id="{E6B71EB2-B4AB-8344-55CA-6DD217CE011E}"/>
                </a:ext>
              </a:extLst>
            </p:cNvPr>
            <p:cNvSpPr/>
            <p:nvPr/>
          </p:nvSpPr>
          <p:spPr>
            <a:xfrm>
              <a:off x="11209020" y="8321040"/>
              <a:ext cx="1908989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sz="1800" b="1" dirty="0">
                  <a:solidFill>
                    <a:srgbClr val="3B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+</a:t>
              </a:r>
              <a:r>
                <a:rPr lang="en-US" altLang="ko-KR" b="1" dirty="0">
                  <a:solidFill>
                    <a:srgbClr val="3B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6</a:t>
              </a:r>
              <a:r>
                <a:rPr lang="en-US" sz="1800" b="1" dirty="0">
                  <a:solidFill>
                    <a:srgbClr val="3B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</a:t>
              </a:r>
              <a:r>
                <a:rPr lang="en-US" altLang="ko-KR" sz="1800" b="1" dirty="0">
                  <a:solidFill>
                    <a:srgbClr val="3B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9</a:t>
              </a:r>
              <a:r>
                <a:rPr lang="en-US" sz="1800" b="1" dirty="0">
                  <a:solidFill>
                    <a:srgbClr val="3B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% 향상</a:t>
              </a:r>
              <a:endParaRPr lang="en-US" sz="1800" dirty="0"/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72BCA74-F0F6-8EE1-D377-DB0B78BD1FAF}"/>
              </a:ext>
            </a:extLst>
          </p:cNvPr>
          <p:cNvGrpSpPr>
            <a:grpSpLocks noChangeAspect="1"/>
          </p:cNvGrpSpPr>
          <p:nvPr/>
        </p:nvGrpSpPr>
        <p:grpSpPr>
          <a:xfrm>
            <a:off x="9333685" y="5172900"/>
            <a:ext cx="2467862" cy="1008000"/>
            <a:chOff x="13571220" y="7673340"/>
            <a:chExt cx="2705100" cy="1104900"/>
          </a:xfrm>
        </p:grpSpPr>
        <p:pic>
          <p:nvPicPr>
            <p:cNvPr id="53" name="Image 9" descr="preencoded.png">
              <a:extLst>
                <a:ext uri="{FF2B5EF4-FFF2-40B4-BE49-F238E27FC236}">
                  <a16:creationId xmlns:a16="http://schemas.microsoft.com/office/drawing/2014/main" id="{42357E6C-4445-44BF-F5CD-2EC21C0F8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3571220" y="7673340"/>
              <a:ext cx="2705100" cy="1104900"/>
            </a:xfrm>
            <a:prstGeom prst="rect">
              <a:avLst/>
            </a:prstGeom>
          </p:spPr>
        </p:pic>
        <p:pic>
          <p:nvPicPr>
            <p:cNvPr id="54" name="Image 10" descr="preencoded.png">
              <a:extLst>
                <a:ext uri="{FF2B5EF4-FFF2-40B4-BE49-F238E27FC236}">
                  <a16:creationId xmlns:a16="http://schemas.microsoft.com/office/drawing/2014/main" id="{362E2752-D2D4-352E-7317-5F7C4E8CA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723620" y="8073390"/>
              <a:ext cx="257175" cy="304800"/>
            </a:xfrm>
            <a:prstGeom prst="rect">
              <a:avLst/>
            </a:prstGeom>
          </p:spPr>
        </p:pic>
        <p:sp>
          <p:nvSpPr>
            <p:cNvPr id="55" name="Text 11">
              <a:extLst>
                <a:ext uri="{FF2B5EF4-FFF2-40B4-BE49-F238E27FC236}">
                  <a16:creationId xmlns:a16="http://schemas.microsoft.com/office/drawing/2014/main" id="{838A0855-5242-4A6F-8E65-412D2BEFC9FA}"/>
                </a:ext>
              </a:extLst>
            </p:cNvPr>
            <p:cNvSpPr/>
            <p:nvPr/>
          </p:nvSpPr>
          <p:spPr>
            <a:xfrm>
              <a:off x="14095095" y="7825740"/>
              <a:ext cx="1105644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최종 모델</a:t>
              </a:r>
              <a:endParaRPr lang="en-US" sz="1350" dirty="0"/>
            </a:p>
          </p:txBody>
        </p:sp>
        <p:sp>
          <p:nvSpPr>
            <p:cNvPr id="56" name="Text 12">
              <a:extLst>
                <a:ext uri="{FF2B5EF4-FFF2-40B4-BE49-F238E27FC236}">
                  <a16:creationId xmlns:a16="http://schemas.microsoft.com/office/drawing/2014/main" id="{39150D2B-FD55-56E5-9E86-319D466974BB}"/>
                </a:ext>
              </a:extLst>
            </p:cNvPr>
            <p:cNvSpPr/>
            <p:nvPr/>
          </p:nvSpPr>
          <p:spPr>
            <a:xfrm>
              <a:off x="14095095" y="8092440"/>
              <a:ext cx="132677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최적화 &amp; 안정화</a:t>
              </a:r>
              <a:endParaRPr lang="en-US" sz="1200" dirty="0"/>
            </a:p>
          </p:txBody>
        </p:sp>
        <p:sp>
          <p:nvSpPr>
            <p:cNvPr id="57" name="Text 13">
              <a:extLst>
                <a:ext uri="{FF2B5EF4-FFF2-40B4-BE49-F238E27FC236}">
                  <a16:creationId xmlns:a16="http://schemas.microsoft.com/office/drawing/2014/main" id="{982A0C85-8BB5-B4FF-119B-487984249F4A}"/>
                </a:ext>
              </a:extLst>
            </p:cNvPr>
            <p:cNvSpPr/>
            <p:nvPr/>
          </p:nvSpPr>
          <p:spPr>
            <a:xfrm>
              <a:off x="14095095" y="8321040"/>
              <a:ext cx="1326773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sz="1800" b="1" dirty="0">
                  <a:solidFill>
                    <a:srgbClr val="EAB3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F1: 0.9</a:t>
              </a:r>
              <a:r>
                <a:rPr lang="en-US" altLang="ko-KR" sz="1800" b="1" dirty="0">
                  <a:solidFill>
                    <a:srgbClr val="EAB3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188</a:t>
              </a:r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511966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680" y="1699871"/>
            <a:ext cx="3048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930" y="1776071"/>
            <a:ext cx="13335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680" y="2538071"/>
            <a:ext cx="3048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930" y="2614271"/>
            <a:ext cx="1143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6680" y="3376271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1930" y="3452471"/>
            <a:ext cx="1143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6680" y="4214471"/>
            <a:ext cx="3048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3830" y="4290671"/>
            <a:ext cx="1905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6680" y="5052671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3830" y="5128871"/>
            <a:ext cx="190500" cy="1524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특성 중요도 Top 10</a:t>
            </a:r>
            <a:endParaRPr lang="en-US" sz="2700" dirty="0"/>
          </a:p>
        </p:txBody>
      </p:sp>
      <p:sp>
        <p:nvSpPr>
          <p:cNvPr id="17" name="Text 2"/>
          <p:cNvSpPr/>
          <p:nvPr/>
        </p:nvSpPr>
        <p:spPr>
          <a:xfrm>
            <a:off x="6875780" y="1699871"/>
            <a:ext cx="4991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만료까지 남은 기간</a:t>
            </a:r>
            <a:endParaRPr lang="en-US" sz="1350" dirty="0"/>
          </a:p>
        </p:txBody>
      </p:sp>
      <p:sp>
        <p:nvSpPr>
          <p:cNvPr id="18" name="Text 3"/>
          <p:cNvSpPr/>
          <p:nvPr/>
        </p:nvSpPr>
        <p:spPr>
          <a:xfrm>
            <a:off x="6875780" y="1966571"/>
            <a:ext cx="4991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만료 시점에 고객의 재계약 의사를 적극적으로 유도하는 전략이 필요함을 시사합니다.</a:t>
            </a:r>
            <a:endParaRPr lang="en-US" sz="1200" dirty="0"/>
          </a:p>
        </p:txBody>
      </p:sp>
      <p:sp>
        <p:nvSpPr>
          <p:cNvPr id="19" name="Text 4"/>
          <p:cNvSpPr/>
          <p:nvPr/>
        </p:nvSpPr>
        <p:spPr>
          <a:xfrm>
            <a:off x="6875780" y="2538071"/>
            <a:ext cx="4991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회원 유지 기간</a:t>
            </a:r>
            <a:endParaRPr lang="en-US" sz="1350" dirty="0"/>
          </a:p>
        </p:txBody>
      </p:sp>
      <p:sp>
        <p:nvSpPr>
          <p:cNvPr id="20" name="Text 5"/>
          <p:cNvSpPr/>
          <p:nvPr/>
        </p:nvSpPr>
        <p:spPr>
          <a:xfrm>
            <a:off x="6875780" y="2804771"/>
            <a:ext cx="4991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고객의 충성도를 나타내며, 장기 관계 유지에 중요한 영향을 미칩니다.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6875780" y="3376271"/>
            <a:ext cx="4991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유형 및 기간</a:t>
            </a:r>
            <a:endParaRPr lang="en-US" sz="1350" dirty="0"/>
          </a:p>
        </p:txBody>
      </p:sp>
      <p:sp>
        <p:nvSpPr>
          <p:cNvPr id="22" name="Text 7"/>
          <p:cNvSpPr/>
          <p:nvPr/>
        </p:nvSpPr>
        <p:spPr>
          <a:xfrm>
            <a:off x="6875780" y="3642971"/>
            <a:ext cx="4991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계약 고객의 이탈 위험이 높으므로, 장기 계약 전략의 필요성을 보여줍니다.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6875780" y="4214471"/>
            <a:ext cx="4991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수업 참여 빈도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6875780" y="4481171"/>
            <a:ext cx="4991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활동성 감소는 이탈의 중요한 신호이므로, 적극적인 수업 참여 유도가 필요합니다.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6875780" y="5052671"/>
            <a:ext cx="4991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 수업 참여도</a:t>
            </a:r>
            <a:endParaRPr lang="en-US" sz="1350" dirty="0"/>
          </a:p>
        </p:txBody>
      </p:sp>
      <p:sp>
        <p:nvSpPr>
          <p:cNvPr id="26" name="Text 11"/>
          <p:cNvSpPr/>
          <p:nvPr/>
        </p:nvSpPr>
        <p:spPr>
          <a:xfrm>
            <a:off x="6875780" y="5319371"/>
            <a:ext cx="4991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활용도 및 만족도를 반영하며, 리텐션 전략에 중요한 기초 자료입니다.</a:t>
            </a:r>
            <a:endParaRPr lang="en-US" sz="1200" dirty="0"/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F93D3415-1572-7F8D-0E13-A06D7DCEA3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9142104"/>
              </p:ext>
            </p:extLst>
          </p:nvPr>
        </p:nvGraphicFramePr>
        <p:xfrm>
          <a:off x="0" y="1456923"/>
          <a:ext cx="6149340" cy="4295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040A6-DC10-3C3E-9F1B-D210CD8BC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302D4-E875-4492-9645-7E1035202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9BDDC09-2A2F-4CC0-B05E-1CF9D30E3095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EC7D1-BFFA-DE04-4E3A-6C22BF9CD47B}"/>
              </a:ext>
            </a:extLst>
          </p:cNvPr>
          <p:cNvSpPr txBox="1"/>
          <p:nvPr/>
        </p:nvSpPr>
        <p:spPr>
          <a:xfrm>
            <a:off x="609598" y="274320"/>
            <a:ext cx="9573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8D"/>
                </a:solidFill>
              </a:defRPr>
            </a:pPr>
            <a:r>
              <a:rPr lang="ko-KR" altLang="en-US" sz="3200" dirty="0">
                <a:solidFill>
                  <a:schemeClr val="bg1"/>
                </a:solidFill>
                <a:latin typeface="+mj-lt"/>
              </a:rPr>
              <a:t>목차</a:t>
            </a:r>
            <a:endParaRPr sz="32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EEC48D9-5128-21A6-DE8F-516FB6E6723F}"/>
              </a:ext>
            </a:extLst>
          </p:cNvPr>
          <p:cNvGrpSpPr/>
          <p:nvPr/>
        </p:nvGrpSpPr>
        <p:grpSpPr>
          <a:xfrm>
            <a:off x="609598" y="1116129"/>
            <a:ext cx="1698704" cy="896362"/>
            <a:chOff x="1371344" y="1312582"/>
            <a:chExt cx="1698704" cy="896362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1CB1003-63A3-79F1-A0C2-8B377974B9FA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A2C5EE2-7236-1628-28F4-907DAFDEDA5B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01</a:t>
              </a:r>
              <a:endParaRPr kumimoji="1" lang="ko-KR" altLang="en-US" sz="2800" b="1" dirty="0"/>
            </a:p>
          </p:txBody>
        </p:sp>
        <p:sp>
          <p:nvSpPr>
            <p:cNvPr id="14" name="직각 삼각형[R] 13">
              <a:extLst>
                <a:ext uri="{FF2B5EF4-FFF2-40B4-BE49-F238E27FC236}">
                  <a16:creationId xmlns:a16="http://schemas.microsoft.com/office/drawing/2014/main" id="{4CC6183E-BE2F-D23C-8BAF-CF86BA044E2C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수동 입력 15">
              <a:extLst>
                <a:ext uri="{FF2B5EF4-FFF2-40B4-BE49-F238E27FC236}">
                  <a16:creationId xmlns:a16="http://schemas.microsoft.com/office/drawing/2014/main" id="{B51EBE2F-0761-3D97-9731-A6A3FA82FACF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삼각형 16">
              <a:extLst>
                <a:ext uri="{FF2B5EF4-FFF2-40B4-BE49-F238E27FC236}">
                  <a16:creationId xmlns:a16="http://schemas.microsoft.com/office/drawing/2014/main" id="{AA59E328-5FF6-6E44-0E74-5029C5FAB446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9AE17CE-6E6C-80D3-C9D7-778F63390AF0}"/>
              </a:ext>
            </a:extLst>
          </p:cNvPr>
          <p:cNvGrpSpPr/>
          <p:nvPr/>
        </p:nvGrpSpPr>
        <p:grpSpPr>
          <a:xfrm>
            <a:off x="609598" y="2216885"/>
            <a:ext cx="1698704" cy="896362"/>
            <a:chOff x="1371344" y="1312582"/>
            <a:chExt cx="1698704" cy="89636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E623775-AA0A-DFD7-0CE3-6BA99228CCD4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2000" b="1">
                  <a:solidFill>
                    <a:srgbClr val="00338D"/>
                  </a:solidFill>
                </a:defRPr>
              </a:pPr>
              <a:r>
                <a:rPr lang="ko-KR" altLang="en-US" sz="2400" b="1" dirty="0">
                  <a:latin typeface="+mj-lt"/>
                </a:rPr>
                <a:t>   </a:t>
              </a:r>
              <a:endParaRPr lang="ko-KR" altLang="en-US" sz="3600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774144A-04BD-C9FE-58F9-E644807C50D7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02</a:t>
              </a:r>
              <a:endParaRPr kumimoji="1" lang="ko-KR" altLang="en-US" sz="2800" b="1" dirty="0"/>
            </a:p>
          </p:txBody>
        </p:sp>
        <p:sp>
          <p:nvSpPr>
            <p:cNvPr id="10" name="직각 삼각형[R] 9">
              <a:extLst>
                <a:ext uri="{FF2B5EF4-FFF2-40B4-BE49-F238E27FC236}">
                  <a16:creationId xmlns:a16="http://schemas.microsoft.com/office/drawing/2014/main" id="{38B583EA-11B9-F0F8-4413-A1AAA4B1E37F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수동 입력 10">
              <a:extLst>
                <a:ext uri="{FF2B5EF4-FFF2-40B4-BE49-F238E27FC236}">
                  <a16:creationId xmlns:a16="http://schemas.microsoft.com/office/drawing/2014/main" id="{CB5631A6-7612-6099-895C-ECB96CA699D4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삼각형 11">
              <a:extLst>
                <a:ext uri="{FF2B5EF4-FFF2-40B4-BE49-F238E27FC236}">
                  <a16:creationId xmlns:a16="http://schemas.microsoft.com/office/drawing/2014/main" id="{ABDCAFF8-3195-7266-FF08-BE7E7B7E5D0D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0A8ECDD-6E02-A24B-45C8-64EBED16AC20}"/>
              </a:ext>
            </a:extLst>
          </p:cNvPr>
          <p:cNvGrpSpPr/>
          <p:nvPr/>
        </p:nvGrpSpPr>
        <p:grpSpPr>
          <a:xfrm>
            <a:off x="609598" y="3319020"/>
            <a:ext cx="1698704" cy="896362"/>
            <a:chOff x="1371344" y="1312582"/>
            <a:chExt cx="1698704" cy="896362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D1E8089-9F9F-F03B-88CC-01B2C4B2F241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8D"/>
                  </a:solidFill>
                </a:defRPr>
              </a:pPr>
              <a:endPara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338D"/>
                </a:solidFill>
                <a:effectLst/>
                <a:uLnTx/>
                <a:uFillTx/>
                <a:latin typeface="+mj-lt"/>
                <a:ea typeface="나눔고딕"/>
                <a:cs typeface="+mn-cs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D26CE35-7AEC-6B74-E108-64893047BA53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03</a:t>
              </a:r>
              <a:endParaRPr kumimoji="1" lang="ko-KR" altLang="en-US" sz="2800" b="1" dirty="0"/>
            </a:p>
          </p:txBody>
        </p:sp>
        <p:sp>
          <p:nvSpPr>
            <p:cNvPr id="20" name="직각 삼각형[R] 19">
              <a:extLst>
                <a:ext uri="{FF2B5EF4-FFF2-40B4-BE49-F238E27FC236}">
                  <a16:creationId xmlns:a16="http://schemas.microsoft.com/office/drawing/2014/main" id="{37D189AC-E1C6-8294-D058-7D7BE2D4BC8B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0" name="수동 입력 39">
              <a:extLst>
                <a:ext uri="{FF2B5EF4-FFF2-40B4-BE49-F238E27FC236}">
                  <a16:creationId xmlns:a16="http://schemas.microsoft.com/office/drawing/2014/main" id="{93128C50-A2DE-CEDB-234F-DF6749EABED2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1" name="삼각형 40">
              <a:extLst>
                <a:ext uri="{FF2B5EF4-FFF2-40B4-BE49-F238E27FC236}">
                  <a16:creationId xmlns:a16="http://schemas.microsoft.com/office/drawing/2014/main" id="{6DAE87D3-64CC-0A1D-8682-137CC92B8823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C96C2B5-FCA3-B8E0-8B72-EC97A54F73C6}"/>
              </a:ext>
            </a:extLst>
          </p:cNvPr>
          <p:cNvGrpSpPr/>
          <p:nvPr/>
        </p:nvGrpSpPr>
        <p:grpSpPr>
          <a:xfrm>
            <a:off x="609598" y="4420530"/>
            <a:ext cx="9323083" cy="896362"/>
            <a:chOff x="1371344" y="1312582"/>
            <a:chExt cx="9323083" cy="89636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131F4B3-76D2-0965-CA4B-DD7D22B671D4}"/>
                </a:ext>
              </a:extLst>
            </p:cNvPr>
            <p:cNvSpPr/>
            <p:nvPr/>
          </p:nvSpPr>
          <p:spPr>
            <a:xfrm>
              <a:off x="2414427" y="1489753"/>
              <a:ext cx="8280000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개선 방안</a:t>
              </a:r>
              <a:endParaRPr lang="ko-KR" altLang="en-US" sz="2400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997558F-E44D-7809-C860-9F25A9CB23E9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04</a:t>
              </a:r>
              <a:endParaRPr kumimoji="1" lang="ko-KR" altLang="en-US" sz="2800" b="1" dirty="0"/>
            </a:p>
          </p:txBody>
        </p:sp>
        <p:sp>
          <p:nvSpPr>
            <p:cNvPr id="23" name="직각 삼각형[R] 22">
              <a:extLst>
                <a:ext uri="{FF2B5EF4-FFF2-40B4-BE49-F238E27FC236}">
                  <a16:creationId xmlns:a16="http://schemas.microsoft.com/office/drawing/2014/main" id="{DCEA1B28-7AE3-A791-C2BB-257B8AAAD844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4" name="수동 입력 23">
              <a:extLst>
                <a:ext uri="{FF2B5EF4-FFF2-40B4-BE49-F238E27FC236}">
                  <a16:creationId xmlns:a16="http://schemas.microsoft.com/office/drawing/2014/main" id="{AD8593A4-7E95-4031-3F0D-14D4F064D6FB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5" name="삼각형 24">
              <a:extLst>
                <a:ext uri="{FF2B5EF4-FFF2-40B4-BE49-F238E27FC236}">
                  <a16:creationId xmlns:a16="http://schemas.microsoft.com/office/drawing/2014/main" id="{6DF35FCD-8161-FDC8-A99F-EF6F60F6C219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2773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57300"/>
            <a:ext cx="5524500" cy="2247900"/>
          </a:xfrm>
          <a:prstGeom prst="rect">
            <a:avLst/>
          </a:prstGeom>
          <a:ln>
            <a:noFill/>
          </a:ln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4859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1562100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1336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5650" y="21336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1257300"/>
            <a:ext cx="5524500" cy="2247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14859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7488" y="1562100"/>
            <a:ext cx="20002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21336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21336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733800"/>
            <a:ext cx="5524500" cy="2247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962400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40386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6101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5650" y="46101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3733800"/>
            <a:ext cx="5524500" cy="2247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3962400"/>
            <a:ext cx="4572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4038600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46101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4610100"/>
            <a:ext cx="152400" cy="1524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</a:t>
            </a:r>
            <a:r>
              <a:rPr lang="ko-KR" alt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특성</a:t>
            </a:r>
            <a:r>
              <a:rPr lang="en-US" sz="27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</a:t>
            </a: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이탈 패턴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1295400" y="1581150"/>
            <a:ext cx="2774795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</a:t>
            </a: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</a:t>
            </a:r>
            <a:r>
              <a:rPr lang="ko-KR" alt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 </a:t>
            </a:r>
            <a:r>
              <a:rPr lang="en-US" altLang="ko-KR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r>
              <a:rPr lang="ko-KR" altLang="en-US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 이내</a:t>
            </a:r>
            <a:r>
              <a:rPr lang="en-US" altLang="ko-KR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500" dirty="0"/>
          </a:p>
        </p:txBody>
      </p:sp>
      <p:sp>
        <p:nvSpPr>
          <p:cNvPr id="27" name="Text 3"/>
          <p:cNvSpPr/>
          <p:nvPr/>
        </p:nvSpPr>
        <p:spPr>
          <a:xfrm>
            <a:off x="914400" y="20955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원인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723900" y="24003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적응 실패</a:t>
            </a:r>
            <a:endParaRPr lang="en-US" sz="1050" dirty="0"/>
          </a:p>
        </p:txBody>
      </p:sp>
      <p:sp>
        <p:nvSpPr>
          <p:cNvPr id="29" name="Text 5"/>
          <p:cNvSpPr/>
          <p:nvPr/>
        </p:nvSpPr>
        <p:spPr>
          <a:xfrm>
            <a:off x="723900" y="25908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불일치</a:t>
            </a:r>
            <a:endParaRPr lang="en-US" sz="1050" dirty="0"/>
          </a:p>
        </p:txBody>
      </p:sp>
      <p:sp>
        <p:nvSpPr>
          <p:cNvPr id="30" name="Text 6"/>
          <p:cNvSpPr/>
          <p:nvPr/>
        </p:nvSpPr>
        <p:spPr>
          <a:xfrm>
            <a:off x="723900" y="27813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동기 부여 상실</a:t>
            </a:r>
            <a:endParaRPr lang="en-US" sz="1050" dirty="0"/>
          </a:p>
        </p:txBody>
      </p:sp>
      <p:sp>
        <p:nvSpPr>
          <p:cNvPr id="31" name="Text 7"/>
          <p:cNvSpPr/>
          <p:nvPr/>
        </p:nvSpPr>
        <p:spPr>
          <a:xfrm>
            <a:off x="3524250" y="20955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3333750" y="24003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참여율 저조</a:t>
            </a:r>
            <a:endParaRPr lang="en-US" sz="1050" dirty="0"/>
          </a:p>
        </p:txBody>
      </p:sp>
      <p:sp>
        <p:nvSpPr>
          <p:cNvPr id="33" name="Text 9"/>
          <p:cNvSpPr/>
          <p:nvPr/>
        </p:nvSpPr>
        <p:spPr>
          <a:xfrm>
            <a:off x="3333750" y="25908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시설 이용 빈도 낮음</a:t>
            </a:r>
            <a:endParaRPr lang="en-US" sz="1050" dirty="0"/>
          </a:p>
        </p:txBody>
      </p:sp>
      <p:sp>
        <p:nvSpPr>
          <p:cNvPr id="34" name="Text 10"/>
          <p:cNvSpPr/>
          <p:nvPr/>
        </p:nvSpPr>
        <p:spPr>
          <a:xfrm>
            <a:off x="7048499" y="1581150"/>
            <a:ext cx="3333285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만료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임박</a:t>
            </a: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</a:t>
            </a:r>
            <a:r>
              <a:rPr lang="ko-KR" alt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만기 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1~2</a:t>
            </a:r>
            <a:r>
              <a:rPr lang="ko-KR" alt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 전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500" dirty="0"/>
          </a:p>
        </p:txBody>
      </p:sp>
      <p:sp>
        <p:nvSpPr>
          <p:cNvPr id="36" name="Text 12"/>
          <p:cNvSpPr/>
          <p:nvPr/>
        </p:nvSpPr>
        <p:spPr>
          <a:xfrm>
            <a:off x="6667500" y="20955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원인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6477000" y="24003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재계약 필요성 인지 부족</a:t>
            </a:r>
            <a:endParaRPr lang="en-US" sz="1050" dirty="0"/>
          </a:p>
        </p:txBody>
      </p:sp>
      <p:sp>
        <p:nvSpPr>
          <p:cNvPr id="38" name="Text 14"/>
          <p:cNvSpPr/>
          <p:nvPr/>
        </p:nvSpPr>
        <p:spPr>
          <a:xfrm>
            <a:off x="6477000" y="25908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헬스장 비교</a:t>
            </a:r>
            <a:endParaRPr lang="en-US" sz="1050" dirty="0"/>
          </a:p>
        </p:txBody>
      </p:sp>
      <p:sp>
        <p:nvSpPr>
          <p:cNvPr id="39" name="Text 15"/>
          <p:cNvSpPr/>
          <p:nvPr/>
        </p:nvSpPr>
        <p:spPr>
          <a:xfrm>
            <a:off x="6477000" y="27813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민감도</a:t>
            </a:r>
            <a:endParaRPr lang="en-US" sz="1050" dirty="0"/>
          </a:p>
        </p:txBody>
      </p:sp>
      <p:sp>
        <p:nvSpPr>
          <p:cNvPr id="40" name="Text 16"/>
          <p:cNvSpPr/>
          <p:nvPr/>
        </p:nvSpPr>
        <p:spPr>
          <a:xfrm>
            <a:off x="9277350" y="20955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</a:t>
            </a:r>
            <a:endParaRPr lang="en-US" sz="1200" dirty="0"/>
          </a:p>
        </p:txBody>
      </p:sp>
      <p:sp>
        <p:nvSpPr>
          <p:cNvPr id="41" name="Text 17"/>
          <p:cNvSpPr/>
          <p:nvPr/>
        </p:nvSpPr>
        <p:spPr>
          <a:xfrm>
            <a:off x="9086850" y="24003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재계약 상담 거부</a:t>
            </a:r>
            <a:endParaRPr lang="en-US" sz="1050" dirty="0"/>
          </a:p>
        </p:txBody>
      </p:sp>
      <p:sp>
        <p:nvSpPr>
          <p:cNvPr id="42" name="Text 18"/>
          <p:cNvSpPr/>
          <p:nvPr/>
        </p:nvSpPr>
        <p:spPr>
          <a:xfrm>
            <a:off x="9086850" y="25908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활동량 유지 또는 감소</a:t>
            </a:r>
            <a:endParaRPr lang="en-US" sz="1050" dirty="0"/>
          </a:p>
        </p:txBody>
      </p:sp>
      <p:sp>
        <p:nvSpPr>
          <p:cNvPr id="43" name="Text 19"/>
          <p:cNvSpPr/>
          <p:nvPr/>
        </p:nvSpPr>
        <p:spPr>
          <a:xfrm>
            <a:off x="1295400" y="4057650"/>
            <a:ext cx="4457700" cy="438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활동성 저조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</a:t>
            </a: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</a:t>
            </a:r>
            <a:r>
              <a:rPr lang="ko-KR" alt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r>
              <a:rPr lang="ko-KR" alt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 간 활동 없음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등록 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r>
              <a:rPr lang="ko-KR" alt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 이상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500" dirty="0"/>
          </a:p>
        </p:txBody>
      </p:sp>
      <p:sp>
        <p:nvSpPr>
          <p:cNvPr id="45" name="Text 21"/>
          <p:cNvSpPr/>
          <p:nvPr/>
        </p:nvSpPr>
        <p:spPr>
          <a:xfrm>
            <a:off x="914400" y="45720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원인</a:t>
            </a:r>
            <a:endParaRPr lang="en-US" sz="1200" dirty="0"/>
          </a:p>
        </p:txBody>
      </p:sp>
      <p:sp>
        <p:nvSpPr>
          <p:cNvPr id="46" name="Text 22"/>
          <p:cNvSpPr/>
          <p:nvPr/>
        </p:nvSpPr>
        <p:spPr>
          <a:xfrm>
            <a:off x="723900" y="48768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운동 흥미 상실</a:t>
            </a:r>
            <a:endParaRPr lang="en-US" sz="1050" dirty="0"/>
          </a:p>
        </p:txBody>
      </p:sp>
      <p:sp>
        <p:nvSpPr>
          <p:cNvPr id="47" name="Text 23"/>
          <p:cNvSpPr/>
          <p:nvPr/>
        </p:nvSpPr>
        <p:spPr>
          <a:xfrm>
            <a:off x="723900" y="50673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사정</a:t>
            </a:r>
            <a:endParaRPr lang="en-US" sz="1050" dirty="0"/>
          </a:p>
        </p:txBody>
      </p:sp>
      <p:sp>
        <p:nvSpPr>
          <p:cNvPr id="48" name="Text 24"/>
          <p:cNvSpPr/>
          <p:nvPr/>
        </p:nvSpPr>
        <p:spPr>
          <a:xfrm>
            <a:off x="723900" y="52578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불만족 누적</a:t>
            </a:r>
            <a:endParaRPr lang="en-US" sz="1050" dirty="0"/>
          </a:p>
        </p:txBody>
      </p:sp>
      <p:sp>
        <p:nvSpPr>
          <p:cNvPr id="49" name="Text 25"/>
          <p:cNvSpPr/>
          <p:nvPr/>
        </p:nvSpPr>
        <p:spPr>
          <a:xfrm>
            <a:off x="3524250" y="45720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</a:t>
            </a:r>
            <a:endParaRPr lang="en-US" sz="1200" dirty="0"/>
          </a:p>
        </p:txBody>
      </p:sp>
      <p:sp>
        <p:nvSpPr>
          <p:cNvPr id="50" name="Text 26"/>
          <p:cNvSpPr/>
          <p:nvPr/>
        </p:nvSpPr>
        <p:spPr>
          <a:xfrm>
            <a:off x="3333750" y="4876800"/>
            <a:ext cx="2903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참여 및 시설 이용 중단</a:t>
            </a:r>
            <a:endParaRPr lang="en-US" sz="1050" dirty="0"/>
          </a:p>
        </p:txBody>
      </p:sp>
      <p:sp>
        <p:nvSpPr>
          <p:cNvPr id="51" name="Text 27"/>
          <p:cNvSpPr/>
          <p:nvPr/>
        </p:nvSpPr>
        <p:spPr>
          <a:xfrm>
            <a:off x="3333750" y="5067300"/>
            <a:ext cx="2903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결제는 유지되나 활동 없음</a:t>
            </a:r>
            <a:endParaRPr lang="en-US" sz="1050" dirty="0"/>
          </a:p>
        </p:txBody>
      </p:sp>
      <p:sp>
        <p:nvSpPr>
          <p:cNvPr id="52" name="Text 28"/>
          <p:cNvSpPr/>
          <p:nvPr/>
        </p:nvSpPr>
        <p:spPr>
          <a:xfrm>
            <a:off x="7048500" y="4057650"/>
            <a:ext cx="46863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프로그램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불만족</a:t>
            </a: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</a:t>
            </a:r>
            <a:r>
              <a:rPr lang="ko-KR" alt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프로그램 참여 후 활동 감소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500" dirty="0"/>
          </a:p>
        </p:txBody>
      </p:sp>
      <p:sp>
        <p:nvSpPr>
          <p:cNvPr id="54" name="Text 30"/>
          <p:cNvSpPr/>
          <p:nvPr/>
        </p:nvSpPr>
        <p:spPr>
          <a:xfrm>
            <a:off x="6667500" y="45720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원인</a:t>
            </a:r>
            <a:endParaRPr lang="en-US" sz="1200" dirty="0"/>
          </a:p>
        </p:txBody>
      </p:sp>
      <p:sp>
        <p:nvSpPr>
          <p:cNvPr id="55" name="Text 31"/>
          <p:cNvSpPr/>
          <p:nvPr/>
        </p:nvSpPr>
        <p:spPr>
          <a:xfrm>
            <a:off x="6477000" y="4876800"/>
            <a:ext cx="2903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프로그램에 대한 불만족</a:t>
            </a:r>
            <a:endParaRPr lang="en-US" sz="1050" dirty="0"/>
          </a:p>
        </p:txBody>
      </p:sp>
      <p:sp>
        <p:nvSpPr>
          <p:cNvPr id="56" name="Text 32"/>
          <p:cNvSpPr/>
          <p:nvPr/>
        </p:nvSpPr>
        <p:spPr>
          <a:xfrm>
            <a:off x="6477000" y="50673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강사와의 불화</a:t>
            </a:r>
            <a:endParaRPr lang="en-US" sz="1050" dirty="0"/>
          </a:p>
        </p:txBody>
      </p:sp>
      <p:sp>
        <p:nvSpPr>
          <p:cNvPr id="57" name="Text 33"/>
          <p:cNvSpPr/>
          <p:nvPr/>
        </p:nvSpPr>
        <p:spPr>
          <a:xfrm>
            <a:off x="6477000" y="52578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운동 효과 미미</a:t>
            </a:r>
            <a:endParaRPr lang="en-US" sz="1050" dirty="0"/>
          </a:p>
        </p:txBody>
      </p:sp>
      <p:sp>
        <p:nvSpPr>
          <p:cNvPr id="58" name="Text 34"/>
          <p:cNvSpPr/>
          <p:nvPr/>
        </p:nvSpPr>
        <p:spPr>
          <a:xfrm>
            <a:off x="9277350" y="45720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</a:t>
            </a:r>
            <a:endParaRPr lang="en-US" sz="1200" dirty="0"/>
          </a:p>
        </p:txBody>
      </p:sp>
      <p:sp>
        <p:nvSpPr>
          <p:cNvPr id="59" name="Text 35"/>
          <p:cNvSpPr/>
          <p:nvPr/>
        </p:nvSpPr>
        <p:spPr>
          <a:xfrm>
            <a:off x="9086850" y="48768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프로그램 참여 중단</a:t>
            </a:r>
            <a:endParaRPr lang="en-US" sz="1050" dirty="0"/>
          </a:p>
        </p:txBody>
      </p:sp>
      <p:sp>
        <p:nvSpPr>
          <p:cNvPr id="60" name="Text 36"/>
          <p:cNvSpPr/>
          <p:nvPr/>
        </p:nvSpPr>
        <p:spPr>
          <a:xfrm>
            <a:off x="9086850" y="5067300"/>
            <a:ext cx="253619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프로그램으로 전환하지 않고 이탈</a:t>
            </a:r>
            <a:endParaRPr lang="en-US" sz="1050" dirty="0"/>
          </a:p>
        </p:txBody>
      </p:sp>
      <p:sp>
        <p:nvSpPr>
          <p:cNvPr id="61" name="Text 37"/>
          <p:cNvSpPr/>
          <p:nvPr/>
        </p:nvSpPr>
        <p:spPr>
          <a:xfrm>
            <a:off x="457200" y="6210300"/>
            <a:ext cx="11277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세그먼트별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분석을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맞춤형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리텐션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전략을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수립할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있습니다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7" descr="preencoded.png">
            <a:extLst>
              <a:ext uri="{FF2B5EF4-FFF2-40B4-BE49-F238E27FC236}">
                <a16:creationId xmlns:a16="http://schemas.microsoft.com/office/drawing/2014/main" id="{A19A1C82-75D0-D06D-35FA-1CCA1381E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95" y="3800417"/>
            <a:ext cx="5524500" cy="2080418"/>
          </a:xfrm>
          <a:prstGeom prst="rect">
            <a:avLst/>
          </a:prstGeom>
        </p:spPr>
      </p:pic>
      <p:pic>
        <p:nvPicPr>
          <p:cNvPr id="48" name="Image 12">
            <a:extLst>
              <a:ext uri="{FF2B5EF4-FFF2-40B4-BE49-F238E27FC236}">
                <a16:creationId xmlns:a16="http://schemas.microsoft.com/office/drawing/2014/main" id="{828628FE-227A-83FD-5ABE-912C0E11E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500" y="3873850"/>
            <a:ext cx="5524500" cy="1955450"/>
          </a:xfrm>
          <a:prstGeom prst="rect">
            <a:avLst/>
          </a:prstGeom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468560B-2988-CA53-BA39-61F3885D6C50}"/>
              </a:ext>
            </a:extLst>
          </p:cNvPr>
          <p:cNvSpPr/>
          <p:nvPr/>
        </p:nvSpPr>
        <p:spPr>
          <a:xfrm>
            <a:off x="8194998" y="3893016"/>
            <a:ext cx="3472603" cy="2009717"/>
          </a:xfrm>
          <a:prstGeom prst="roundRect">
            <a:avLst>
              <a:gd name="adj" fmla="val 4732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DFAD026-BF7C-9C13-7249-254453FB10AB}"/>
              </a:ext>
            </a:extLst>
          </p:cNvPr>
          <p:cNvSpPr/>
          <p:nvPr/>
        </p:nvSpPr>
        <p:spPr>
          <a:xfrm>
            <a:off x="8217104" y="3848315"/>
            <a:ext cx="3632150" cy="2118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Image 17" descr="preencoded.png">
            <a:extLst>
              <a:ext uri="{FF2B5EF4-FFF2-40B4-BE49-F238E27FC236}">
                <a16:creationId xmlns:a16="http://schemas.microsoft.com/office/drawing/2014/main" id="{1A902837-D423-4C3D-C127-D4629887E0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229" y="1602000"/>
            <a:ext cx="3607200" cy="2058901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C22996D-EA76-9D60-FF10-1B69A4100478}"/>
              </a:ext>
            </a:extLst>
          </p:cNvPr>
          <p:cNvSpPr/>
          <p:nvPr/>
        </p:nvSpPr>
        <p:spPr>
          <a:xfrm>
            <a:off x="498848" y="1576475"/>
            <a:ext cx="3472603" cy="2009717"/>
          </a:xfrm>
          <a:prstGeom prst="roundRect">
            <a:avLst>
              <a:gd name="adj" fmla="val 4732"/>
            </a:avLst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A85E3ED-F8AA-B83D-0181-C639DE057A6B}"/>
              </a:ext>
            </a:extLst>
          </p:cNvPr>
          <p:cNvSpPr/>
          <p:nvPr/>
        </p:nvSpPr>
        <p:spPr>
          <a:xfrm>
            <a:off x="507974" y="1533313"/>
            <a:ext cx="3698255" cy="2118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2501" y="1600200"/>
            <a:ext cx="3606850" cy="1943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3001" y="1828800"/>
            <a:ext cx="446782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447" y="1887070"/>
            <a:ext cx="285750" cy="3048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51441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6대 </a:t>
            </a:r>
            <a:r>
              <a:rPr lang="ko-KR" altLang="en-US" sz="2700" b="1" dirty="0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개선 방안</a:t>
            </a:r>
            <a:endParaRPr lang="en-US" sz="2700" dirty="0">
              <a:latin typeface="+mj-ea"/>
              <a:ea typeface="+mj-ea"/>
            </a:endParaRPr>
          </a:p>
        </p:txBody>
      </p:sp>
      <p:sp>
        <p:nvSpPr>
          <p:cNvPr id="25" name="Text 1"/>
          <p:cNvSpPr/>
          <p:nvPr/>
        </p:nvSpPr>
        <p:spPr>
          <a:xfrm>
            <a:off x="457200" y="1066800"/>
            <a:ext cx="11277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예측 모델을 활용한 고객 유지율 향상을 위한 실행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방안</a:t>
            </a:r>
            <a:endParaRPr lang="en-US" sz="1200" dirty="0"/>
          </a:p>
        </p:txBody>
      </p:sp>
      <p:sp>
        <p:nvSpPr>
          <p:cNvPr id="26" name="Text 2"/>
          <p:cNvSpPr/>
          <p:nvPr/>
        </p:nvSpPr>
        <p:spPr>
          <a:xfrm>
            <a:off x="1221284" y="1790700"/>
            <a:ext cx="2803636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위험군 대상 맞춤형 프로모션</a:t>
            </a:r>
            <a:endParaRPr lang="en-US" sz="1500" dirty="0"/>
          </a:p>
        </p:txBody>
      </p:sp>
      <p:sp>
        <p:nvSpPr>
          <p:cNvPr id="27" name="Text 3"/>
          <p:cNvSpPr/>
          <p:nvPr/>
        </p:nvSpPr>
        <p:spPr>
          <a:xfrm>
            <a:off x="647700" y="2438400"/>
            <a:ext cx="32257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예측한 이탈 위험이 높은 회원들에게 개인화된 할인, 무료 PT 세션, 기간 연장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등의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인센티브를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제공하여 이탈을 방지합니다.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5082183" y="1790700"/>
            <a:ext cx="262666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회원 온보딩 프로그램 강화</a:t>
            </a:r>
            <a:endParaRPr lang="en-US" sz="1500" dirty="0"/>
          </a:p>
        </p:txBody>
      </p:sp>
      <p:sp>
        <p:nvSpPr>
          <p:cNvPr id="29" name="Text 5"/>
          <p:cNvSpPr/>
          <p:nvPr/>
        </p:nvSpPr>
        <p:spPr>
          <a:xfrm>
            <a:off x="4483001" y="2438400"/>
            <a:ext cx="32258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초기 3개월 이내 이탈률이 높은 신규 회원을 대상으로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전담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트레이너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배정, 운동 목표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정기적인 만족도 조사 등을 통해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적응을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돕습니다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8928050" y="1885950"/>
            <a:ext cx="2933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비활동 회원 재활성화 캠페인</a:t>
            </a:r>
            <a:endParaRPr lang="en-US" sz="1500" dirty="0"/>
          </a:p>
        </p:txBody>
      </p:sp>
      <p:sp>
        <p:nvSpPr>
          <p:cNvPr id="31" name="Text 7"/>
          <p:cNvSpPr/>
          <p:nvPr/>
        </p:nvSpPr>
        <p:spPr>
          <a:xfrm>
            <a:off x="8318450" y="2362200"/>
            <a:ext cx="32257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활동이 저조한 회원들에게는 맞춤형 운동 프로그램 추천, 그룹 클래스 초대, 건강 관리 팁 제공 등 동기 부여를 위한 메시지를 발송합니다.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1257300" y="4057650"/>
            <a:ext cx="30609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만료 임박 회원 관리 강화</a:t>
            </a:r>
            <a:endParaRPr lang="en-US" sz="1500" dirty="0"/>
          </a:p>
        </p:txBody>
      </p:sp>
      <p:sp>
        <p:nvSpPr>
          <p:cNvPr id="33" name="Text 9"/>
          <p:cNvSpPr/>
          <p:nvPr/>
        </p:nvSpPr>
        <p:spPr>
          <a:xfrm>
            <a:off x="647700" y="4533900"/>
            <a:ext cx="32257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만료가 임박한 회원들에게는 재등록 혜택 안내, 장기 회원 전환 프로모션, 계약 연장 상담 등을 통해 이탈 전 선제적으로 대응합니다.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5074741" y="3962400"/>
            <a:ext cx="263410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피드백 시스템 개선 및 반영</a:t>
            </a:r>
            <a:endParaRPr lang="en-US" sz="1500" dirty="0"/>
          </a:p>
        </p:txBody>
      </p:sp>
      <p:sp>
        <p:nvSpPr>
          <p:cNvPr id="35" name="Text 11"/>
          <p:cNvSpPr/>
          <p:nvPr/>
        </p:nvSpPr>
        <p:spPr>
          <a:xfrm>
            <a:off x="4483001" y="4610100"/>
            <a:ext cx="32258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정기적인 설문조사, 1:1 상담을 통해 고객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불만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사항을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조기에 파악하고, 시설 개선,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프로그램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다양화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피드백을 적극 반영하여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만족도를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높입니다.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8910191" y="3962400"/>
            <a:ext cx="263396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직원 교육 및 인센티브 제도 도입</a:t>
            </a:r>
            <a:endParaRPr lang="en-US" sz="1500" dirty="0"/>
          </a:p>
        </p:txBody>
      </p:sp>
      <p:sp>
        <p:nvSpPr>
          <p:cNvPr id="37" name="Text 13"/>
          <p:cNvSpPr/>
          <p:nvPr/>
        </p:nvSpPr>
        <p:spPr>
          <a:xfrm>
            <a:off x="8318450" y="4610100"/>
            <a:ext cx="3225701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예측 모델 활용법 및 고객 응대 교육을 강화하고, 고객 유지 성과에 따른 인센티브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제도를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도입하여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직원들의 적극적인 참여를 독려합니다.</a:t>
            </a:r>
            <a:endParaRPr lang="en-US" sz="1200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F4D97AD-088C-C17C-2993-FEDCDC4AE420}"/>
              </a:ext>
            </a:extLst>
          </p:cNvPr>
          <p:cNvSpPr/>
          <p:nvPr/>
        </p:nvSpPr>
        <p:spPr>
          <a:xfrm>
            <a:off x="656031" y="1803108"/>
            <a:ext cx="427974" cy="401423"/>
          </a:xfrm>
          <a:prstGeom prst="ellipse">
            <a:avLst/>
          </a:prstGeom>
          <a:solidFill>
            <a:srgbClr val="FFC5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A68C70DD-EE5E-6C91-A2B7-3C3E7A9752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500" y="1814483"/>
            <a:ext cx="323850" cy="323850"/>
          </a:xfrm>
          <a:prstGeom prst="rect">
            <a:avLst/>
          </a:prstGeom>
        </p:spPr>
      </p:pic>
      <p:pic>
        <p:nvPicPr>
          <p:cNvPr id="43" name="Image 8" descr="preencoded.png">
            <a:extLst>
              <a:ext uri="{FF2B5EF4-FFF2-40B4-BE49-F238E27FC236}">
                <a16:creationId xmlns:a16="http://schemas.microsoft.com/office/drawing/2014/main" id="{D9B05D56-E7C8-A5A4-B397-FC8FB49B52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971" y="3949700"/>
            <a:ext cx="457200" cy="457200"/>
          </a:xfrm>
          <a:prstGeom prst="rect">
            <a:avLst/>
          </a:prstGeom>
        </p:spPr>
      </p:pic>
      <p:pic>
        <p:nvPicPr>
          <p:cNvPr id="42" name="Image 9" descr="preencoded.png">
            <a:extLst>
              <a:ext uri="{FF2B5EF4-FFF2-40B4-BE49-F238E27FC236}">
                <a16:creationId xmlns:a16="http://schemas.microsoft.com/office/drawing/2014/main" id="{006F5879-C6D4-48D0-83B8-E2AB0EC726F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928" y="4011642"/>
            <a:ext cx="200025" cy="304800"/>
          </a:xfrm>
          <a:prstGeom prst="rect">
            <a:avLst/>
          </a:prstGeom>
        </p:spPr>
      </p:pic>
      <p:sp>
        <p:nvSpPr>
          <p:cNvPr id="45" name="타원 44">
            <a:extLst>
              <a:ext uri="{FF2B5EF4-FFF2-40B4-BE49-F238E27FC236}">
                <a16:creationId xmlns:a16="http://schemas.microsoft.com/office/drawing/2014/main" id="{00E4407A-DC7E-AB21-4E42-E4DE80626E92}"/>
              </a:ext>
            </a:extLst>
          </p:cNvPr>
          <p:cNvSpPr/>
          <p:nvPr/>
        </p:nvSpPr>
        <p:spPr>
          <a:xfrm>
            <a:off x="8318450" y="1777464"/>
            <a:ext cx="489942" cy="4572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721DF48E-A9AE-0C63-CF55-82FEAC6B3FC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5421" y="1885950"/>
            <a:ext cx="266700" cy="266700"/>
          </a:xfrm>
          <a:prstGeom prst="rect">
            <a:avLst/>
          </a:prstGeom>
        </p:spPr>
      </p:pic>
      <p:sp>
        <p:nvSpPr>
          <p:cNvPr id="49" name="타원 48">
            <a:extLst>
              <a:ext uri="{FF2B5EF4-FFF2-40B4-BE49-F238E27FC236}">
                <a16:creationId xmlns:a16="http://schemas.microsoft.com/office/drawing/2014/main" id="{519A25CB-87AB-6237-0123-3D4307C52FE5}"/>
              </a:ext>
            </a:extLst>
          </p:cNvPr>
          <p:cNvSpPr/>
          <p:nvPr/>
        </p:nvSpPr>
        <p:spPr>
          <a:xfrm>
            <a:off x="4474036" y="4002677"/>
            <a:ext cx="474170" cy="484158"/>
          </a:xfrm>
          <a:prstGeom prst="ellipse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544DF641-8E64-18FF-89B5-9CC5351D58E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3872" y="4067725"/>
            <a:ext cx="326475" cy="326475"/>
          </a:xfrm>
          <a:prstGeom prst="rect">
            <a:avLst/>
          </a:prstGeom>
        </p:spPr>
      </p:pic>
      <p:sp>
        <p:nvSpPr>
          <p:cNvPr id="56" name="타원 55">
            <a:extLst>
              <a:ext uri="{FF2B5EF4-FFF2-40B4-BE49-F238E27FC236}">
                <a16:creationId xmlns:a16="http://schemas.microsoft.com/office/drawing/2014/main" id="{7C9ACF9B-DDD4-DD97-9235-39E7868577A8}"/>
              </a:ext>
            </a:extLst>
          </p:cNvPr>
          <p:cNvSpPr/>
          <p:nvPr/>
        </p:nvSpPr>
        <p:spPr>
          <a:xfrm>
            <a:off x="8318450" y="4021790"/>
            <a:ext cx="435826" cy="43815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A3E6981C-1BD8-0FF8-7382-6AD84EA0CAA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12111" y="4084312"/>
            <a:ext cx="282994" cy="28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74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1577</TotalTime>
  <Words>2170</Words>
  <Application>Microsoft Office PowerPoint</Application>
  <PresentationFormat>와이드스크린</PresentationFormat>
  <Paragraphs>357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Noto Sans KR</vt:lpstr>
      <vt:lpstr>ui-sans-serif</vt:lpstr>
      <vt:lpstr>나눔스퀘어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은선 최</cp:lastModifiedBy>
  <cp:revision>61</cp:revision>
  <dcterms:created xsi:type="dcterms:W3CDTF">2025-11-04T01:57:41Z</dcterms:created>
  <dcterms:modified xsi:type="dcterms:W3CDTF">2025-11-05T05:34:12Z</dcterms:modified>
</cp:coreProperties>
</file>