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jpe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jpe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e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jpe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jpeg"/><Relationship Id="rId14" Type="http://schemas.openxmlformats.org/officeDocument/2006/relationships/image" Target="../media/image-17-14.jpe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7246" y="302666"/>
            <a:ext cx="9010498" cy="3657600"/>
          </a:xfrm>
          <a:prstGeom prst="roundRect">
            <a:avLst>
              <a:gd name="adj" fmla="val 781"/>
            </a:avLst>
          </a:prstGeom>
          <a:solidFill>
            <a:srgbClr val="3B7DD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657246" y="302666"/>
            <a:ext cx="9010498" cy="3652114"/>
          </a:xfrm>
          <a:prstGeom prst="roundRect">
            <a:avLst>
              <a:gd name="adj" fmla="val 784"/>
            </a:avLst>
          </a:prstGeom>
          <a:solidFill>
            <a:srgbClr val="5B8FF9">
              <a:alpha val="4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066898" y="4183380"/>
            <a:ext cx="819119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977994" y="4354373"/>
            <a:ext cx="45436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 Signal Detector - 자퇴 시그널 감지조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4443984" y="4869180"/>
            <a:ext cx="981151" cy="381305"/>
          </a:xfrm>
          <a:prstGeom prst="roundRect">
            <a:avLst>
              <a:gd name="adj" fmla="val 11990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6689" y="4973422"/>
            <a:ext cx="171907" cy="171907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4844491" y="494507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김황현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531206" y="4869180"/>
            <a:ext cx="981151" cy="381305"/>
          </a:xfrm>
          <a:prstGeom prst="roundRect">
            <a:avLst>
              <a:gd name="adj" fmla="val 11990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83910" y="4973422"/>
            <a:ext cx="171907" cy="171907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931713" y="494507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이도경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619342" y="4869180"/>
            <a:ext cx="981151" cy="381305"/>
          </a:xfrm>
          <a:prstGeom prst="roundRect">
            <a:avLst>
              <a:gd name="adj" fmla="val 11990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71132" y="4973422"/>
            <a:ext cx="171907" cy="171907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018934" y="494507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이지은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706563" y="4869180"/>
            <a:ext cx="981151" cy="381305"/>
          </a:xfrm>
          <a:prstGeom prst="roundRect">
            <a:avLst>
              <a:gd name="adj" fmla="val 11990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59268" y="4973422"/>
            <a:ext cx="171907" cy="171907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106156" y="494507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정소영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8793785" y="4869180"/>
            <a:ext cx="981151" cy="381305"/>
          </a:xfrm>
          <a:prstGeom prst="roundRect">
            <a:avLst>
              <a:gd name="adj" fmla="val 11990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46490" y="4973422"/>
            <a:ext cx="171907" cy="171907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194292" y="494507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최유정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6313018" y="5593385"/>
            <a:ext cx="1705356" cy="457200"/>
          </a:xfrm>
          <a:prstGeom prst="roundRect">
            <a:avLst>
              <a:gd name="adj" fmla="val 33333"/>
            </a:avLst>
          </a:prstGeom>
          <a:solidFill>
            <a:srgbClr val="5B8FF9"/>
          </a:solidFill>
          <a:ln/>
          <a:effectLst>
            <a:outerShdw sx="100000" sy="100000" kx="0" ky="0" algn="bl" rotWithShape="0" blurRad="101600" dist="38100" dir="5400000">
              <a:srgbClr val="5b8ff9">
                <a:alpha val="40000"/>
              </a:srgbClr>
            </a:outerShdw>
          </a:effectLst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448" b="-1448"/>
          <a:stretch/>
        </p:blipFill>
        <p:spPr>
          <a:xfrm>
            <a:off x="6541618" y="5736031"/>
            <a:ext cx="161849" cy="171907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817766" y="5707685"/>
            <a:ext cx="1086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11880799" y="66202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1/18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4556455" y="1128370"/>
            <a:ext cx="56491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학업 중도 이탈률</a:t>
            </a:r>
            <a:endParaRPr lang="en-US" sz="4500" dirty="0"/>
          </a:p>
        </p:txBody>
      </p:sp>
      <p:sp>
        <p:nvSpPr>
          <p:cNvPr id="53" name="Text 44"/>
          <p:cNvSpPr txBox="1"/>
          <p:nvPr/>
        </p:nvSpPr>
        <p:spPr>
          <a:xfrm>
            <a:off x="5505602" y="1842516"/>
            <a:ext cx="37435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프로젝트</a:t>
            </a:r>
            <a:endParaRPr lang="en-US" sz="4500" dirty="0"/>
          </a:p>
        </p:txBody>
      </p:sp>
      <p:sp>
        <p:nvSpPr>
          <p:cNvPr id="54" name="Text 45"/>
          <p:cNvSpPr txBox="1"/>
          <p:nvPr/>
        </p:nvSpPr>
        <p:spPr>
          <a:xfrm>
            <a:off x="3828593" y="2747772"/>
            <a:ext cx="68488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Student Academic Dropout Prediction using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 이유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76879" y="609905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3453689" y="671170"/>
            <a:ext cx="142646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634740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연구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5829300" cy="1600200"/>
          </a:xfrm>
          <a:prstGeom prst="roundRect">
            <a:avLst>
              <a:gd name="adj" fmla="val 340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2400300" y="1314907"/>
            <a:ext cx="190195" cy="15270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2704795" y="1276502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사회 고등교육의 보편성/중요성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2361895" y="1638605"/>
            <a:ext cx="314554" cy="228600"/>
          </a:xfrm>
          <a:prstGeom prst="roundRect">
            <a:avLst>
              <a:gd name="adj" fmla="val 33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2438705" y="1668780"/>
            <a:ext cx="2423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1위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2750515" y="1591056"/>
            <a:ext cx="3439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OECD 25-34세 고등교육 이수율 70.6%, 40개국 중 1위 (2024년 기준)</a:t>
            </a:r>
            <a:endParaRPr lang="en-US" sz="9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-1677" r="-1677" t="0" b="0"/>
          <a:stretch/>
        </p:blipFill>
        <p:spPr>
          <a:xfrm>
            <a:off x="2750515" y="1774850"/>
            <a:ext cx="95098" cy="10515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2845613" y="1752905"/>
            <a:ext cx="2695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OECD Education GPS(EAG 2025) - Korea(국가 프로필)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2361895" y="2015338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2438705" y="2045513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격차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2787091" y="1967789"/>
            <a:ext cx="3848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학력별 임금격차가 여전히 존재하며, 고등교육의 중요성이 강조되는 사회적 환경</a:t>
            </a:r>
            <a:endParaRPr lang="en-US" sz="9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-1677" r="-1677" t="0" b="0"/>
          <a:stretch/>
        </p:blipFill>
        <p:spPr>
          <a:xfrm>
            <a:off x="2787091" y="2151583"/>
            <a:ext cx="95098" cy="10515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2882189" y="2129638"/>
            <a:ext cx="2382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지표누리 e-나라지표 2013-2022 학력별 임금 격차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2361895" y="2316175"/>
            <a:ext cx="5600700" cy="304495"/>
          </a:xfrm>
          <a:prstGeom prst="roundRect">
            <a:avLst>
              <a:gd name="adj" fmla="val 75075"/>
            </a:avLst>
          </a:prstGeom>
          <a:solidFill>
            <a:srgbClr val="EFF6FF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2438705" y="2416759"/>
            <a:ext cx="105156" cy="11430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2581351" y="2382926"/>
            <a:ext cx="3982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고등교육의 중요성이 특히 강조되는 사회인만큼 지속 가능한 고등 교육 성취가 필요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2247595" y="2811780"/>
            <a:ext cx="5829300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2361895" y="2926080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19502" y="2982773"/>
            <a:ext cx="152705" cy="152705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2704795" y="294528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현황과 문제점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2361895" y="3307385"/>
            <a:ext cx="437998" cy="228600"/>
          </a:xfrm>
          <a:prstGeom prst="roundRect">
            <a:avLst>
              <a:gd name="adj" fmla="val 33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8" name="Text 48"/>
          <p:cNvSpPr txBox="1"/>
          <p:nvPr/>
        </p:nvSpPr>
        <p:spPr>
          <a:xfrm>
            <a:off x="2438705" y="3337560"/>
            <a:ext cx="3657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10만+</a:t>
            </a:r>
            <a:endParaRPr lang="en-US" sz="800" dirty="0"/>
          </a:p>
        </p:txBody>
      </p:sp>
      <p:sp>
        <p:nvSpPr>
          <p:cNvPr id="59" name="Text 49"/>
          <p:cNvSpPr txBox="1"/>
          <p:nvPr/>
        </p:nvSpPr>
        <p:spPr>
          <a:xfrm>
            <a:off x="2873959" y="3258922"/>
            <a:ext cx="3314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2024학년도 4년제 중도탈락 100,817명 (전년 대비 +761명, +0.8%)</a:t>
            </a:r>
            <a:endParaRPr lang="en-US" sz="900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rcRect l="-1677" r="-1677" t="0" b="0"/>
          <a:stretch/>
        </p:blipFill>
        <p:spPr>
          <a:xfrm>
            <a:off x="2873959" y="3442716"/>
            <a:ext cx="95098" cy="105156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2969971" y="3421685"/>
            <a:ext cx="1924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대학알리미 공시자료(2025년 8월 기준)</a:t>
            </a:r>
            <a:endParaRPr lang="en-US" sz="800" dirty="0"/>
          </a:p>
        </p:txBody>
      </p:sp>
      <p:sp>
        <p:nvSpPr>
          <p:cNvPr id="62" name="Shape 51"/>
          <p:cNvSpPr/>
          <p:nvPr/>
        </p:nvSpPr>
        <p:spPr>
          <a:xfrm>
            <a:off x="2361895" y="3645713"/>
            <a:ext cx="5600700" cy="304495"/>
          </a:xfrm>
          <a:prstGeom prst="roundRect">
            <a:avLst>
              <a:gd name="adj" fmla="val 75075"/>
            </a:avLst>
          </a:prstGeom>
          <a:solidFill>
            <a:srgbClr val="EFF6FF"/>
          </a:solidFill>
          <a:ln/>
        </p:spPr>
      </p:sp>
      <p:sp>
        <p:nvSpPr>
          <p:cNvPr id="63" name="Text 52"/>
          <p:cNvSpPr txBox="1"/>
          <p:nvPr/>
        </p:nvSpPr>
        <p:spPr>
          <a:xfrm>
            <a:off x="2438705" y="3712464"/>
            <a:ext cx="5229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중도이탈 규모 및 영향이 커짐에 따라 단순 현황 파악을 넘어 조기 탐지(EWS)와 맞춤 개입의 필요성 증가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2247595" y="4141318"/>
            <a:ext cx="5829300" cy="1333195"/>
          </a:xfrm>
          <a:prstGeom prst="roundRect">
            <a:avLst>
              <a:gd name="adj" fmla="val 489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5" name="Shape 54"/>
          <p:cNvSpPr/>
          <p:nvPr/>
        </p:nvSpPr>
        <p:spPr>
          <a:xfrm>
            <a:off x="2361895" y="4255618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2438705" y="4312310"/>
            <a:ext cx="114300" cy="152705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2704795" y="4274820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프로젝트의 중요성</a:t>
            </a:r>
            <a:endParaRPr lang="en-US" sz="1200" dirty="0"/>
          </a:p>
        </p:txBody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361895" y="4662526"/>
            <a:ext cx="133502" cy="133502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2572207" y="4626864"/>
            <a:ext cx="4401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공개 데이터를 활용한 예측 분석 → "누가, 언제, 왜" 이탈 위험에 들어서는 이유를 설명</a:t>
            </a:r>
            <a:endParaRPr lang="en-US" sz="900" dirty="0"/>
          </a:p>
        </p:txBody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361895" y="4929530"/>
            <a:ext cx="133502" cy="13350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2572207" y="4893869"/>
            <a:ext cx="2971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사례에 적용하여 실무적으로 적용 가능한 해결 방안 탐색</a:t>
            </a:r>
            <a:endParaRPr lang="en-US" sz="900" dirty="0"/>
          </a:p>
        </p:txBody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361895" y="5196535"/>
            <a:ext cx="133502" cy="133502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2572207" y="5160874"/>
            <a:ext cx="2276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문제 해결을 위한 가이드로서 활용 가능</a:t>
            </a:r>
            <a:endParaRPr lang="en-US" sz="900" dirty="0"/>
          </a:p>
        </p:txBody>
      </p:sp>
      <p:sp>
        <p:nvSpPr>
          <p:cNvPr id="74" name="Shape 59"/>
          <p:cNvSpPr/>
          <p:nvPr/>
        </p:nvSpPr>
        <p:spPr>
          <a:xfrm>
            <a:off x="8222285" y="1143000"/>
            <a:ext cx="3857854" cy="2648102"/>
          </a:xfrm>
          <a:prstGeom prst="roundRect">
            <a:avLst>
              <a:gd name="adj" fmla="val 1242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5" name="Shape 60"/>
          <p:cNvSpPr/>
          <p:nvPr/>
        </p:nvSpPr>
        <p:spPr>
          <a:xfrm>
            <a:off x="833658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393278" y="1314907"/>
            <a:ext cx="152705" cy="152705"/>
          </a:xfrm>
          <a:prstGeom prst="rect">
            <a:avLst/>
          </a:prstGeom>
        </p:spPr>
      </p:pic>
      <p:sp>
        <p:nvSpPr>
          <p:cNvPr id="77" name="Text 61"/>
          <p:cNvSpPr txBox="1"/>
          <p:nvPr/>
        </p:nvSpPr>
        <p:spPr>
          <a:xfrm>
            <a:off x="8679485" y="1295705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학력별 임금 격차 (2018-2022)</a:t>
            </a:r>
            <a:endParaRPr lang="en-US" sz="1000" dirty="0"/>
          </a:p>
        </p:txBody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15"/>
          <a:srcRect l="166" r="166" t="0" b="0"/>
          <a:stretch/>
        </p:blipFill>
        <p:spPr>
          <a:xfrm>
            <a:off x="8336585" y="1600200"/>
            <a:ext cx="3629254" cy="1152144"/>
          </a:xfrm>
          <a:prstGeom prst="rect">
            <a:avLst/>
          </a:prstGeom>
        </p:spPr>
      </p:pic>
      <p:pic>
        <p:nvPicPr>
          <p:cNvPr id="79" name="Image 15" descr="preencoded.png">    </p:cNvPr>
          <p:cNvPicPr>
            <a:picLocks noChangeAspect="1"/>
          </p:cNvPicPr>
          <p:nvPr/>
        </p:nvPicPr>
        <p:blipFill>
          <a:blip r:embed="rId16"/>
          <a:srcRect l="-1677" r="-1677" t="0" b="0"/>
          <a:stretch/>
        </p:blipFill>
        <p:spPr>
          <a:xfrm>
            <a:off x="8336585" y="2808122"/>
            <a:ext cx="95098" cy="105156"/>
          </a:xfrm>
          <a:prstGeom prst="rect">
            <a:avLst/>
          </a:prstGeom>
        </p:spPr>
      </p:pic>
      <p:sp>
        <p:nvSpPr>
          <p:cNvPr id="80" name="Text 62"/>
          <p:cNvSpPr txBox="1"/>
          <p:nvPr/>
        </p:nvSpPr>
        <p:spPr>
          <a:xfrm>
            <a:off x="8431682" y="2786177"/>
            <a:ext cx="1886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지표누리 e-나라지표 학력별 임금 격차</a:t>
            </a:r>
            <a:endParaRPr lang="en-US" sz="800" dirty="0"/>
          </a:p>
        </p:txBody>
      </p:sp>
      <p:sp>
        <p:nvSpPr>
          <p:cNvPr id="81" name="Shape 63"/>
          <p:cNvSpPr/>
          <p:nvPr/>
        </p:nvSpPr>
        <p:spPr>
          <a:xfrm>
            <a:off x="8222285" y="3862426"/>
            <a:ext cx="3857854" cy="2648102"/>
          </a:xfrm>
          <a:prstGeom prst="roundRect">
            <a:avLst>
              <a:gd name="adj" fmla="val 1242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2" name="Shape 64"/>
          <p:cNvSpPr/>
          <p:nvPr/>
        </p:nvSpPr>
        <p:spPr>
          <a:xfrm>
            <a:off x="8336585" y="3976726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3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393278" y="4033418"/>
            <a:ext cx="152705" cy="152705"/>
          </a:xfrm>
          <a:prstGeom prst="rect">
            <a:avLst/>
          </a:prstGeom>
        </p:spPr>
      </p:pic>
      <p:sp>
        <p:nvSpPr>
          <p:cNvPr id="84" name="Text 65"/>
          <p:cNvSpPr txBox="1"/>
          <p:nvPr/>
        </p:nvSpPr>
        <p:spPr>
          <a:xfrm>
            <a:off x="8679485" y="4015130"/>
            <a:ext cx="2300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OECD 국가 고등교육 이수율 (25-34세)</a:t>
            </a:r>
            <a:endParaRPr lang="en-US" sz="1000" dirty="0"/>
          </a:p>
        </p:txBody>
      </p:sp>
      <p:pic>
        <p:nvPicPr>
          <p:cNvPr id="8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93" b="93"/>
          <a:stretch/>
        </p:blipFill>
        <p:spPr>
          <a:xfrm>
            <a:off x="8419795" y="4319626"/>
            <a:ext cx="3467405" cy="1524305"/>
          </a:xfrm>
          <a:prstGeom prst="rect">
            <a:avLst/>
          </a:prstGeom>
        </p:spPr>
      </p:pic>
      <p:pic>
        <p:nvPicPr>
          <p:cNvPr id="86" name="Image 18" descr="preencoded.png">    </p:cNvPr>
          <p:cNvPicPr>
            <a:picLocks noChangeAspect="1"/>
          </p:cNvPicPr>
          <p:nvPr/>
        </p:nvPicPr>
        <p:blipFill>
          <a:blip r:embed="rId19"/>
          <a:srcRect l="-1677" r="-1677" t="0" b="0"/>
          <a:stretch/>
        </p:blipFill>
        <p:spPr>
          <a:xfrm>
            <a:off x="8336585" y="5903366"/>
            <a:ext cx="95098" cy="105156"/>
          </a:xfrm>
          <a:prstGeom prst="rect">
            <a:avLst/>
          </a:prstGeom>
        </p:spPr>
      </p:pic>
      <p:sp>
        <p:nvSpPr>
          <p:cNvPr id="87" name="Text 66"/>
          <p:cNvSpPr txBox="1"/>
          <p:nvPr/>
        </p:nvSpPr>
        <p:spPr>
          <a:xfrm>
            <a:off x="8431682" y="5881421"/>
            <a:ext cx="2438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OECD Education GPS (EAG 2024/2025) - Korea</a:t>
            </a:r>
            <a:endParaRPr lang="en-US" sz="800" dirty="0"/>
          </a:p>
        </p:txBody>
      </p:sp>
      <p:sp>
        <p:nvSpPr>
          <p:cNvPr id="88" name="Shape 67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Text 68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90" name="Text 69"/>
          <p:cNvSpPr txBox="1"/>
          <p:nvPr/>
        </p:nvSpPr>
        <p:spPr>
          <a:xfrm>
            <a:off x="11880799" y="66202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목적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111465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619195" y="609905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분석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3696005" y="671170"/>
            <a:ext cx="142646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877056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연구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4858207" cy="761695"/>
          </a:xfrm>
          <a:prstGeom prst="roundRect">
            <a:avLst>
              <a:gd name="adj" fmla="val 150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7220102" y="1143000"/>
            <a:ext cx="4858207" cy="761695"/>
          </a:xfrm>
          <a:prstGeom prst="roundRect">
            <a:avLst>
              <a:gd name="adj" fmla="val 150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2428646" y="1314907"/>
            <a:ext cx="133502" cy="15270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7334402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5"/>
          <p:cNvSpPr txBox="1"/>
          <p:nvPr/>
        </p:nvSpPr>
        <p:spPr>
          <a:xfrm>
            <a:off x="2704795" y="1276502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활용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2361895" y="1628546"/>
            <a:ext cx="3391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중도이탈(자퇴, 미등록, 미복학 등)에 대한 주요 영향 변수 파악 및 분석</a:t>
            </a:r>
            <a:endParaRPr lang="en-US" sz="9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91095" y="1314907"/>
            <a:ext cx="152705" cy="152705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2247595" y="2018995"/>
            <a:ext cx="4858207" cy="761695"/>
          </a:xfrm>
          <a:prstGeom prst="roundRect">
            <a:avLst>
              <a:gd name="adj" fmla="val 150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7220102" y="2018995"/>
            <a:ext cx="4858207" cy="761695"/>
          </a:xfrm>
          <a:prstGeom prst="roundRect">
            <a:avLst>
              <a:gd name="adj" fmla="val 150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6" name="Text 39"/>
          <p:cNvSpPr txBox="1"/>
          <p:nvPr/>
        </p:nvSpPr>
        <p:spPr>
          <a:xfrm>
            <a:off x="7677302" y="1276502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위험 식별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2704795" y="2152498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활용성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7334402" y="1628546"/>
            <a:ext cx="3248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 구축을 통한 학생 중도이탈 위험군 조기 탐지 시스템 개발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2361895" y="2133295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2400300" y="2190902"/>
            <a:ext cx="190195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7677302" y="215249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2361895" y="2505456"/>
            <a:ext cx="3010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학사행정에서 즉시 적용 가능한 Streamlit 기반 대시보드 제공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7334402" y="2505456"/>
            <a:ext cx="3162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Score, AUC 중심 모델 평가 (클래스 불균형 고려한 평가 체계)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7334402" y="2133295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391095" y="2190902"/>
            <a:ext cx="152705" cy="152705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2247595" y="2857500"/>
            <a:ext cx="9829800" cy="3685946"/>
          </a:xfrm>
          <a:prstGeom prst="roundRect">
            <a:avLst>
              <a:gd name="adj" fmla="val 64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7" name="Text 48"/>
          <p:cNvSpPr txBox="1"/>
          <p:nvPr/>
        </p:nvSpPr>
        <p:spPr>
          <a:xfrm>
            <a:off x="5772607" y="2971800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중도이탈 예측 및 개입 프로세스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3419856" y="3353105"/>
            <a:ext cx="457200" cy="4572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rcRect l="-760" r="-760" t="0" b="0"/>
          <a:stretch/>
        </p:blipFill>
        <p:spPr>
          <a:xfrm>
            <a:off x="3571646" y="3495751"/>
            <a:ext cx="152705" cy="171907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3179369" y="3877056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분석</a:t>
            </a:r>
            <a:endParaRPr lang="en-US" sz="900" dirty="0"/>
          </a:p>
        </p:txBody>
      </p:sp>
      <p:sp>
        <p:nvSpPr>
          <p:cNvPr id="61" name="Text 51"/>
          <p:cNvSpPr txBox="1"/>
          <p:nvPr/>
        </p:nvSpPr>
        <p:spPr>
          <a:xfrm>
            <a:off x="3157423" y="4048049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4,424명 학생 데이터</a:t>
            </a:r>
            <a:endParaRPr lang="en-US" sz="900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5357470" y="3705149"/>
            <a:ext cx="95098" cy="152705"/>
          </a:xfrm>
          <a:prstGeom prst="rect">
            <a:avLst/>
          </a:prstGeom>
        </p:spPr>
      </p:pic>
      <p:sp>
        <p:nvSpPr>
          <p:cNvPr id="63" name="Shape 52"/>
          <p:cNvSpPr/>
          <p:nvPr/>
        </p:nvSpPr>
        <p:spPr>
          <a:xfrm>
            <a:off x="6933895" y="3353105"/>
            <a:ext cx="457200" cy="4572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077456" y="3495751"/>
            <a:ext cx="171907" cy="171907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6815023" y="3877056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 개발</a:t>
            </a:r>
            <a:endParaRPr lang="en-US" sz="900" dirty="0"/>
          </a:p>
        </p:txBody>
      </p:sp>
      <p:sp>
        <p:nvSpPr>
          <p:cNvPr id="66" name="Text 54"/>
          <p:cNvSpPr txBox="1"/>
          <p:nvPr/>
        </p:nvSpPr>
        <p:spPr>
          <a:xfrm>
            <a:off x="6509614" y="4048049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Forest, PyTorch</a:t>
            </a:r>
            <a:endParaRPr lang="en-US" sz="90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8872423" y="3705149"/>
            <a:ext cx="95098" cy="152705"/>
          </a:xfrm>
          <a:prstGeom prst="rect">
            <a:avLst/>
          </a:prstGeom>
        </p:spPr>
      </p:pic>
      <p:sp>
        <p:nvSpPr>
          <p:cNvPr id="68" name="Shape 55"/>
          <p:cNvSpPr/>
          <p:nvPr/>
        </p:nvSpPr>
        <p:spPr>
          <a:xfrm>
            <a:off x="10448849" y="3353105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591495" y="3495751"/>
            <a:ext cx="171907" cy="171907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10172700" y="3877056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중도이탈 위험군 감지</a:t>
            </a:r>
            <a:endParaRPr lang="en-US" sz="900" dirty="0"/>
          </a:p>
        </p:txBody>
      </p:sp>
      <p:sp>
        <p:nvSpPr>
          <p:cNvPr id="71" name="Text 57"/>
          <p:cNvSpPr txBox="1"/>
          <p:nvPr/>
        </p:nvSpPr>
        <p:spPr>
          <a:xfrm>
            <a:off x="10309860" y="4048049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조기경보시스템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7157923" y="4362602"/>
            <a:ext cx="9144" cy="22860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3" name="Shape 59"/>
          <p:cNvSpPr/>
          <p:nvPr/>
        </p:nvSpPr>
        <p:spPr>
          <a:xfrm>
            <a:off x="3962095" y="4629607"/>
            <a:ext cx="6400800" cy="552298"/>
          </a:xfrm>
          <a:prstGeom prst="roundRect">
            <a:avLst>
              <a:gd name="adj" fmla="val 28545"/>
            </a:avLst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4" name="Shape 60"/>
          <p:cNvSpPr/>
          <p:nvPr/>
        </p:nvSpPr>
        <p:spPr>
          <a:xfrm>
            <a:off x="4086454" y="47530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1FAE5"/>
          </a:solidFill>
          <a:ln/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rcRect l="-33" r="-33" t="0" b="0"/>
          <a:stretch/>
        </p:blipFill>
        <p:spPr>
          <a:xfrm>
            <a:off x="4153205" y="4828946"/>
            <a:ext cx="171907" cy="152705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4505249" y="4743907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개입 및 지원</a:t>
            </a:r>
            <a:endParaRPr lang="en-US" sz="900" dirty="0"/>
          </a:p>
        </p:txBody>
      </p:sp>
      <p:sp>
        <p:nvSpPr>
          <p:cNvPr id="77" name="Text 62"/>
          <p:cNvSpPr txBox="1"/>
          <p:nvPr/>
        </p:nvSpPr>
        <p:spPr>
          <a:xfrm>
            <a:off x="4505249" y="4895698"/>
            <a:ext cx="22293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학습공동체 운영, 학사/재정/상담 지원 시스템</a:t>
            </a:r>
            <a:endParaRPr lang="en-US" sz="900" dirty="0"/>
          </a:p>
        </p:txBody>
      </p:sp>
      <p:sp>
        <p:nvSpPr>
          <p:cNvPr id="78" name="Shape 63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64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80" name="Text 65"/>
          <p:cNvSpPr txBox="1"/>
          <p:nvPr/>
        </p:nvSpPr>
        <p:spPr>
          <a:xfrm>
            <a:off x="11880799" y="66202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3/18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111465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2514600" y="671170"/>
            <a:ext cx="105156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625596" y="609905"/>
            <a:ext cx="126644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57246" y="638251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데이터셋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3701491" y="671170"/>
            <a:ext cx="142646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882542" y="638251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Higher Education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9829800" cy="1390802"/>
          </a:xfrm>
          <a:prstGeom prst="roundRect">
            <a:avLst>
              <a:gd name="adj" fmla="val 4503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2428646" y="1314907"/>
            <a:ext cx="133502" cy="152705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2247595" y="4819802"/>
            <a:ext cx="9829800" cy="1543507"/>
          </a:xfrm>
          <a:prstGeom prst="roundRect">
            <a:avLst>
              <a:gd name="adj" fmla="val 365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2704795" y="127650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개요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2704795" y="495330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예측 변수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2361895" y="1600200"/>
            <a:ext cx="3124505" cy="590702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5600700" y="1600200"/>
            <a:ext cx="3124505" cy="590702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8839505" y="1600200"/>
            <a:ext cx="3124505" cy="590702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5" name="Text 39"/>
          <p:cNvSpPr txBox="1"/>
          <p:nvPr/>
        </p:nvSpPr>
        <p:spPr>
          <a:xfrm>
            <a:off x="2447849" y="167609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수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5686654" y="167609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수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8924544" y="1676095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2447849" y="1848002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4,424명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5686654" y="1848002"/>
            <a:ext cx="4910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35개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8924544" y="1828800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 Higher Education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2361895" y="22860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2514600" y="2257654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Graduate: 2,209명 (49.9%)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5740603" y="2257654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Dropout: 1,421명 (32.1%)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8966606" y="2257654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Enrolled: 794명 (17.9%)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5587898" y="22860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/>
        </p:spPr>
      </p:sp>
      <p:sp>
        <p:nvSpPr>
          <p:cNvPr id="56" name="Shape 50"/>
          <p:cNvSpPr/>
          <p:nvPr/>
        </p:nvSpPr>
        <p:spPr>
          <a:xfrm>
            <a:off x="8813902" y="22860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82F6"/>
          </a:solidFill>
          <a:ln/>
        </p:spPr>
      </p:sp>
      <p:sp>
        <p:nvSpPr>
          <p:cNvPr id="57" name="Shape 51"/>
          <p:cNvSpPr/>
          <p:nvPr/>
        </p:nvSpPr>
        <p:spPr>
          <a:xfrm>
            <a:off x="2247595" y="2648102"/>
            <a:ext cx="9829800" cy="2057400"/>
          </a:xfrm>
          <a:prstGeom prst="roundRect">
            <a:avLst>
              <a:gd name="adj" fmla="val 2058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75" b="75"/>
          <a:stretch/>
        </p:blipFill>
        <p:spPr>
          <a:xfrm>
            <a:off x="4780483" y="2762402"/>
            <a:ext cx="4772254" cy="1828800"/>
          </a:xfrm>
          <a:prstGeom prst="rect">
            <a:avLst/>
          </a:prstGeom>
        </p:spPr>
      </p:pic>
      <p:sp>
        <p:nvSpPr>
          <p:cNvPr id="59" name="Shape 52"/>
          <p:cNvSpPr/>
          <p:nvPr/>
        </p:nvSpPr>
        <p:spPr>
          <a:xfrm>
            <a:off x="2361895" y="4934102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419502" y="4990795"/>
            <a:ext cx="152705" cy="152705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>
            <a:off x="2361895" y="5277002"/>
            <a:ext cx="3152851" cy="743407"/>
          </a:xfrm>
          <a:prstGeom prst="roundRect">
            <a:avLst>
              <a:gd name="adj" fmla="val 6308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8813902" y="5277002"/>
            <a:ext cx="3152851" cy="743407"/>
          </a:xfrm>
          <a:prstGeom prst="roundRect">
            <a:avLst>
              <a:gd name="adj" fmla="val 6308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2447849" y="5362956"/>
            <a:ext cx="552298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2523744" y="5393131"/>
            <a:ext cx="4800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학업성취</a:t>
            </a:r>
            <a:endParaRPr lang="en-US" sz="800" dirty="0"/>
          </a:p>
        </p:txBody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2447849" y="5640019"/>
            <a:ext cx="105156" cy="114300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2590495" y="5611673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이수 학점 (1-2학기)</a:t>
            </a:r>
            <a:endParaRPr lang="en-US" sz="900" dirty="0"/>
          </a:p>
        </p:txBody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2447849" y="5792724"/>
            <a:ext cx="105156" cy="114300"/>
          </a:xfrm>
          <a:prstGeom prst="rect">
            <a:avLst/>
          </a:prstGeom>
        </p:spPr>
      </p:pic>
      <p:sp>
        <p:nvSpPr>
          <p:cNvPr id="68" name="Shape 58"/>
          <p:cNvSpPr/>
          <p:nvPr/>
        </p:nvSpPr>
        <p:spPr>
          <a:xfrm>
            <a:off x="5587898" y="5277002"/>
            <a:ext cx="3152851" cy="743407"/>
          </a:xfrm>
          <a:prstGeom prst="roundRect">
            <a:avLst>
              <a:gd name="adj" fmla="val 6308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Text 59"/>
          <p:cNvSpPr txBox="1"/>
          <p:nvPr/>
        </p:nvSpPr>
        <p:spPr>
          <a:xfrm>
            <a:off x="2590495" y="5764378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이수 과목 수 (1-2학기)</a:t>
            </a:r>
            <a:endParaRPr lang="en-US" sz="900" dirty="0"/>
          </a:p>
        </p:txBody>
      </p:sp>
      <p:sp>
        <p:nvSpPr>
          <p:cNvPr id="70" name="Text 60"/>
          <p:cNvSpPr txBox="1"/>
          <p:nvPr/>
        </p:nvSpPr>
        <p:spPr>
          <a:xfrm>
            <a:off x="5816498" y="5611673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납부 현황</a:t>
            </a:r>
            <a:endParaRPr lang="en-US" sz="900" dirty="0"/>
          </a:p>
        </p:txBody>
      </p:sp>
      <p:sp>
        <p:nvSpPr>
          <p:cNvPr id="71" name="Shape 61"/>
          <p:cNvSpPr/>
          <p:nvPr/>
        </p:nvSpPr>
        <p:spPr>
          <a:xfrm>
            <a:off x="5673852" y="5362956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72" name="Text 62"/>
          <p:cNvSpPr txBox="1"/>
          <p:nvPr/>
        </p:nvSpPr>
        <p:spPr>
          <a:xfrm>
            <a:off x="5749747" y="5393131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</a:t>
            </a:r>
            <a:endParaRPr lang="en-US" sz="800" dirty="0"/>
          </a:p>
        </p:txBody>
      </p:sp>
      <p:pic>
        <p:nvPicPr>
          <p:cNvPr id="73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5673852" y="5640019"/>
            <a:ext cx="105156" cy="114300"/>
          </a:xfrm>
          <a:prstGeom prst="rect">
            <a:avLst/>
          </a:prstGeom>
        </p:spPr>
      </p:pic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5673852" y="5792724"/>
            <a:ext cx="105156" cy="11430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5816498" y="5764378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장학금 수혜 여부</a:t>
            </a:r>
            <a:endParaRPr lang="en-US" sz="900" dirty="0"/>
          </a:p>
        </p:txBody>
      </p:sp>
      <p:sp>
        <p:nvSpPr>
          <p:cNvPr id="76" name="Text 64"/>
          <p:cNvSpPr txBox="1"/>
          <p:nvPr/>
        </p:nvSpPr>
        <p:spPr>
          <a:xfrm>
            <a:off x="9042502" y="5611673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입학 당시 연령</a:t>
            </a:r>
            <a:endParaRPr lang="en-US" sz="900" dirty="0"/>
          </a:p>
        </p:txBody>
      </p:sp>
      <p:sp>
        <p:nvSpPr>
          <p:cNvPr id="77" name="Text 65"/>
          <p:cNvSpPr txBox="1"/>
          <p:nvPr/>
        </p:nvSpPr>
        <p:spPr>
          <a:xfrm>
            <a:off x="9042502" y="5764378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이수/등록 상태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8899855" y="5362956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FF4D4F">
              <a:alpha val="10000"/>
            </a:srgbClr>
          </a:solidFill>
          <a:ln/>
        </p:spPr>
      </p:sp>
      <p:sp>
        <p:nvSpPr>
          <p:cNvPr id="79" name="Text 67"/>
          <p:cNvSpPr txBox="1"/>
          <p:nvPr/>
        </p:nvSpPr>
        <p:spPr>
          <a:xfrm>
            <a:off x="8975750" y="5393131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4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학적</a:t>
            </a:r>
            <a:endParaRPr lang="en-US" sz="800" dirty="0"/>
          </a:p>
        </p:txBody>
      </p:sp>
      <p:pic>
        <p:nvPicPr>
          <p:cNvPr id="80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8899855" y="5640019"/>
            <a:ext cx="105156" cy="114300"/>
          </a:xfrm>
          <a:prstGeom prst="rect">
            <a:avLst/>
          </a:prstGeom>
        </p:spPr>
      </p:pic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8899855" y="5792724"/>
            <a:ext cx="105156" cy="114300"/>
          </a:xfrm>
          <a:prstGeom prst="rect">
            <a:avLst/>
          </a:prstGeom>
        </p:spPr>
      </p:pic>
      <p:sp>
        <p:nvSpPr>
          <p:cNvPr id="82" name="Text 68"/>
          <p:cNvSpPr txBox="1"/>
          <p:nvPr/>
        </p:nvSpPr>
        <p:spPr>
          <a:xfrm>
            <a:off x="2361895" y="6078931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상관관계 분석 결과 상위 변수 기준</a:t>
            </a:r>
            <a:endParaRPr lang="en-US" sz="900" dirty="0"/>
          </a:p>
        </p:txBody>
      </p:sp>
      <p:sp>
        <p:nvSpPr>
          <p:cNvPr id="83" name="Shape 69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Text 70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85" name="Text 71"/>
          <p:cNvSpPr txBox="1"/>
          <p:nvPr/>
        </p:nvSpPr>
        <p:spPr>
          <a:xfrm>
            <a:off x="11880799" y="66202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0762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1713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1905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57185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157185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0665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705" y="25621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2705" y="30577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5877" y="16669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5877" y="21625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7" y="26572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5877" y="31528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9846" y="168615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" y="21808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846" y="26764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17205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677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핵심 인사이트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780898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1911" r="-1911" t="0" b="0"/>
          <a:stretch/>
        </p:blipFill>
        <p:spPr>
          <a:xfrm>
            <a:off x="2514600" y="671170"/>
            <a:ext cx="133502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290926" y="609905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86507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 분석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7735" y="671170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19526" y="6382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탐색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3819449" cy="647395"/>
          </a:xfrm>
          <a:prstGeom prst="roundRect">
            <a:avLst>
              <a:gd name="adj" fmla="val 2077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247595" y="1143000"/>
            <a:ext cx="38405" cy="6473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38" name="Shape 33"/>
          <p:cNvSpPr/>
          <p:nvPr/>
        </p:nvSpPr>
        <p:spPr>
          <a:xfrm>
            <a:off x="2400300" y="1257300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38705" y="1295705"/>
            <a:ext cx="152705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2704795" y="1276502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 관계 분석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2400300" y="1514246"/>
            <a:ext cx="3296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1·2학기 이수 학점과 이수 과목 수가 Dropout과 강한 상관관계 보임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2247595" y="1867205"/>
            <a:ext cx="3819449" cy="647395"/>
          </a:xfrm>
          <a:prstGeom prst="roundRect">
            <a:avLst>
              <a:gd name="adj" fmla="val 2077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2247595" y="1867205"/>
            <a:ext cx="38405" cy="6473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44" name="Shape 38"/>
          <p:cNvSpPr/>
          <p:nvPr/>
        </p:nvSpPr>
        <p:spPr>
          <a:xfrm>
            <a:off x="2400300" y="1981505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38705" y="2018995"/>
            <a:ext cx="152705" cy="15270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2704795" y="2000707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학적/재정 요인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2400300" y="2238451"/>
            <a:ext cx="3477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납부 상태와 장학금 여부가 학업 유지/이탈에 유의미한 영향 확인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2247595" y="2590495"/>
            <a:ext cx="3819449" cy="800100"/>
          </a:xfrm>
          <a:prstGeom prst="roundRect">
            <a:avLst>
              <a:gd name="adj" fmla="val 1360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2247595" y="2590495"/>
            <a:ext cx="38405" cy="800100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50" name="Shape 43"/>
          <p:cNvSpPr/>
          <p:nvPr/>
        </p:nvSpPr>
        <p:spPr>
          <a:xfrm>
            <a:off x="2400300" y="2704795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2447849" y="2743200"/>
            <a:ext cx="133502" cy="152705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2704795" y="2723998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입학/배경 요인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2400300" y="2962656"/>
            <a:ext cx="35533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Admission grade, 재학 나이, 부모 학력/직업의 미묘한 상관관계 패턴 발견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2247595" y="3467405"/>
            <a:ext cx="3819449" cy="800100"/>
          </a:xfrm>
          <a:prstGeom prst="roundRect">
            <a:avLst>
              <a:gd name="adj" fmla="val 1360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2247595" y="3467405"/>
            <a:ext cx="38405" cy="800100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56" name="Shape 48"/>
          <p:cNvSpPr/>
          <p:nvPr/>
        </p:nvSpPr>
        <p:spPr>
          <a:xfrm>
            <a:off x="2400300" y="3581705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2457907" y="3619195"/>
            <a:ext cx="114300" cy="152705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2704795" y="36009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</a:t>
            </a:r>
            <a:endParaRPr lang="en-US" sz="1000" dirty="0"/>
          </a:p>
        </p:txBody>
      </p:sp>
      <p:sp>
        <p:nvSpPr>
          <p:cNvPr id="59" name="Text 50"/>
          <p:cNvSpPr txBox="1"/>
          <p:nvPr/>
        </p:nvSpPr>
        <p:spPr>
          <a:xfrm>
            <a:off x="2400300" y="3838651"/>
            <a:ext cx="35725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 비율이 상대적으로 높음 → F1 Score, AUC 중심의 모델 평가 채택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6293815" y="1143000"/>
            <a:ext cx="5790895" cy="5286146"/>
          </a:xfrm>
          <a:prstGeom prst="roundRect">
            <a:avLst>
              <a:gd name="adj" fmla="val 312"/>
            </a:avLst>
          </a:prstGeom>
          <a:solidFill>
            <a:srgbClr val="F0FF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1" name="Text 52"/>
          <p:cNvSpPr txBox="1"/>
          <p:nvPr/>
        </p:nvSpPr>
        <p:spPr>
          <a:xfrm>
            <a:off x="8374990" y="1257300"/>
            <a:ext cx="1729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변수 간 상관관계 히트맵</a:t>
            </a:r>
            <a:endParaRPr lang="en-US" sz="1000" dirty="0"/>
          </a:p>
        </p:txBody>
      </p:sp>
      <p:sp>
        <p:nvSpPr>
          <p:cNvPr id="62" name="Text 53"/>
          <p:cNvSpPr txBox="1"/>
          <p:nvPr/>
        </p:nvSpPr>
        <p:spPr>
          <a:xfrm>
            <a:off x="7942478" y="1438351"/>
            <a:ext cx="2572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1·2학기 학업 성취도와 이탈률 간 높은 상관관계 확인</a:t>
            </a:r>
            <a:endParaRPr lang="en-US" sz="9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61" b="61"/>
          <a:stretch/>
        </p:blipFill>
        <p:spPr>
          <a:xfrm>
            <a:off x="6916522" y="1833372"/>
            <a:ext cx="4543654" cy="4286707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66" name="Text 56"/>
          <p:cNvSpPr txBox="1"/>
          <p:nvPr/>
        </p:nvSpPr>
        <p:spPr>
          <a:xfrm>
            <a:off x="11880799" y="66202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5/18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2104949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324405" y="130759"/>
            <a:ext cx="9677095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514600" y="311810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 및 근거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514600" y="625450"/>
            <a:ext cx="1238098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90495" y="687629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828593" y="625450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743200" y="654710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Selection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04488" y="687629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4057193" y="654710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중요도 분석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324405" y="1295705"/>
            <a:ext cx="3943807" cy="1410005"/>
          </a:xfrm>
          <a:prstGeom prst="roundRect">
            <a:avLst>
              <a:gd name="adj" fmla="val 4382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324405" y="2811780"/>
            <a:ext cx="3943807" cy="1190549"/>
          </a:xfrm>
          <a:prstGeom prst="roundRect">
            <a:avLst>
              <a:gd name="adj" fmla="val 61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476195" y="1447495"/>
            <a:ext cx="304495" cy="30449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53005" y="1524305"/>
            <a:ext cx="152705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2857500" y="1485900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방법론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2476195" y="1828800"/>
            <a:ext cx="37005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트리계열 Feature Importance + Permutation Importance 교차 검증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2476195" y="2286000"/>
            <a:ext cx="1076249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-1677" r="-1677" t="0" b="0"/>
          <a:stretch/>
        </p:blipFill>
        <p:spPr>
          <a:xfrm>
            <a:off x="2553005" y="2343607"/>
            <a:ext cx="95098" cy="105156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3625596" y="2286000"/>
            <a:ext cx="952805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2686507" y="2316175"/>
            <a:ext cx="8714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</a:t>
            </a:r>
            <a:endParaRPr lang="en-US" sz="8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01491" y="2343607"/>
            <a:ext cx="105156" cy="105156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3844138" y="2316175"/>
            <a:ext cx="7379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Permutation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2476195" y="2963570"/>
            <a:ext cx="304495" cy="30449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2542946" y="3040380"/>
            <a:ext cx="171907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2857500" y="300197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변수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2476195" y="3344875"/>
            <a:ext cx="1162202" cy="209398"/>
          </a:xfrm>
          <a:prstGeom prst="roundRect">
            <a:avLst>
              <a:gd name="adj" fmla="val 79396"/>
            </a:avLst>
          </a:prstGeom>
          <a:solidFill>
            <a:srgbClr val="5B8FF9">
              <a:alpha val="10000"/>
            </a:srgbClr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-783" r="-783" t="0" b="0"/>
          <a:stretch/>
        </p:blipFill>
        <p:spPr>
          <a:xfrm>
            <a:off x="2553005" y="3395167"/>
            <a:ext cx="133502" cy="105156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2324405" y="4113886"/>
            <a:ext cx="3943807" cy="1371600"/>
          </a:xfrm>
          <a:prstGeom prst="roundRect">
            <a:avLst>
              <a:gd name="adj" fmla="val 463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3682289" y="3344875"/>
            <a:ext cx="1162202" cy="209398"/>
          </a:xfrm>
          <a:prstGeom prst="roundRect">
            <a:avLst>
              <a:gd name="adj" fmla="val 79396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5" name="Text 45"/>
          <p:cNvSpPr txBox="1"/>
          <p:nvPr/>
        </p:nvSpPr>
        <p:spPr>
          <a:xfrm>
            <a:off x="2723998" y="3367735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2학기 이수 과목 수</a:t>
            </a:r>
            <a:endParaRPr lang="en-US" sz="8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-783" r="-783" t="0" b="0"/>
          <a:stretch/>
        </p:blipFill>
        <p:spPr>
          <a:xfrm>
            <a:off x="3759098" y="3395167"/>
            <a:ext cx="133502" cy="105156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2857500" y="430499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</a:t>
            </a:r>
            <a:endParaRPr lang="en-US" sz="1200" dirty="0"/>
          </a:p>
        </p:txBody>
      </p:sp>
      <p:sp>
        <p:nvSpPr>
          <p:cNvPr id="58" name="Shape 47"/>
          <p:cNvSpPr/>
          <p:nvPr/>
        </p:nvSpPr>
        <p:spPr>
          <a:xfrm>
            <a:off x="2476195" y="3596335"/>
            <a:ext cx="1009498" cy="209398"/>
          </a:xfrm>
          <a:prstGeom prst="roundRect">
            <a:avLst>
              <a:gd name="adj" fmla="val 79396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9" name="Text 48"/>
          <p:cNvSpPr txBox="1"/>
          <p:nvPr/>
        </p:nvSpPr>
        <p:spPr>
          <a:xfrm>
            <a:off x="3930091" y="3367735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1학기 이수 과목 수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4888382" y="3344875"/>
            <a:ext cx="1047902" cy="209398"/>
          </a:xfrm>
          <a:prstGeom prst="roundRect">
            <a:avLst>
              <a:gd name="adj" fmla="val 79396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965192" y="3395167"/>
            <a:ext cx="105156" cy="105156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5107838" y="3367735"/>
            <a:ext cx="8330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납부 상태</a:t>
            </a:r>
            <a:endParaRPr lang="en-US" sz="80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553005" y="3646627"/>
            <a:ext cx="105156" cy="105156"/>
          </a:xfrm>
          <a:prstGeom prst="rect">
            <a:avLst/>
          </a:prstGeom>
        </p:spPr>
      </p:pic>
      <p:sp>
        <p:nvSpPr>
          <p:cNvPr id="64" name="Shape 51"/>
          <p:cNvSpPr/>
          <p:nvPr/>
        </p:nvSpPr>
        <p:spPr>
          <a:xfrm>
            <a:off x="3525926" y="3596335"/>
            <a:ext cx="1009498" cy="209398"/>
          </a:xfrm>
          <a:prstGeom prst="roundRect">
            <a:avLst>
              <a:gd name="adj" fmla="val 79396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65" name="Text 52"/>
          <p:cNvSpPr txBox="1"/>
          <p:nvPr/>
        </p:nvSpPr>
        <p:spPr>
          <a:xfrm>
            <a:off x="2695651" y="3619195"/>
            <a:ext cx="7946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1학기 이수 학점</a:t>
            </a:r>
            <a:endParaRPr lang="en-US" sz="800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602736" y="3646627"/>
            <a:ext cx="105156" cy="105156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3745382" y="3619195"/>
            <a:ext cx="7946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2학기 이수 학점</a:t>
            </a:r>
            <a:endParaRPr lang="en-US" sz="800" dirty="0"/>
          </a:p>
        </p:txBody>
      </p:sp>
      <p:sp>
        <p:nvSpPr>
          <p:cNvPr id="68" name="Shape 54"/>
          <p:cNvSpPr/>
          <p:nvPr/>
        </p:nvSpPr>
        <p:spPr>
          <a:xfrm>
            <a:off x="2476195" y="4266590"/>
            <a:ext cx="304495" cy="30449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00" b="-100"/>
          <a:stretch/>
        </p:blipFill>
        <p:spPr>
          <a:xfrm>
            <a:off x="2572207" y="4342486"/>
            <a:ext cx="114300" cy="152705"/>
          </a:xfrm>
          <a:prstGeom prst="rect">
            <a:avLst/>
          </a:prstGeom>
        </p:spPr>
      </p:pic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476195" y="4711903"/>
            <a:ext cx="133502" cy="133502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2686507" y="4666183"/>
            <a:ext cx="2872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성취/참여 지표가 이탈 예측에 가장 큰 영향력</a:t>
            </a:r>
            <a:endParaRPr lang="en-US" sz="1000" dirty="0"/>
          </a:p>
        </p:txBody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476195" y="5092294"/>
            <a:ext cx="133502" cy="133502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2686507" y="4952390"/>
            <a:ext cx="34719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납부 상태는 재정 건전성과 학업 지속 의지를 반영하는 주요 지표</a:t>
            </a:r>
            <a:endParaRPr lang="en-US" sz="1000" dirty="0"/>
          </a:p>
        </p:txBody>
      </p:sp>
      <p:sp>
        <p:nvSpPr>
          <p:cNvPr id="74" name="Shape 57"/>
          <p:cNvSpPr/>
          <p:nvPr/>
        </p:nvSpPr>
        <p:spPr>
          <a:xfrm>
            <a:off x="6420002" y="1295705"/>
            <a:ext cx="5581498" cy="4190695"/>
          </a:xfrm>
          <a:prstGeom prst="roundRect">
            <a:avLst>
              <a:gd name="adj" fmla="val 49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5" name="Text 58"/>
          <p:cNvSpPr txBox="1"/>
          <p:nvPr/>
        </p:nvSpPr>
        <p:spPr>
          <a:xfrm>
            <a:off x="6572707" y="1457554"/>
            <a:ext cx="17766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76" name="Shape 59"/>
          <p:cNvSpPr/>
          <p:nvPr/>
        </p:nvSpPr>
        <p:spPr>
          <a:xfrm>
            <a:off x="10797235" y="1470355"/>
            <a:ext cx="1057046" cy="228600"/>
          </a:xfrm>
          <a:prstGeom prst="roundRect">
            <a:avLst>
              <a:gd name="adj" fmla="val 333333"/>
            </a:avLst>
          </a:prstGeom>
          <a:solidFill>
            <a:srgbClr val="52C41A">
              <a:alpha val="10000"/>
            </a:srgbClr>
          </a:solidFill>
          <a:ln/>
        </p:spPr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873130" y="1528877"/>
            <a:ext cx="105156" cy="105156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11015777" y="1501445"/>
            <a:ext cx="8421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2C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RandomForest</a:t>
            </a:r>
            <a:endParaRPr lang="en-US" sz="800" dirty="0"/>
          </a:p>
        </p:txBody>
      </p:sp>
      <p:sp>
        <p:nvSpPr>
          <p:cNvPr id="79" name="Text 61"/>
          <p:cNvSpPr txBox="1"/>
          <p:nvPr/>
        </p:nvSpPr>
        <p:spPr>
          <a:xfrm>
            <a:off x="6572707" y="1819656"/>
            <a:ext cx="2276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중도이탈 예측에 영향을 미치는 주요 변수 분석</a:t>
            </a:r>
            <a:endParaRPr lang="en-US" sz="900" dirty="0"/>
          </a:p>
        </p:txBody>
      </p:sp>
      <p:pic>
        <p:nvPicPr>
          <p:cNvPr id="8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5" b="-15"/>
          <a:stretch/>
        </p:blipFill>
        <p:spPr>
          <a:xfrm>
            <a:off x="6572707" y="2057400"/>
            <a:ext cx="5277002" cy="1429207"/>
          </a:xfrm>
          <a:prstGeom prst="rect">
            <a:avLst/>
          </a:prstGeom>
        </p:spPr>
      </p:pic>
      <p:sp>
        <p:nvSpPr>
          <p:cNvPr id="81" name="Shape 62"/>
          <p:cNvSpPr/>
          <p:nvPr/>
        </p:nvSpPr>
        <p:spPr>
          <a:xfrm>
            <a:off x="6572707" y="3600907"/>
            <a:ext cx="5277002" cy="304495"/>
          </a:xfrm>
          <a:prstGeom prst="roundRect">
            <a:avLst>
              <a:gd name="adj" fmla="val 75075"/>
            </a:avLst>
          </a:prstGeom>
          <a:solidFill>
            <a:srgbClr val="EFF6FF"/>
          </a:solidFill>
          <a:ln/>
        </p:spPr>
      </p:sp>
      <p:sp>
        <p:nvSpPr>
          <p:cNvPr id="82" name="Text 63"/>
          <p:cNvSpPr txBox="1"/>
          <p:nvPr/>
        </p:nvSpPr>
        <p:spPr>
          <a:xfrm>
            <a:off x="6648602" y="3666744"/>
            <a:ext cx="4048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학생의 학업 성취도 관련 지표와 재정 상태가 중도탈락 예측에 가장 큰 영향력을 보임</a:t>
            </a:r>
            <a:endParaRPr lang="en-US" sz="900" dirty="0"/>
          </a:p>
        </p:txBody>
      </p:sp>
      <p:sp>
        <p:nvSpPr>
          <p:cNvPr id="83" name="Shape 64"/>
          <p:cNvSpPr/>
          <p:nvPr/>
        </p:nvSpPr>
        <p:spPr>
          <a:xfrm>
            <a:off x="2133295" y="6467551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Text 65"/>
          <p:cNvSpPr txBox="1"/>
          <p:nvPr/>
        </p:nvSpPr>
        <p:spPr>
          <a:xfrm>
            <a:off x="2247595" y="6581851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85" name="Text 66"/>
          <p:cNvSpPr txBox="1"/>
          <p:nvPr/>
        </p:nvSpPr>
        <p:spPr>
          <a:xfrm>
            <a:off x="11842394" y="6581851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6/18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2104949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모델 비교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100035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514039" y="609905"/>
            <a:ext cx="10195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평가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3590849" y="671170"/>
            <a:ext cx="133502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761842" y="638251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 선택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2247595" y="1143000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모델 성능 비교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2247595" y="1371600"/>
            <a:ext cx="3228746" cy="1324051"/>
          </a:xfrm>
          <a:prstGeom prst="roundRect">
            <a:avLst>
              <a:gd name="adj" fmla="val 4968"/>
            </a:avLst>
          </a:prstGeom>
          <a:solidFill>
            <a:srgbClr val="F0FF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361895" y="1600200"/>
            <a:ext cx="228600" cy="228600"/>
          </a:xfrm>
          <a:prstGeom prst="ellipse">
            <a:avLst/>
          </a:prstGeom>
          <a:solidFill>
            <a:srgbClr val="9B59B6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2409444" y="1638605"/>
            <a:ext cx="133502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2667305" y="14859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2667305" y="171450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트리 기반 모델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2361895" y="1981505"/>
            <a:ext cx="819302" cy="181051"/>
          </a:xfrm>
          <a:prstGeom prst="roundRect">
            <a:avLst>
              <a:gd name="adj" fmla="val 505051"/>
            </a:avLst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07615" y="2022653"/>
            <a:ext cx="95098" cy="95098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2541118" y="1996135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F1: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2686507" y="199613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0.932609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3211373" y="1981505"/>
            <a:ext cx="1133856" cy="181051"/>
          </a:xfrm>
          <a:prstGeom prst="roundRect">
            <a:avLst>
              <a:gd name="adj" fmla="val 505051"/>
            </a:avLst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57093" y="2022653"/>
            <a:ext cx="95098" cy="95098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3390595" y="1996135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</a:t>
            </a:r>
            <a:endParaRPr lang="en-US" sz="800" dirty="0"/>
          </a:p>
        </p:txBody>
      </p:sp>
      <p:sp>
        <p:nvSpPr>
          <p:cNvPr id="49" name="Text 41"/>
          <p:cNvSpPr txBox="1"/>
          <p:nvPr/>
        </p:nvSpPr>
        <p:spPr>
          <a:xfrm>
            <a:off x="3849624" y="199613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0.914601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2361895" y="2236622"/>
            <a:ext cx="3000146" cy="342900"/>
          </a:xfrm>
          <a:prstGeom prst="roundRect">
            <a:avLst>
              <a:gd name="adj" fmla="val 29630"/>
            </a:avLst>
          </a:prstGeom>
          <a:solidFill>
            <a:srgbClr val="ECFDF5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2419502" y="2340864"/>
            <a:ext cx="171907" cy="152705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2628900" y="229331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성능 지표에서 최고 성능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5549494" y="1371600"/>
            <a:ext cx="3228746" cy="1324051"/>
          </a:xfrm>
          <a:prstGeom prst="roundRect">
            <a:avLst>
              <a:gd name="adj" fmla="val 4968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5663794" y="1600200"/>
            <a:ext cx="228600" cy="2286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5711342" y="1638605"/>
            <a:ext cx="133502" cy="152705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5969203" y="1485900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5969203" y="1714500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그래디언트 부스팅 기반</a:t>
            </a:r>
            <a:endParaRPr lang="en-US" sz="1200" dirty="0"/>
          </a:p>
        </p:txBody>
      </p:sp>
      <p:sp>
        <p:nvSpPr>
          <p:cNvPr id="58" name="Shape 48"/>
          <p:cNvSpPr/>
          <p:nvPr/>
        </p:nvSpPr>
        <p:spPr>
          <a:xfrm>
            <a:off x="5663794" y="1981505"/>
            <a:ext cx="819302" cy="181051"/>
          </a:xfrm>
          <a:prstGeom prst="roundRect">
            <a:avLst>
              <a:gd name="adj" fmla="val 505051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709514" y="2022653"/>
            <a:ext cx="95098" cy="9509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5843016" y="1996135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F1:</a:t>
            </a:r>
            <a:endParaRPr lang="en-US" sz="800" dirty="0"/>
          </a:p>
        </p:txBody>
      </p:sp>
      <p:sp>
        <p:nvSpPr>
          <p:cNvPr id="61" name="Text 50"/>
          <p:cNvSpPr txBox="1"/>
          <p:nvPr/>
        </p:nvSpPr>
        <p:spPr>
          <a:xfrm>
            <a:off x="5988406" y="199613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0.929978</a:t>
            </a:r>
            <a:endParaRPr lang="en-US" sz="800" dirty="0"/>
          </a:p>
        </p:txBody>
      </p:sp>
      <p:sp>
        <p:nvSpPr>
          <p:cNvPr id="62" name="Shape 51"/>
          <p:cNvSpPr/>
          <p:nvPr/>
        </p:nvSpPr>
        <p:spPr>
          <a:xfrm>
            <a:off x="6513271" y="1981505"/>
            <a:ext cx="1133856" cy="181051"/>
          </a:xfrm>
          <a:prstGeom prst="roundRect">
            <a:avLst>
              <a:gd name="adj" fmla="val 505051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58991" y="2022653"/>
            <a:ext cx="95098" cy="95098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6692494" y="1996135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</a:t>
            </a:r>
            <a:endParaRPr lang="en-US" sz="800" dirty="0"/>
          </a:p>
        </p:txBody>
      </p:sp>
      <p:sp>
        <p:nvSpPr>
          <p:cNvPr id="65" name="Text 53"/>
          <p:cNvSpPr txBox="1"/>
          <p:nvPr/>
        </p:nvSpPr>
        <p:spPr>
          <a:xfrm>
            <a:off x="7151522" y="199613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0.911846</a:t>
            </a:r>
            <a:endParaRPr lang="en-US" sz="800" dirty="0"/>
          </a:p>
        </p:txBody>
      </p:sp>
      <p:sp>
        <p:nvSpPr>
          <p:cNvPr id="66" name="Shape 54"/>
          <p:cNvSpPr/>
          <p:nvPr/>
        </p:nvSpPr>
        <p:spPr>
          <a:xfrm>
            <a:off x="8852306" y="1371600"/>
            <a:ext cx="3228746" cy="1324051"/>
          </a:xfrm>
          <a:prstGeom prst="roundRect">
            <a:avLst>
              <a:gd name="adj" fmla="val 4968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8966606" y="1600200"/>
            <a:ext cx="228600" cy="228600"/>
          </a:xfrm>
          <a:prstGeom prst="ellipse">
            <a:avLst/>
          </a:prstGeom>
          <a:solidFill>
            <a:srgbClr val="9B59B6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8994953" y="1638605"/>
            <a:ext cx="171907" cy="152705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9271102" y="1485900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AdaBoost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9271102" y="1714500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적응형 부스팅 기반</a:t>
            </a:r>
            <a:endParaRPr lang="en-US" sz="1200" dirty="0"/>
          </a:p>
        </p:txBody>
      </p:sp>
      <p:sp>
        <p:nvSpPr>
          <p:cNvPr id="71" name="Shape 58"/>
          <p:cNvSpPr/>
          <p:nvPr/>
        </p:nvSpPr>
        <p:spPr>
          <a:xfrm>
            <a:off x="8966606" y="1981505"/>
            <a:ext cx="819302" cy="181051"/>
          </a:xfrm>
          <a:prstGeom prst="roundRect">
            <a:avLst>
              <a:gd name="adj" fmla="val 505051"/>
            </a:avLst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011412" y="2022653"/>
            <a:ext cx="95098" cy="95098"/>
          </a:xfrm>
          <a:prstGeom prst="rect">
            <a:avLst/>
          </a:prstGeom>
        </p:spPr>
      </p:pic>
      <p:sp>
        <p:nvSpPr>
          <p:cNvPr id="73" name="Text 59"/>
          <p:cNvSpPr txBox="1"/>
          <p:nvPr/>
        </p:nvSpPr>
        <p:spPr>
          <a:xfrm>
            <a:off x="9144914" y="1996135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F1:</a:t>
            </a:r>
            <a:endParaRPr lang="en-US" sz="800" dirty="0"/>
          </a:p>
        </p:txBody>
      </p:sp>
      <p:sp>
        <p:nvSpPr>
          <p:cNvPr id="74" name="Text 60"/>
          <p:cNvSpPr txBox="1"/>
          <p:nvPr/>
        </p:nvSpPr>
        <p:spPr>
          <a:xfrm>
            <a:off x="9290304" y="199613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0.924755</a:t>
            </a:r>
            <a:endParaRPr lang="en-US" sz="800" dirty="0"/>
          </a:p>
        </p:txBody>
      </p:sp>
      <p:sp>
        <p:nvSpPr>
          <p:cNvPr id="75" name="Shape 61"/>
          <p:cNvSpPr/>
          <p:nvPr/>
        </p:nvSpPr>
        <p:spPr>
          <a:xfrm>
            <a:off x="9815170" y="1981505"/>
            <a:ext cx="1133856" cy="181051"/>
          </a:xfrm>
          <a:prstGeom prst="roundRect">
            <a:avLst>
              <a:gd name="adj" fmla="val 505051"/>
            </a:avLst>
          </a:prstGeom>
          <a:solidFill>
            <a:srgbClr val="9B59B6">
              <a:alpha val="10000"/>
            </a:srgbClr>
          </a:solidFill>
          <a:ln/>
        </p:spPr>
      </p:sp>
      <p:pic>
        <p:nvPicPr>
          <p:cNvPr id="7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860890" y="2022653"/>
            <a:ext cx="95098" cy="95098"/>
          </a:xfrm>
          <a:prstGeom prst="rect">
            <a:avLst/>
          </a:prstGeom>
        </p:spPr>
      </p:pic>
      <p:sp>
        <p:nvSpPr>
          <p:cNvPr id="77" name="Text 62"/>
          <p:cNvSpPr txBox="1"/>
          <p:nvPr/>
        </p:nvSpPr>
        <p:spPr>
          <a:xfrm>
            <a:off x="9994392" y="1996135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</a:t>
            </a:r>
            <a:endParaRPr lang="en-US" sz="800" dirty="0"/>
          </a:p>
        </p:txBody>
      </p:sp>
      <p:sp>
        <p:nvSpPr>
          <p:cNvPr id="78" name="Text 63"/>
          <p:cNvSpPr txBox="1"/>
          <p:nvPr/>
        </p:nvSpPr>
        <p:spPr>
          <a:xfrm>
            <a:off x="10453421" y="199613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0.904959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2247595" y="2769718"/>
            <a:ext cx="3228746" cy="942746"/>
          </a:xfrm>
          <a:prstGeom prst="roundRect">
            <a:avLst>
              <a:gd name="adj" fmla="val 979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0" name="Shape 65"/>
          <p:cNvSpPr/>
          <p:nvPr/>
        </p:nvSpPr>
        <p:spPr>
          <a:xfrm>
            <a:off x="2361895" y="2998318"/>
            <a:ext cx="228600" cy="2286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400300" y="3036722"/>
            <a:ext cx="152705" cy="152705"/>
          </a:xfrm>
          <a:prstGeom prst="rect">
            <a:avLst/>
          </a:prstGeom>
        </p:spPr>
      </p:pic>
      <p:sp>
        <p:nvSpPr>
          <p:cNvPr id="82" name="Text 66"/>
          <p:cNvSpPr txBox="1"/>
          <p:nvPr/>
        </p:nvSpPr>
        <p:spPr>
          <a:xfrm>
            <a:off x="2667305" y="2884018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200" dirty="0"/>
          </a:p>
        </p:txBody>
      </p:sp>
      <p:sp>
        <p:nvSpPr>
          <p:cNvPr id="83" name="Text 67"/>
          <p:cNvSpPr txBox="1"/>
          <p:nvPr/>
        </p:nvSpPr>
        <p:spPr>
          <a:xfrm>
            <a:off x="2667305" y="3112618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 그래디언트 부스팅</a:t>
            </a:r>
            <a:endParaRPr lang="en-US" sz="1200" dirty="0"/>
          </a:p>
        </p:txBody>
      </p:sp>
      <p:sp>
        <p:nvSpPr>
          <p:cNvPr id="84" name="Shape 68"/>
          <p:cNvSpPr/>
          <p:nvPr/>
        </p:nvSpPr>
        <p:spPr>
          <a:xfrm>
            <a:off x="2361895" y="3379622"/>
            <a:ext cx="819302" cy="181051"/>
          </a:xfrm>
          <a:prstGeom prst="roundRect">
            <a:avLst>
              <a:gd name="adj" fmla="val 505051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8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407615" y="3421685"/>
            <a:ext cx="95098" cy="95098"/>
          </a:xfrm>
          <a:prstGeom prst="rect">
            <a:avLst/>
          </a:prstGeom>
        </p:spPr>
      </p:pic>
      <p:sp>
        <p:nvSpPr>
          <p:cNvPr id="86" name="Text 69"/>
          <p:cNvSpPr txBox="1"/>
          <p:nvPr/>
        </p:nvSpPr>
        <p:spPr>
          <a:xfrm>
            <a:off x="2541118" y="3394253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F1:</a:t>
            </a:r>
            <a:endParaRPr lang="en-US" sz="800" dirty="0"/>
          </a:p>
        </p:txBody>
      </p:sp>
      <p:sp>
        <p:nvSpPr>
          <p:cNvPr id="87" name="Text 70"/>
          <p:cNvSpPr txBox="1"/>
          <p:nvPr/>
        </p:nvSpPr>
        <p:spPr>
          <a:xfrm>
            <a:off x="2686507" y="339425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0.923581</a:t>
            </a:r>
            <a:endParaRPr lang="en-US" sz="800" dirty="0"/>
          </a:p>
        </p:txBody>
      </p:sp>
      <p:sp>
        <p:nvSpPr>
          <p:cNvPr id="88" name="Shape 71"/>
          <p:cNvSpPr/>
          <p:nvPr/>
        </p:nvSpPr>
        <p:spPr>
          <a:xfrm>
            <a:off x="3211373" y="3379622"/>
            <a:ext cx="1133856" cy="181051"/>
          </a:xfrm>
          <a:prstGeom prst="roundRect">
            <a:avLst>
              <a:gd name="adj" fmla="val 505051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8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257093" y="3421685"/>
            <a:ext cx="95098" cy="95098"/>
          </a:xfrm>
          <a:prstGeom prst="rect">
            <a:avLst/>
          </a:prstGeom>
        </p:spPr>
      </p:pic>
      <p:sp>
        <p:nvSpPr>
          <p:cNvPr id="90" name="Text 72"/>
          <p:cNvSpPr txBox="1"/>
          <p:nvPr/>
        </p:nvSpPr>
        <p:spPr>
          <a:xfrm>
            <a:off x="3390595" y="3394253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</a:t>
            </a:r>
            <a:endParaRPr lang="en-US" sz="800" dirty="0"/>
          </a:p>
        </p:txBody>
      </p:sp>
      <p:sp>
        <p:nvSpPr>
          <p:cNvPr id="91" name="Text 73"/>
          <p:cNvSpPr txBox="1"/>
          <p:nvPr/>
        </p:nvSpPr>
        <p:spPr>
          <a:xfrm>
            <a:off x="3849624" y="339425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0.903581</a:t>
            </a:r>
            <a:endParaRPr lang="en-US" sz="800" dirty="0"/>
          </a:p>
        </p:txBody>
      </p:sp>
      <p:sp>
        <p:nvSpPr>
          <p:cNvPr id="92" name="Shape 74"/>
          <p:cNvSpPr/>
          <p:nvPr/>
        </p:nvSpPr>
        <p:spPr>
          <a:xfrm>
            <a:off x="5549494" y="2769718"/>
            <a:ext cx="3228746" cy="942746"/>
          </a:xfrm>
          <a:prstGeom prst="roundRect">
            <a:avLst>
              <a:gd name="adj" fmla="val 979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93" name="Shape 75"/>
          <p:cNvSpPr/>
          <p:nvPr/>
        </p:nvSpPr>
        <p:spPr>
          <a:xfrm>
            <a:off x="5663794" y="2998318"/>
            <a:ext cx="228600" cy="2286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94" name="Image 16" descr="preencoded.png">    </p:cNvPr>
          <p:cNvPicPr>
            <a:picLocks noChangeAspect="1"/>
          </p:cNvPicPr>
          <p:nvPr/>
        </p:nvPicPr>
        <p:blipFill>
          <a:blip r:embed="rId17"/>
          <a:srcRect l="-33" r="-33" t="0" b="0"/>
          <a:stretch/>
        </p:blipFill>
        <p:spPr>
          <a:xfrm>
            <a:off x="5693054" y="3036722"/>
            <a:ext cx="171907" cy="152705"/>
          </a:xfrm>
          <a:prstGeom prst="rect">
            <a:avLst/>
          </a:prstGeom>
        </p:spPr>
      </p:pic>
      <p:sp>
        <p:nvSpPr>
          <p:cNvPr id="95" name="Text 76"/>
          <p:cNvSpPr txBox="1"/>
          <p:nvPr/>
        </p:nvSpPr>
        <p:spPr>
          <a:xfrm>
            <a:off x="5969203" y="2884018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96" name="Text 77"/>
          <p:cNvSpPr txBox="1"/>
          <p:nvPr/>
        </p:nvSpPr>
        <p:spPr>
          <a:xfrm>
            <a:off x="5969203" y="311261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결정 트리 기반</a:t>
            </a:r>
            <a:endParaRPr lang="en-US" sz="1200" dirty="0"/>
          </a:p>
        </p:txBody>
      </p:sp>
      <p:sp>
        <p:nvSpPr>
          <p:cNvPr id="97" name="Shape 78"/>
          <p:cNvSpPr/>
          <p:nvPr/>
        </p:nvSpPr>
        <p:spPr>
          <a:xfrm>
            <a:off x="5663794" y="3379622"/>
            <a:ext cx="819302" cy="181051"/>
          </a:xfrm>
          <a:prstGeom prst="roundRect">
            <a:avLst>
              <a:gd name="adj" fmla="val 505051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98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709514" y="3421685"/>
            <a:ext cx="95098" cy="95098"/>
          </a:xfrm>
          <a:prstGeom prst="rect">
            <a:avLst/>
          </a:prstGeom>
        </p:spPr>
      </p:pic>
      <p:sp>
        <p:nvSpPr>
          <p:cNvPr id="99" name="Text 79"/>
          <p:cNvSpPr txBox="1"/>
          <p:nvPr/>
        </p:nvSpPr>
        <p:spPr>
          <a:xfrm>
            <a:off x="5843016" y="3394253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F1:</a:t>
            </a:r>
            <a:endParaRPr lang="en-US" sz="800" dirty="0"/>
          </a:p>
        </p:txBody>
      </p:sp>
      <p:sp>
        <p:nvSpPr>
          <p:cNvPr id="100" name="Text 80"/>
          <p:cNvSpPr txBox="1"/>
          <p:nvPr/>
        </p:nvSpPr>
        <p:spPr>
          <a:xfrm>
            <a:off x="5988406" y="339425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0.921909</a:t>
            </a:r>
            <a:endParaRPr lang="en-US" sz="800" dirty="0"/>
          </a:p>
        </p:txBody>
      </p:sp>
      <p:sp>
        <p:nvSpPr>
          <p:cNvPr id="101" name="Shape 81"/>
          <p:cNvSpPr/>
          <p:nvPr/>
        </p:nvSpPr>
        <p:spPr>
          <a:xfrm>
            <a:off x="6513271" y="3379622"/>
            <a:ext cx="1133856" cy="181051"/>
          </a:xfrm>
          <a:prstGeom prst="roundRect">
            <a:avLst>
              <a:gd name="adj" fmla="val 505051"/>
            </a:avLst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10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558991" y="3421685"/>
            <a:ext cx="95098" cy="95098"/>
          </a:xfrm>
          <a:prstGeom prst="rect">
            <a:avLst/>
          </a:prstGeom>
        </p:spPr>
      </p:pic>
      <p:sp>
        <p:nvSpPr>
          <p:cNvPr id="103" name="Text 82"/>
          <p:cNvSpPr txBox="1"/>
          <p:nvPr/>
        </p:nvSpPr>
        <p:spPr>
          <a:xfrm>
            <a:off x="6692494" y="3394253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</a:t>
            </a:r>
            <a:endParaRPr lang="en-US" sz="800" dirty="0"/>
          </a:p>
        </p:txBody>
      </p:sp>
      <p:sp>
        <p:nvSpPr>
          <p:cNvPr id="104" name="Text 83"/>
          <p:cNvSpPr txBox="1"/>
          <p:nvPr/>
        </p:nvSpPr>
        <p:spPr>
          <a:xfrm>
            <a:off x="7151522" y="339425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0.900826</a:t>
            </a:r>
            <a:endParaRPr lang="en-US" sz="800" dirty="0"/>
          </a:p>
        </p:txBody>
      </p:sp>
      <p:sp>
        <p:nvSpPr>
          <p:cNvPr id="105" name="Shape 84"/>
          <p:cNvSpPr/>
          <p:nvPr/>
        </p:nvSpPr>
        <p:spPr>
          <a:xfrm>
            <a:off x="8852306" y="2769718"/>
            <a:ext cx="3228746" cy="942746"/>
          </a:xfrm>
          <a:prstGeom prst="roundRect">
            <a:avLst>
              <a:gd name="adj" fmla="val 979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6" name="Shape 85"/>
          <p:cNvSpPr/>
          <p:nvPr/>
        </p:nvSpPr>
        <p:spPr>
          <a:xfrm>
            <a:off x="8966606" y="2998318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7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9004097" y="3036722"/>
            <a:ext cx="152705" cy="152705"/>
          </a:xfrm>
          <a:prstGeom prst="rect">
            <a:avLst/>
          </a:prstGeom>
        </p:spPr>
      </p:pic>
      <p:sp>
        <p:nvSpPr>
          <p:cNvPr id="108" name="Text 86"/>
          <p:cNvSpPr txBox="1"/>
          <p:nvPr/>
        </p:nvSpPr>
        <p:spPr>
          <a:xfrm>
            <a:off x="9271102" y="2884018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9" name="Text 87"/>
          <p:cNvSpPr txBox="1"/>
          <p:nvPr/>
        </p:nvSpPr>
        <p:spPr>
          <a:xfrm>
            <a:off x="9271102" y="311261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분류 기반</a:t>
            </a:r>
            <a:endParaRPr lang="en-US" sz="1200" dirty="0"/>
          </a:p>
        </p:txBody>
      </p:sp>
      <p:sp>
        <p:nvSpPr>
          <p:cNvPr id="110" name="Shape 88"/>
          <p:cNvSpPr/>
          <p:nvPr/>
        </p:nvSpPr>
        <p:spPr>
          <a:xfrm>
            <a:off x="8966606" y="3379622"/>
            <a:ext cx="819302" cy="181051"/>
          </a:xfrm>
          <a:prstGeom prst="roundRect">
            <a:avLst>
              <a:gd name="adj" fmla="val 505051"/>
            </a:avLst>
          </a:prstGeom>
          <a:solidFill>
            <a:srgbClr val="5B8FF9">
              <a:alpha val="10000"/>
            </a:srgbClr>
          </a:solidFill>
          <a:ln/>
        </p:spPr>
      </p:sp>
      <p:pic>
        <p:nvPicPr>
          <p:cNvPr id="111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9011412" y="3421685"/>
            <a:ext cx="95098" cy="95098"/>
          </a:xfrm>
          <a:prstGeom prst="rect">
            <a:avLst/>
          </a:prstGeom>
        </p:spPr>
      </p:pic>
      <p:sp>
        <p:nvSpPr>
          <p:cNvPr id="112" name="Text 89"/>
          <p:cNvSpPr txBox="1"/>
          <p:nvPr/>
        </p:nvSpPr>
        <p:spPr>
          <a:xfrm>
            <a:off x="9144914" y="3394253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F1:</a:t>
            </a:r>
            <a:endParaRPr lang="en-US" sz="800" dirty="0"/>
          </a:p>
        </p:txBody>
      </p:sp>
      <p:sp>
        <p:nvSpPr>
          <p:cNvPr id="113" name="Text 90"/>
          <p:cNvSpPr txBox="1"/>
          <p:nvPr/>
        </p:nvSpPr>
        <p:spPr>
          <a:xfrm>
            <a:off x="9290304" y="339425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0.919463</a:t>
            </a:r>
            <a:endParaRPr lang="en-US" sz="800" dirty="0"/>
          </a:p>
        </p:txBody>
      </p:sp>
      <p:sp>
        <p:nvSpPr>
          <p:cNvPr id="114" name="Shape 91"/>
          <p:cNvSpPr/>
          <p:nvPr/>
        </p:nvSpPr>
        <p:spPr>
          <a:xfrm>
            <a:off x="9815170" y="3379622"/>
            <a:ext cx="1133856" cy="181051"/>
          </a:xfrm>
          <a:prstGeom prst="roundRect">
            <a:avLst>
              <a:gd name="adj" fmla="val 505051"/>
            </a:avLst>
          </a:prstGeom>
          <a:solidFill>
            <a:srgbClr val="5B8FF9">
              <a:alpha val="10000"/>
            </a:srgbClr>
          </a:solidFill>
          <a:ln/>
        </p:spPr>
      </p:sp>
      <p:pic>
        <p:nvPicPr>
          <p:cNvPr id="11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9860890" y="3421685"/>
            <a:ext cx="95098" cy="95098"/>
          </a:xfrm>
          <a:prstGeom prst="rect">
            <a:avLst/>
          </a:prstGeom>
        </p:spPr>
      </p:pic>
      <p:sp>
        <p:nvSpPr>
          <p:cNvPr id="116" name="Text 92"/>
          <p:cNvSpPr txBox="1"/>
          <p:nvPr/>
        </p:nvSpPr>
        <p:spPr>
          <a:xfrm>
            <a:off x="9994392" y="3394253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</a:t>
            </a:r>
            <a:endParaRPr lang="en-US" sz="800" dirty="0"/>
          </a:p>
        </p:txBody>
      </p:sp>
      <p:sp>
        <p:nvSpPr>
          <p:cNvPr id="117" name="Text 93"/>
          <p:cNvSpPr txBox="1"/>
          <p:nvPr/>
        </p:nvSpPr>
        <p:spPr>
          <a:xfrm>
            <a:off x="10453421" y="3394253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0.900826</a:t>
            </a:r>
            <a:endParaRPr lang="en-US" sz="800" dirty="0"/>
          </a:p>
        </p:txBody>
      </p:sp>
      <p:sp>
        <p:nvSpPr>
          <p:cNvPr id="118" name="Text 94"/>
          <p:cNvSpPr txBox="1"/>
          <p:nvPr/>
        </p:nvSpPr>
        <p:spPr>
          <a:xfrm>
            <a:off x="2247595" y="3768242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성능 시각화</a:t>
            </a:r>
            <a:endParaRPr lang="en-US" sz="1000" dirty="0"/>
          </a:p>
        </p:txBody>
      </p:sp>
      <p:sp>
        <p:nvSpPr>
          <p:cNvPr id="119" name="Shape 95"/>
          <p:cNvSpPr/>
          <p:nvPr/>
        </p:nvSpPr>
        <p:spPr>
          <a:xfrm>
            <a:off x="2247595" y="3996842"/>
            <a:ext cx="9829800" cy="1371600"/>
          </a:xfrm>
          <a:prstGeom prst="roundRect">
            <a:avLst>
              <a:gd name="adj" fmla="val 463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20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2361895" y="4111142"/>
            <a:ext cx="9601200" cy="1143000"/>
          </a:xfrm>
          <a:prstGeom prst="rect">
            <a:avLst/>
          </a:prstGeom>
        </p:spPr>
      </p:pic>
      <p:sp>
        <p:nvSpPr>
          <p:cNvPr id="121" name="Text 96"/>
          <p:cNvSpPr txBox="1"/>
          <p:nvPr/>
        </p:nvSpPr>
        <p:spPr>
          <a:xfrm>
            <a:off x="2247595" y="542513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🧪 검증 방법</a:t>
            </a:r>
            <a:endParaRPr lang="en-US" sz="1000" dirty="0"/>
          </a:p>
        </p:txBody>
      </p:sp>
      <p:sp>
        <p:nvSpPr>
          <p:cNvPr id="122" name="Shape 97"/>
          <p:cNvSpPr/>
          <p:nvPr/>
        </p:nvSpPr>
        <p:spPr>
          <a:xfrm>
            <a:off x="2247595" y="5653735"/>
            <a:ext cx="3228746" cy="685800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23" name="Shape 98"/>
          <p:cNvSpPr/>
          <p:nvPr/>
        </p:nvSpPr>
        <p:spPr>
          <a:xfrm>
            <a:off x="2361895" y="5882335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4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2400300" y="5920740"/>
            <a:ext cx="152705" cy="152705"/>
          </a:xfrm>
          <a:prstGeom prst="rect">
            <a:avLst/>
          </a:prstGeom>
        </p:spPr>
      </p:pic>
      <p:sp>
        <p:nvSpPr>
          <p:cNvPr id="125" name="Text 99"/>
          <p:cNvSpPr txBox="1"/>
          <p:nvPr/>
        </p:nvSpPr>
        <p:spPr>
          <a:xfrm>
            <a:off x="2667305" y="576803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</a:t>
            </a:r>
            <a:endParaRPr lang="en-US" sz="1200" dirty="0"/>
          </a:p>
        </p:txBody>
      </p:sp>
      <p:sp>
        <p:nvSpPr>
          <p:cNvPr id="126" name="Text 100"/>
          <p:cNvSpPr txBox="1"/>
          <p:nvPr/>
        </p:nvSpPr>
        <p:spPr>
          <a:xfrm>
            <a:off x="2667305" y="5996635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Stratified K-Fold (k=5)</a:t>
            </a:r>
            <a:endParaRPr lang="en-US" sz="1200" dirty="0"/>
          </a:p>
        </p:txBody>
      </p:sp>
      <p:sp>
        <p:nvSpPr>
          <p:cNvPr id="127" name="Shape 101"/>
          <p:cNvSpPr/>
          <p:nvPr/>
        </p:nvSpPr>
        <p:spPr>
          <a:xfrm>
            <a:off x="5549494" y="5653735"/>
            <a:ext cx="3228746" cy="685800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28" name="Shape 102"/>
          <p:cNvSpPr/>
          <p:nvPr/>
        </p:nvSpPr>
        <p:spPr>
          <a:xfrm>
            <a:off x="5663794" y="5882335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9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5702198" y="5920740"/>
            <a:ext cx="152705" cy="152705"/>
          </a:xfrm>
          <a:prstGeom prst="rect">
            <a:avLst/>
          </a:prstGeom>
        </p:spPr>
      </p:pic>
      <p:sp>
        <p:nvSpPr>
          <p:cNvPr id="130" name="Text 103"/>
          <p:cNvSpPr txBox="1"/>
          <p:nvPr/>
        </p:nvSpPr>
        <p:spPr>
          <a:xfrm>
            <a:off x="5969203" y="576803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최적화</a:t>
            </a:r>
            <a:endParaRPr lang="en-US" sz="1200" dirty="0"/>
          </a:p>
        </p:txBody>
      </p:sp>
      <p:sp>
        <p:nvSpPr>
          <p:cNvPr id="131" name="Text 104"/>
          <p:cNvSpPr txBox="1"/>
          <p:nvPr/>
        </p:nvSpPr>
        <p:spPr>
          <a:xfrm>
            <a:off x="5969203" y="5996635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Grid Search CV</a:t>
            </a:r>
            <a:endParaRPr lang="en-US" sz="1200" dirty="0"/>
          </a:p>
        </p:txBody>
      </p:sp>
      <p:sp>
        <p:nvSpPr>
          <p:cNvPr id="132" name="Shape 105"/>
          <p:cNvSpPr/>
          <p:nvPr/>
        </p:nvSpPr>
        <p:spPr>
          <a:xfrm>
            <a:off x="8852306" y="5653735"/>
            <a:ext cx="3228746" cy="685800"/>
          </a:xfrm>
          <a:prstGeom prst="roundRect">
            <a:avLst>
              <a:gd name="adj" fmla="val 1851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33" name="Shape 106"/>
          <p:cNvSpPr/>
          <p:nvPr/>
        </p:nvSpPr>
        <p:spPr>
          <a:xfrm>
            <a:off x="8966606" y="5882335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9004097" y="5920740"/>
            <a:ext cx="152705" cy="152705"/>
          </a:xfrm>
          <a:prstGeom prst="rect">
            <a:avLst/>
          </a:prstGeom>
        </p:spPr>
      </p:pic>
      <p:sp>
        <p:nvSpPr>
          <p:cNvPr id="135" name="Text 107"/>
          <p:cNvSpPr txBox="1"/>
          <p:nvPr/>
        </p:nvSpPr>
        <p:spPr>
          <a:xfrm>
            <a:off x="9271102" y="576803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136" name="Text 108"/>
          <p:cNvSpPr txBox="1"/>
          <p:nvPr/>
        </p:nvSpPr>
        <p:spPr>
          <a:xfrm>
            <a:off x="9271102" y="5996635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Score, Accuracy</a:t>
            </a:r>
            <a:endParaRPr lang="en-US" sz="1200" dirty="0"/>
          </a:p>
        </p:txBody>
      </p:sp>
      <p:sp>
        <p:nvSpPr>
          <p:cNvPr id="137" name="Shape 109"/>
          <p:cNvSpPr/>
          <p:nvPr/>
        </p:nvSpPr>
        <p:spPr>
          <a:xfrm>
            <a:off x="2133295" y="650595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8" name="Text 110"/>
          <p:cNvSpPr txBox="1"/>
          <p:nvPr/>
        </p:nvSpPr>
        <p:spPr>
          <a:xfrm>
            <a:off x="2190902" y="6572707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1200" dirty="0"/>
          </a:p>
        </p:txBody>
      </p:sp>
      <p:sp>
        <p:nvSpPr>
          <p:cNvPr id="139" name="Text 111"/>
          <p:cNvSpPr txBox="1"/>
          <p:nvPr/>
        </p:nvSpPr>
        <p:spPr>
          <a:xfrm>
            <a:off x="11821363" y="6572707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7/18</a:t>
            </a:r>
            <a:endParaRPr lang="en-US" sz="1200" dirty="0"/>
          </a:p>
        </p:txBody>
      </p:sp>
      <p:sp>
        <p:nvSpPr>
          <p:cNvPr id="140" name="Shape 112"/>
          <p:cNvSpPr/>
          <p:nvPr/>
        </p:nvSpPr>
        <p:spPr>
          <a:xfrm>
            <a:off x="4813402" y="1295705"/>
            <a:ext cx="743407" cy="228600"/>
          </a:xfrm>
          <a:prstGeom prst="roundRect">
            <a:avLst>
              <a:gd name="adj" fmla="val 333333"/>
            </a:avLst>
          </a:prstGeom>
          <a:solidFill>
            <a:srgbClr val="FF4D4F"/>
          </a:solidFill>
          <a:ln/>
          <a:effectLst>
            <a:outerShdw sx="100000" sy="100000" kx="0" ky="0" algn="bl" rotWithShape="0" blurRad="12700" dist="12700" dir="16200000">
              <a:srgbClr val="ff4d4f">
                <a:alpha val="400"/>
              </a:srgbClr>
            </a:outerShdw>
          </a:effectLst>
        </p:spPr>
      </p:sp>
      <p:pic>
        <p:nvPicPr>
          <p:cNvPr id="141" name="Image 26" descr="preencoded.png">    </p:cNvPr>
          <p:cNvPicPr>
            <a:picLocks noChangeAspect="1"/>
          </p:cNvPicPr>
          <p:nvPr/>
        </p:nvPicPr>
        <p:blipFill>
          <a:blip r:embed="rId27"/>
          <a:srcRect l="-2174" r="-2174" t="0" b="0"/>
          <a:stretch/>
        </p:blipFill>
        <p:spPr>
          <a:xfrm>
            <a:off x="4889297" y="1357884"/>
            <a:ext cx="123444" cy="105156"/>
          </a:xfrm>
          <a:prstGeom prst="rect">
            <a:avLst/>
          </a:prstGeom>
        </p:spPr>
      </p:pic>
      <p:sp>
        <p:nvSpPr>
          <p:cNvPr id="142" name="Text 113"/>
          <p:cNvSpPr txBox="1"/>
          <p:nvPr/>
        </p:nvSpPr>
        <p:spPr>
          <a:xfrm>
            <a:off x="5051146" y="1325880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선택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260055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2610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 — Random Forest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972007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2514600" y="671170"/>
            <a:ext cx="85954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485693" y="609905"/>
            <a:ext cx="1047902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38044" y="638251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성능 모델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62502" y="671170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714293" y="638251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91.46%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2400300" cy="1000354"/>
          </a:xfrm>
          <a:prstGeom prst="roundRect">
            <a:avLst>
              <a:gd name="adj" fmla="val 870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724705" y="1143000"/>
            <a:ext cx="2400300" cy="1000354"/>
          </a:xfrm>
          <a:prstGeom prst="roundRect">
            <a:avLst>
              <a:gd name="adj" fmla="val 870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677095" y="1143000"/>
            <a:ext cx="2400300" cy="1000354"/>
          </a:xfrm>
          <a:prstGeom prst="roundRect">
            <a:avLst>
              <a:gd name="adj" fmla="val 870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2361895" y="1285646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4839005" y="1285646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9791395" y="128564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304995" y="1257300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43400" y="1295705"/>
            <a:ext cx="152705" cy="152705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6782105" y="1257300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Text 39"/>
          <p:cNvSpPr txBox="1"/>
          <p:nvPr/>
        </p:nvSpPr>
        <p:spPr>
          <a:xfrm>
            <a:off x="2361895" y="1524305"/>
            <a:ext cx="924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0.9146</a:t>
            </a:r>
            <a:endParaRPr lang="en-US" sz="1800" dirty="0"/>
          </a:p>
        </p:txBody>
      </p:sp>
      <p:sp>
        <p:nvSpPr>
          <p:cNvPr id="46" name="Text 40"/>
          <p:cNvSpPr txBox="1"/>
          <p:nvPr/>
        </p:nvSpPr>
        <p:spPr>
          <a:xfrm>
            <a:off x="4839005" y="1524305"/>
            <a:ext cx="924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0.8975</a:t>
            </a:r>
            <a:endParaRPr lang="en-US" sz="1800" dirty="0"/>
          </a:p>
        </p:txBody>
      </p:sp>
      <p:sp>
        <p:nvSpPr>
          <p:cNvPr id="47" name="Text 41"/>
          <p:cNvSpPr txBox="1"/>
          <p:nvPr/>
        </p:nvSpPr>
        <p:spPr>
          <a:xfrm>
            <a:off x="2361895" y="1867205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</a:t>
            </a:r>
            <a:endParaRPr lang="en-US" sz="8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19595" y="1295705"/>
            <a:ext cx="152705" cy="152705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11734495" y="1257300"/>
            <a:ext cx="228600" cy="228600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Text 43"/>
          <p:cNvSpPr txBox="1"/>
          <p:nvPr/>
        </p:nvSpPr>
        <p:spPr>
          <a:xfrm>
            <a:off x="9791395" y="1524305"/>
            <a:ext cx="924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0.9326</a:t>
            </a:r>
            <a:endParaRPr lang="en-US" sz="1800" dirty="0"/>
          </a:p>
        </p:txBody>
      </p:sp>
      <p:sp>
        <p:nvSpPr>
          <p:cNvPr id="51" name="Text 44"/>
          <p:cNvSpPr txBox="1"/>
          <p:nvPr/>
        </p:nvSpPr>
        <p:spPr>
          <a:xfrm>
            <a:off x="4839005" y="1867205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endParaRPr lang="en-US" sz="800" dirty="0"/>
          </a:p>
        </p:txBody>
      </p:sp>
      <p:sp>
        <p:nvSpPr>
          <p:cNvPr id="52" name="Text 45"/>
          <p:cNvSpPr txBox="1"/>
          <p:nvPr/>
        </p:nvSpPr>
        <p:spPr>
          <a:xfrm>
            <a:off x="9791395" y="1867205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조화 평균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7200900" y="1143000"/>
            <a:ext cx="2400300" cy="1000354"/>
          </a:xfrm>
          <a:prstGeom prst="roundRect">
            <a:avLst>
              <a:gd name="adj" fmla="val 8705"/>
            </a:avLst>
          </a:prstGeom>
          <a:solidFill>
            <a:srgbClr val="F0FF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7200900" y="1143000"/>
            <a:ext cx="38405" cy="1000354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7353605" y="128564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9258300" y="1257300"/>
            <a:ext cx="228600" cy="228600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96705" y="1295705"/>
            <a:ext cx="152705" cy="152705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7353605" y="1524305"/>
            <a:ext cx="924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D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0.9706</a:t>
            </a:r>
            <a:endParaRPr lang="en-US" sz="1800" dirty="0"/>
          </a:p>
        </p:txBody>
      </p:sp>
      <p:sp>
        <p:nvSpPr>
          <p:cNvPr id="59" name="Text 51"/>
          <p:cNvSpPr txBox="1"/>
          <p:nvPr/>
        </p:nvSpPr>
        <p:spPr>
          <a:xfrm>
            <a:off x="7353605" y="1867205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endParaRPr lang="en-US" sz="80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11753698" y="1295705"/>
            <a:ext cx="190195" cy="152705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2247595" y="2217420"/>
            <a:ext cx="9829800" cy="1657807"/>
          </a:xfrm>
          <a:prstGeom prst="roundRect">
            <a:avLst>
              <a:gd name="adj" fmla="val 317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2" name="Shape 53"/>
          <p:cNvSpPr/>
          <p:nvPr/>
        </p:nvSpPr>
        <p:spPr>
          <a:xfrm>
            <a:off x="2361895" y="2331720"/>
            <a:ext cx="228600" cy="228600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00300" y="2370125"/>
            <a:ext cx="152705" cy="152705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2667305" y="2331720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 성능</a:t>
            </a:r>
            <a:endParaRPr lang="en-US" sz="1200" dirty="0"/>
          </a:p>
        </p:txBody>
      </p:sp>
      <p:sp>
        <p:nvSpPr>
          <p:cNvPr id="65" name="Shape 55"/>
          <p:cNvSpPr/>
          <p:nvPr/>
        </p:nvSpPr>
        <p:spPr>
          <a:xfrm>
            <a:off x="2361895" y="2636215"/>
            <a:ext cx="2104949" cy="276149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66" name="Shape 56"/>
          <p:cNvSpPr/>
          <p:nvPr/>
        </p:nvSpPr>
        <p:spPr>
          <a:xfrm>
            <a:off x="4462272" y="2636215"/>
            <a:ext cx="2115007" cy="276149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67" name="Shape 57"/>
          <p:cNvSpPr/>
          <p:nvPr/>
        </p:nvSpPr>
        <p:spPr>
          <a:xfrm>
            <a:off x="6572707" y="2636215"/>
            <a:ext cx="1524305" cy="276149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68" name="Shape 58"/>
          <p:cNvSpPr/>
          <p:nvPr/>
        </p:nvSpPr>
        <p:spPr>
          <a:xfrm>
            <a:off x="8089697" y="2636215"/>
            <a:ext cx="1962302" cy="276149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69" name="Shape 59"/>
          <p:cNvSpPr/>
          <p:nvPr/>
        </p:nvSpPr>
        <p:spPr>
          <a:xfrm>
            <a:off x="10050170" y="2636215"/>
            <a:ext cx="1914754" cy="276149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3265322" y="2693822"/>
            <a:ext cx="3758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</a:t>
            </a:r>
            <a:endParaRPr lang="en-US" sz="800" dirty="0"/>
          </a:p>
        </p:txBody>
      </p:sp>
      <p:sp>
        <p:nvSpPr>
          <p:cNvPr id="71" name="Text 61"/>
          <p:cNvSpPr txBox="1"/>
          <p:nvPr/>
        </p:nvSpPr>
        <p:spPr>
          <a:xfrm>
            <a:off x="5277917" y="2693822"/>
            <a:ext cx="5660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800" dirty="0"/>
          </a:p>
        </p:txBody>
      </p:sp>
      <p:sp>
        <p:nvSpPr>
          <p:cNvPr id="72" name="Text 62"/>
          <p:cNvSpPr txBox="1"/>
          <p:nvPr/>
        </p:nvSpPr>
        <p:spPr>
          <a:xfrm>
            <a:off x="7175297" y="2693822"/>
            <a:ext cx="3950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800" dirty="0"/>
          </a:p>
        </p:txBody>
      </p:sp>
      <p:sp>
        <p:nvSpPr>
          <p:cNvPr id="73" name="Text 63"/>
          <p:cNvSpPr txBox="1"/>
          <p:nvPr/>
        </p:nvSpPr>
        <p:spPr>
          <a:xfrm>
            <a:off x="8851392" y="2693822"/>
            <a:ext cx="5184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800" dirty="0"/>
          </a:p>
        </p:txBody>
      </p:sp>
      <p:sp>
        <p:nvSpPr>
          <p:cNvPr id="74" name="Text 64"/>
          <p:cNvSpPr txBox="1"/>
          <p:nvPr/>
        </p:nvSpPr>
        <p:spPr>
          <a:xfrm>
            <a:off x="10795406" y="2693822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</a:t>
            </a:r>
            <a:endParaRPr lang="en-US" sz="800" dirty="0"/>
          </a:p>
        </p:txBody>
      </p:sp>
      <p:sp>
        <p:nvSpPr>
          <p:cNvPr id="75" name="Shape 65"/>
          <p:cNvSpPr/>
          <p:nvPr/>
        </p:nvSpPr>
        <p:spPr>
          <a:xfrm>
            <a:off x="2361895" y="3194914"/>
            <a:ext cx="9601200" cy="286207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6" name="Shape 66"/>
          <p:cNvSpPr/>
          <p:nvPr/>
        </p:nvSpPr>
        <p:spPr>
          <a:xfrm>
            <a:off x="2361895" y="3187598"/>
            <a:ext cx="2104949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Shape 67"/>
          <p:cNvSpPr/>
          <p:nvPr/>
        </p:nvSpPr>
        <p:spPr>
          <a:xfrm>
            <a:off x="4462272" y="3187598"/>
            <a:ext cx="21150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Shape 68"/>
          <p:cNvSpPr/>
          <p:nvPr/>
        </p:nvSpPr>
        <p:spPr>
          <a:xfrm>
            <a:off x="6572707" y="3187598"/>
            <a:ext cx="15243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Shape 69"/>
          <p:cNvSpPr/>
          <p:nvPr/>
        </p:nvSpPr>
        <p:spPr>
          <a:xfrm>
            <a:off x="8089697" y="3187598"/>
            <a:ext cx="19623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Shape 70"/>
          <p:cNvSpPr/>
          <p:nvPr/>
        </p:nvSpPr>
        <p:spPr>
          <a:xfrm>
            <a:off x="10050170" y="3187598"/>
            <a:ext cx="19147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1" name="Shape 71"/>
          <p:cNvSpPr/>
          <p:nvPr/>
        </p:nvSpPr>
        <p:spPr>
          <a:xfrm>
            <a:off x="2361895" y="3471977"/>
            <a:ext cx="2104949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2" name="Shape 72"/>
          <p:cNvSpPr/>
          <p:nvPr/>
        </p:nvSpPr>
        <p:spPr>
          <a:xfrm>
            <a:off x="4462272" y="3471977"/>
            <a:ext cx="21150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Shape 73"/>
          <p:cNvSpPr/>
          <p:nvPr/>
        </p:nvSpPr>
        <p:spPr>
          <a:xfrm>
            <a:off x="10050170" y="3471977"/>
            <a:ext cx="1914754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Text 74"/>
          <p:cNvSpPr txBox="1"/>
          <p:nvPr/>
        </p:nvSpPr>
        <p:spPr>
          <a:xfrm>
            <a:off x="3174797" y="2968142"/>
            <a:ext cx="5568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Graduate</a:t>
            </a:r>
            <a:endParaRPr lang="en-US" sz="800" dirty="0"/>
          </a:p>
        </p:txBody>
      </p:sp>
      <p:sp>
        <p:nvSpPr>
          <p:cNvPr id="85" name="Text 75"/>
          <p:cNvSpPr txBox="1"/>
          <p:nvPr/>
        </p:nvSpPr>
        <p:spPr>
          <a:xfrm>
            <a:off x="5414162" y="2968142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</a:t>
            </a:r>
            <a:endParaRPr lang="en-US" sz="800" dirty="0"/>
          </a:p>
        </p:txBody>
      </p:sp>
      <p:sp>
        <p:nvSpPr>
          <p:cNvPr id="86" name="Text 76"/>
          <p:cNvSpPr txBox="1"/>
          <p:nvPr/>
        </p:nvSpPr>
        <p:spPr>
          <a:xfrm>
            <a:off x="7227418" y="2968142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0.83</a:t>
            </a:r>
            <a:endParaRPr lang="en-US" sz="800" dirty="0"/>
          </a:p>
        </p:txBody>
      </p:sp>
      <p:sp>
        <p:nvSpPr>
          <p:cNvPr id="87" name="Text 77"/>
          <p:cNvSpPr txBox="1"/>
          <p:nvPr/>
        </p:nvSpPr>
        <p:spPr>
          <a:xfrm>
            <a:off x="8966606" y="2968142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</a:t>
            </a:r>
            <a:endParaRPr lang="en-US" sz="800" dirty="0"/>
          </a:p>
        </p:txBody>
      </p:sp>
      <p:sp>
        <p:nvSpPr>
          <p:cNvPr id="88" name="Text 78"/>
          <p:cNvSpPr txBox="1"/>
          <p:nvPr/>
        </p:nvSpPr>
        <p:spPr>
          <a:xfrm>
            <a:off x="10917936" y="2968142"/>
            <a:ext cx="261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284</a:t>
            </a:r>
            <a:endParaRPr lang="en-US" sz="800" dirty="0"/>
          </a:p>
        </p:txBody>
      </p:sp>
      <p:sp>
        <p:nvSpPr>
          <p:cNvPr id="89" name="Text 79"/>
          <p:cNvSpPr txBox="1"/>
          <p:nvPr/>
        </p:nvSpPr>
        <p:spPr>
          <a:xfrm>
            <a:off x="3197657" y="3251606"/>
            <a:ext cx="5184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</a:t>
            </a:r>
            <a:endParaRPr lang="en-US" sz="800" dirty="0"/>
          </a:p>
        </p:txBody>
      </p:sp>
      <p:sp>
        <p:nvSpPr>
          <p:cNvPr id="90" name="Text 80"/>
          <p:cNvSpPr txBox="1"/>
          <p:nvPr/>
        </p:nvSpPr>
        <p:spPr>
          <a:xfrm>
            <a:off x="5414162" y="3251606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</a:t>
            </a:r>
            <a:endParaRPr lang="en-US" sz="800" dirty="0"/>
          </a:p>
        </p:txBody>
      </p:sp>
      <p:sp>
        <p:nvSpPr>
          <p:cNvPr id="91" name="Text 81"/>
          <p:cNvSpPr txBox="1"/>
          <p:nvPr/>
        </p:nvSpPr>
        <p:spPr>
          <a:xfrm>
            <a:off x="10917936" y="3251606"/>
            <a:ext cx="261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442</a:t>
            </a:r>
            <a:endParaRPr lang="en-US" sz="800" dirty="0"/>
          </a:p>
        </p:txBody>
      </p:sp>
      <p:sp>
        <p:nvSpPr>
          <p:cNvPr id="92" name="Text 82"/>
          <p:cNvSpPr txBox="1"/>
          <p:nvPr/>
        </p:nvSpPr>
        <p:spPr>
          <a:xfrm>
            <a:off x="3201314" y="3535985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평균</a:t>
            </a:r>
            <a:endParaRPr lang="en-US" sz="800" dirty="0"/>
          </a:p>
        </p:txBody>
      </p:sp>
      <p:sp>
        <p:nvSpPr>
          <p:cNvPr id="93" name="Text 83"/>
          <p:cNvSpPr txBox="1"/>
          <p:nvPr/>
        </p:nvSpPr>
        <p:spPr>
          <a:xfrm>
            <a:off x="5414162" y="3535985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0.92</a:t>
            </a:r>
            <a:endParaRPr lang="en-US" sz="800" dirty="0"/>
          </a:p>
        </p:txBody>
      </p:sp>
      <p:sp>
        <p:nvSpPr>
          <p:cNvPr id="94" name="Text 84"/>
          <p:cNvSpPr txBox="1"/>
          <p:nvPr/>
        </p:nvSpPr>
        <p:spPr>
          <a:xfrm>
            <a:off x="7227418" y="3535985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0.90</a:t>
            </a:r>
            <a:endParaRPr lang="en-US" sz="800" dirty="0"/>
          </a:p>
        </p:txBody>
      </p:sp>
      <p:sp>
        <p:nvSpPr>
          <p:cNvPr id="95" name="Text 85"/>
          <p:cNvSpPr txBox="1"/>
          <p:nvPr/>
        </p:nvSpPr>
        <p:spPr>
          <a:xfrm>
            <a:off x="8966606" y="3535985"/>
            <a:ext cx="289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</a:t>
            </a:r>
            <a:endParaRPr lang="en-US" sz="800" dirty="0"/>
          </a:p>
        </p:txBody>
      </p:sp>
      <p:sp>
        <p:nvSpPr>
          <p:cNvPr id="96" name="Text 86"/>
          <p:cNvSpPr txBox="1"/>
          <p:nvPr/>
        </p:nvSpPr>
        <p:spPr>
          <a:xfrm>
            <a:off x="10917936" y="3535985"/>
            <a:ext cx="261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726</a:t>
            </a:r>
            <a:endParaRPr lang="en-US" sz="800" dirty="0"/>
          </a:p>
        </p:txBody>
      </p:sp>
      <p:sp>
        <p:nvSpPr>
          <p:cNvPr id="97" name="Shape 87"/>
          <p:cNvSpPr/>
          <p:nvPr/>
        </p:nvSpPr>
        <p:spPr>
          <a:xfrm>
            <a:off x="6572707" y="3471977"/>
            <a:ext cx="15243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8" name="Shape 88"/>
          <p:cNvSpPr/>
          <p:nvPr/>
        </p:nvSpPr>
        <p:spPr>
          <a:xfrm>
            <a:off x="8089697" y="3471977"/>
            <a:ext cx="19623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Text 89"/>
          <p:cNvSpPr txBox="1"/>
          <p:nvPr/>
        </p:nvSpPr>
        <p:spPr>
          <a:xfrm>
            <a:off x="7219188" y="3251606"/>
            <a:ext cx="3090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0.97</a:t>
            </a:r>
            <a:endParaRPr lang="en-US" sz="800" dirty="0"/>
          </a:p>
        </p:txBody>
      </p:sp>
      <p:sp>
        <p:nvSpPr>
          <p:cNvPr id="100" name="Text 90"/>
          <p:cNvSpPr txBox="1"/>
          <p:nvPr/>
        </p:nvSpPr>
        <p:spPr>
          <a:xfrm>
            <a:off x="8958377" y="3251606"/>
            <a:ext cx="3090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</a:t>
            </a:r>
            <a:endParaRPr lang="en-US" sz="800" dirty="0"/>
          </a:p>
        </p:txBody>
      </p:sp>
      <p:sp>
        <p:nvSpPr>
          <p:cNvPr id="101" name="Shape 91"/>
          <p:cNvSpPr/>
          <p:nvPr/>
        </p:nvSpPr>
        <p:spPr>
          <a:xfrm>
            <a:off x="2247595" y="3942893"/>
            <a:ext cx="4876495" cy="2361895"/>
          </a:xfrm>
          <a:prstGeom prst="roundRect">
            <a:avLst>
              <a:gd name="adj" fmla="val 15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2" name="Shape 92"/>
          <p:cNvSpPr/>
          <p:nvPr/>
        </p:nvSpPr>
        <p:spPr>
          <a:xfrm>
            <a:off x="2361895" y="4057193"/>
            <a:ext cx="228600" cy="228600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400300" y="4095598"/>
            <a:ext cx="152705" cy="152705"/>
          </a:xfrm>
          <a:prstGeom prst="rect">
            <a:avLst/>
          </a:prstGeom>
        </p:spPr>
      </p:pic>
      <p:sp>
        <p:nvSpPr>
          <p:cNvPr id="104" name="Shape 93"/>
          <p:cNvSpPr/>
          <p:nvPr/>
        </p:nvSpPr>
        <p:spPr>
          <a:xfrm>
            <a:off x="7200900" y="3942893"/>
            <a:ext cx="4876495" cy="2361895"/>
          </a:xfrm>
          <a:prstGeom prst="roundRect">
            <a:avLst>
              <a:gd name="adj" fmla="val 15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5" name="Shape 94"/>
          <p:cNvSpPr/>
          <p:nvPr/>
        </p:nvSpPr>
        <p:spPr>
          <a:xfrm>
            <a:off x="7315200" y="4057193"/>
            <a:ext cx="228600" cy="228600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06" name="Text 95"/>
          <p:cNvSpPr txBox="1"/>
          <p:nvPr/>
        </p:nvSpPr>
        <p:spPr>
          <a:xfrm>
            <a:off x="2667305" y="4057193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107" name="Text 96"/>
          <p:cNvSpPr txBox="1"/>
          <p:nvPr/>
        </p:nvSpPr>
        <p:spPr>
          <a:xfrm>
            <a:off x="7619695" y="4057193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혼동 행렬</a:t>
            </a:r>
            <a:endParaRPr lang="en-US" sz="1200" dirty="0"/>
          </a:p>
        </p:txBody>
      </p:sp>
      <p:pic>
        <p:nvPicPr>
          <p:cNvPr id="108" name="Image 9" descr="preencoded.png">    </p:cNvPr>
          <p:cNvPicPr>
            <a:picLocks noChangeAspect="1"/>
          </p:cNvPicPr>
          <p:nvPr/>
        </p:nvPicPr>
        <p:blipFill>
          <a:blip r:embed="rId10"/>
          <a:srcRect l="-8" r="-8" t="0" b="0"/>
          <a:stretch/>
        </p:blipFill>
        <p:spPr>
          <a:xfrm>
            <a:off x="2361895" y="4324198"/>
            <a:ext cx="4647895" cy="1333195"/>
          </a:xfrm>
          <a:prstGeom prst="rect">
            <a:avLst/>
          </a:prstGeom>
        </p:spPr>
      </p:pic>
      <p:pic>
        <p:nvPicPr>
          <p:cNvPr id="10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353605" y="4095598"/>
            <a:ext cx="152705" cy="152705"/>
          </a:xfrm>
          <a:prstGeom prst="rect">
            <a:avLst/>
          </a:prstGeom>
        </p:spPr>
      </p:pic>
      <p:pic>
        <p:nvPicPr>
          <p:cNvPr id="110" name="Image 11" descr="preencoded.png">    </p:cNvPr>
          <p:cNvPicPr>
            <a:picLocks noChangeAspect="1"/>
          </p:cNvPicPr>
          <p:nvPr/>
        </p:nvPicPr>
        <p:blipFill>
          <a:blip r:embed="rId12"/>
          <a:srcRect l="-8" r="-8" t="0" b="0"/>
          <a:stretch/>
        </p:blipFill>
        <p:spPr>
          <a:xfrm>
            <a:off x="7315200" y="4324198"/>
            <a:ext cx="4647895" cy="1333195"/>
          </a:xfrm>
          <a:prstGeom prst="rect">
            <a:avLst/>
          </a:prstGeom>
        </p:spPr>
      </p:pic>
      <p:sp>
        <p:nvSpPr>
          <p:cNvPr id="111" name="Shape 97"/>
          <p:cNvSpPr/>
          <p:nvPr/>
        </p:nvSpPr>
        <p:spPr>
          <a:xfrm>
            <a:off x="7994599" y="5734202"/>
            <a:ext cx="329549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2" name="Shape 98"/>
          <p:cNvSpPr/>
          <p:nvPr/>
        </p:nvSpPr>
        <p:spPr>
          <a:xfrm>
            <a:off x="8033004" y="58485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/>
        </p:spPr>
      </p:sp>
      <p:pic>
        <p:nvPicPr>
          <p:cNvPr id="11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080553" y="5896051"/>
            <a:ext cx="133502" cy="133502"/>
          </a:xfrm>
          <a:prstGeom prst="rect">
            <a:avLst/>
          </a:prstGeom>
        </p:spPr>
      </p:pic>
      <p:sp>
        <p:nvSpPr>
          <p:cNvPr id="114" name="Text 99"/>
          <p:cNvSpPr txBox="1"/>
          <p:nvPr/>
        </p:nvSpPr>
        <p:spPr>
          <a:xfrm>
            <a:off x="8300009" y="5762549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학생 탐지율 97.06%</a:t>
            </a:r>
            <a:endParaRPr lang="en-US" sz="900" dirty="0"/>
          </a:p>
        </p:txBody>
      </p:sp>
      <p:sp>
        <p:nvSpPr>
          <p:cNvPr id="115" name="Text 100"/>
          <p:cNvSpPr txBox="1"/>
          <p:nvPr/>
        </p:nvSpPr>
        <p:spPr>
          <a:xfrm>
            <a:off x="8300009" y="5924398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위험 감지(Early Warning) 목적에 최적화</a:t>
            </a:r>
            <a:endParaRPr lang="en-US" sz="1200" dirty="0"/>
          </a:p>
        </p:txBody>
      </p:sp>
      <p:sp>
        <p:nvSpPr>
          <p:cNvPr id="116" name="Shape 101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7" name="Text 102"/>
          <p:cNvSpPr txBox="1"/>
          <p:nvPr/>
        </p:nvSpPr>
        <p:spPr>
          <a:xfrm>
            <a:off x="2210105" y="6620256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Drop Signal Detector</a:t>
            </a:r>
            <a:endParaRPr lang="en-US" sz="900" dirty="0"/>
          </a:p>
        </p:txBody>
      </p:sp>
      <p:sp>
        <p:nvSpPr>
          <p:cNvPr id="118" name="Text 103"/>
          <p:cNvSpPr txBox="1"/>
          <p:nvPr/>
        </p:nvSpPr>
        <p:spPr>
          <a:xfrm>
            <a:off x="11880799" y="66202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24670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결론(1) 한국 사례 도입 가능?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76879" y="609905"/>
            <a:ext cx="761695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적용성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53689" y="671170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605479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대학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3228746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19502" y="1314907"/>
            <a:ext cx="152705" cy="15270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2704795" y="127650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학업성적 지표</a:t>
            </a:r>
            <a:endParaRPr lang="en-US" sz="12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61895" y="1647749"/>
            <a:ext cx="152705" cy="15270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2590495" y="1628546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중도탈락 학생의 평균평점이 크게 낮음</a:t>
            </a:r>
            <a:endParaRPr lang="en-US" sz="9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61895" y="1876349"/>
            <a:ext cx="152705" cy="15270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2590495" y="1857146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학사경고 기록이 강력한 신호</a:t>
            </a:r>
            <a:endParaRPr lang="en-US" sz="9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361895" y="2104949"/>
            <a:ext cx="152705" cy="152705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5549494" y="1143000"/>
            <a:ext cx="3228746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5663794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Text 38"/>
          <p:cNvSpPr txBox="1"/>
          <p:nvPr/>
        </p:nvSpPr>
        <p:spPr>
          <a:xfrm>
            <a:off x="6006694" y="1276502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등록금납부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2590495" y="2085746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학기당 이수학점도 중요 지표</a:t>
            </a:r>
            <a:endParaRPr lang="en-US" sz="9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5749747" y="1314907"/>
            <a:ext cx="95098" cy="152705"/>
          </a:xfrm>
          <a:prstGeom prst="rect">
            <a:avLst/>
          </a:prstGeom>
        </p:spPr>
      </p:pic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63794" y="1647749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5892394" y="1628546"/>
            <a:ext cx="1838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미납/연체가 직접적 예측 요소</a:t>
            </a:r>
            <a:endParaRPr lang="en-US" sz="90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663794" y="1876349"/>
            <a:ext cx="152705" cy="152705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8852306" y="1143000"/>
            <a:ext cx="3228746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Text 42"/>
          <p:cNvSpPr txBox="1"/>
          <p:nvPr/>
        </p:nvSpPr>
        <p:spPr>
          <a:xfrm>
            <a:off x="5892394" y="1857146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공식 중도탈락 사유 중 하나</a:t>
            </a:r>
            <a:endParaRPr lang="en-US" sz="9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663794" y="2104949"/>
            <a:ext cx="152705" cy="152705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8966606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57" name="Text 44"/>
          <p:cNvSpPr txBox="1"/>
          <p:nvPr/>
        </p:nvSpPr>
        <p:spPr>
          <a:xfrm>
            <a:off x="9309506" y="1276502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재정여건</a:t>
            </a:r>
            <a:endParaRPr lang="en-US" sz="1200" dirty="0"/>
          </a:p>
        </p:txBody>
      </p:sp>
      <p:sp>
        <p:nvSpPr>
          <p:cNvPr id="58" name="Text 45"/>
          <p:cNvSpPr txBox="1"/>
          <p:nvPr/>
        </p:nvSpPr>
        <p:spPr>
          <a:xfrm>
            <a:off x="5892394" y="2085746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분납 신청도 위험 시그널 포함</a:t>
            </a:r>
            <a:endParaRPr lang="en-US" sz="900" dirty="0"/>
          </a:p>
        </p:txBody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023299" y="1314907"/>
            <a:ext cx="152705" cy="152705"/>
          </a:xfrm>
          <a:prstGeom prst="rect">
            <a:avLst/>
          </a:prstGeom>
        </p:spPr>
      </p:pic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966606" y="1647749"/>
            <a:ext cx="152705" cy="152705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9195206" y="1628546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장학금 수혜 여부와 금액 변동</a:t>
            </a:r>
            <a:endParaRPr lang="en-US" sz="90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966606" y="1876349"/>
            <a:ext cx="152705" cy="152705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9195206" y="1857146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학자금 대출 신청 패턴 분석</a:t>
            </a:r>
            <a:endParaRPr lang="en-US" sz="90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966606" y="2104949"/>
            <a:ext cx="152705" cy="152705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9195206" y="2085746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아르바이트 등 경제활동 시간</a:t>
            </a:r>
            <a:endParaRPr lang="en-US" sz="900" dirty="0"/>
          </a:p>
        </p:txBody>
      </p:sp>
      <p:sp>
        <p:nvSpPr>
          <p:cNvPr id="66" name="Shape 49"/>
          <p:cNvSpPr/>
          <p:nvPr/>
        </p:nvSpPr>
        <p:spPr>
          <a:xfrm>
            <a:off x="2247595" y="2514600"/>
            <a:ext cx="9829800" cy="685800"/>
          </a:xfrm>
          <a:prstGeom prst="roundRect">
            <a:avLst>
              <a:gd name="adj" fmla="val 18519"/>
            </a:avLst>
          </a:prstGeom>
          <a:solidFill>
            <a:srgbClr val="52C41A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7" name="Text 50"/>
          <p:cNvSpPr txBox="1"/>
          <p:nvPr/>
        </p:nvSpPr>
        <p:spPr>
          <a:xfrm>
            <a:off x="6502298" y="2638044"/>
            <a:ext cx="1452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강한 예측신호!</a:t>
            </a:r>
            <a:endParaRPr lang="en-US" sz="1300" dirty="0"/>
          </a:p>
        </p:txBody>
      </p:sp>
      <p:sp>
        <p:nvSpPr>
          <p:cNvPr id="68" name="Text 51"/>
          <p:cNvSpPr txBox="1"/>
          <p:nvPr/>
        </p:nvSpPr>
        <p:spPr>
          <a:xfrm>
            <a:off x="5845759" y="2924251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요소 결합 시 이탈 위험에 대한 높은 예측력 확보 가능</a:t>
            </a:r>
            <a:endParaRPr lang="en-US" sz="900" dirty="0"/>
          </a:p>
        </p:txBody>
      </p:sp>
      <p:sp>
        <p:nvSpPr>
          <p:cNvPr id="69" name="Shape 52"/>
          <p:cNvSpPr/>
          <p:nvPr/>
        </p:nvSpPr>
        <p:spPr>
          <a:xfrm>
            <a:off x="2247595" y="3314700"/>
            <a:ext cx="9829800" cy="2085746"/>
          </a:xfrm>
          <a:prstGeom prst="roundRect">
            <a:avLst>
              <a:gd name="adj" fmla="val 2002"/>
            </a:avLst>
          </a:prstGeom>
          <a:solidFill>
            <a:srgbClr val="F9F9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0" name="Shape 53"/>
          <p:cNvSpPr/>
          <p:nvPr/>
        </p:nvSpPr>
        <p:spPr>
          <a:xfrm>
            <a:off x="2247595" y="3314700"/>
            <a:ext cx="38405" cy="2085746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71" name="Shape 54"/>
          <p:cNvSpPr/>
          <p:nvPr/>
        </p:nvSpPr>
        <p:spPr>
          <a:xfrm>
            <a:off x="2400300" y="3429000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80" b="-180"/>
          <a:stretch/>
        </p:blipFill>
        <p:spPr>
          <a:xfrm>
            <a:off x="2438705" y="3486607"/>
            <a:ext cx="190195" cy="152705"/>
          </a:xfrm>
          <a:prstGeom prst="rect">
            <a:avLst/>
          </a:prstGeom>
        </p:spPr>
      </p:pic>
      <p:sp>
        <p:nvSpPr>
          <p:cNvPr id="73" name="Text 55"/>
          <p:cNvSpPr txBox="1"/>
          <p:nvPr/>
        </p:nvSpPr>
        <p:spPr>
          <a:xfrm>
            <a:off x="2743200" y="3448202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고등교육 도입 가능성</a:t>
            </a:r>
            <a:endParaRPr lang="en-US" sz="1200" dirty="0"/>
          </a:p>
        </p:txBody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3" b="-43"/>
          <a:stretch/>
        </p:blipFill>
        <p:spPr>
          <a:xfrm>
            <a:off x="2400300" y="3931920"/>
            <a:ext cx="133502" cy="152705"/>
          </a:xfrm>
          <a:prstGeom prst="rect">
            <a:avLst/>
          </a:prstGeom>
        </p:spPr>
      </p:pic>
      <p:sp>
        <p:nvSpPr>
          <p:cNvPr id="75" name="Text 56"/>
          <p:cNvSpPr txBox="1"/>
          <p:nvPr/>
        </p:nvSpPr>
        <p:spPr>
          <a:xfrm>
            <a:off x="2609698" y="3762756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</a:t>
            </a:r>
            <a:endParaRPr lang="en-US" sz="900" dirty="0"/>
          </a:p>
        </p:txBody>
      </p:sp>
      <p:sp>
        <p:nvSpPr>
          <p:cNvPr id="76" name="Text 57"/>
          <p:cNvSpPr txBox="1"/>
          <p:nvPr/>
        </p:nvSpPr>
        <p:spPr>
          <a:xfrm>
            <a:off x="2609698" y="3914546"/>
            <a:ext cx="2563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중도탈락 집단이 평균평점이 학업유지 집단보다 낮음</a:t>
            </a:r>
            <a:endParaRPr lang="en-US" sz="900" dirty="0"/>
          </a:p>
        </p:txBody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rcRect l="-1677" r="-1677" t="0" b="0"/>
          <a:stretch/>
        </p:blipFill>
        <p:spPr>
          <a:xfrm>
            <a:off x="2609698" y="4098341"/>
            <a:ext cx="95098" cy="105156"/>
          </a:xfrm>
          <a:prstGeom prst="rect">
            <a:avLst/>
          </a:prstGeom>
        </p:spPr>
      </p:pic>
      <p:sp>
        <p:nvSpPr>
          <p:cNvPr id="78" name="Text 58"/>
          <p:cNvSpPr txBox="1"/>
          <p:nvPr/>
        </p:nvSpPr>
        <p:spPr>
          <a:xfrm>
            <a:off x="2704795" y="4076395"/>
            <a:ext cx="25438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KCI 최은희, '대학생의 중도탈락 예측 요인 탐색', 2023</a:t>
            </a:r>
            <a:endParaRPr lang="en-US" sz="800" dirty="0"/>
          </a:p>
        </p:txBody>
      </p:sp>
      <p:pic>
        <p:nvPicPr>
          <p:cNvPr id="7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2400300" y="4461358"/>
            <a:ext cx="152705" cy="152705"/>
          </a:xfrm>
          <a:prstGeom prst="rect">
            <a:avLst/>
          </a:prstGeom>
        </p:spPr>
      </p:pic>
      <p:sp>
        <p:nvSpPr>
          <p:cNvPr id="80" name="Text 59"/>
          <p:cNvSpPr txBox="1"/>
          <p:nvPr/>
        </p:nvSpPr>
        <p:spPr>
          <a:xfrm>
            <a:off x="2628900" y="429219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</a:t>
            </a:r>
            <a:endParaRPr lang="en-US" sz="900" dirty="0"/>
          </a:p>
        </p:txBody>
      </p:sp>
      <p:sp>
        <p:nvSpPr>
          <p:cNvPr id="81" name="Text 60"/>
          <p:cNvSpPr txBox="1"/>
          <p:nvPr/>
        </p:nvSpPr>
        <p:spPr>
          <a:xfrm>
            <a:off x="2628900" y="4443984"/>
            <a:ext cx="2638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미납/미등록이 대학 공식 중도탈락 사유로 집계</a:t>
            </a:r>
            <a:endParaRPr lang="en-US" sz="900" dirty="0"/>
          </a:p>
        </p:txBody>
      </p:sp>
      <p:pic>
        <p:nvPicPr>
          <p:cNvPr id="82" name="Image 19" descr="preencoded.png">    </p:cNvPr>
          <p:cNvPicPr>
            <a:picLocks noChangeAspect="1"/>
          </p:cNvPicPr>
          <p:nvPr/>
        </p:nvPicPr>
        <p:blipFill>
          <a:blip r:embed="rId20"/>
          <a:srcRect l="-1677" r="-1677" t="0" b="0"/>
          <a:stretch/>
        </p:blipFill>
        <p:spPr>
          <a:xfrm>
            <a:off x="2628900" y="4627778"/>
            <a:ext cx="95098" cy="105156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2723998" y="4605833"/>
            <a:ext cx="1914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대학알리미 및 대학 자체평가 지표 정의</a:t>
            </a:r>
            <a:endParaRPr lang="en-US" sz="800" dirty="0"/>
          </a:p>
        </p:txBody>
      </p:sp>
      <p:pic>
        <p:nvPicPr>
          <p:cNvPr id="84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43" b="-43"/>
          <a:stretch/>
        </p:blipFill>
        <p:spPr>
          <a:xfrm>
            <a:off x="2400300" y="4990795"/>
            <a:ext cx="133502" cy="152705"/>
          </a:xfrm>
          <a:prstGeom prst="rect">
            <a:avLst/>
          </a:prstGeom>
        </p:spPr>
      </p:pic>
      <p:sp>
        <p:nvSpPr>
          <p:cNvPr id="85" name="Text 62"/>
          <p:cNvSpPr txBox="1"/>
          <p:nvPr/>
        </p:nvSpPr>
        <p:spPr>
          <a:xfrm>
            <a:off x="2609698" y="482163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 여건</a:t>
            </a:r>
            <a:endParaRPr lang="en-US" sz="900" dirty="0"/>
          </a:p>
        </p:txBody>
      </p:sp>
      <p:sp>
        <p:nvSpPr>
          <p:cNvPr id="86" name="Text 63"/>
          <p:cNvSpPr txBox="1"/>
          <p:nvPr/>
        </p:nvSpPr>
        <p:spPr>
          <a:xfrm>
            <a:off x="2609698" y="4973422"/>
            <a:ext cx="3534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 여건(학자금, 장학금, 대출)이 실질적으로 강력한 이탈 신호임을 확인</a:t>
            </a:r>
            <a:endParaRPr lang="en-US" sz="900" dirty="0"/>
          </a:p>
        </p:txBody>
      </p:sp>
      <p:pic>
        <p:nvPicPr>
          <p:cNvPr id="87" name="Image 21" descr="preencoded.png">    </p:cNvPr>
          <p:cNvPicPr>
            <a:picLocks noChangeAspect="1"/>
          </p:cNvPicPr>
          <p:nvPr/>
        </p:nvPicPr>
        <p:blipFill>
          <a:blip r:embed="rId22"/>
          <a:srcRect l="-1677" r="-1677" t="0" b="0"/>
          <a:stretch/>
        </p:blipFill>
        <p:spPr>
          <a:xfrm>
            <a:off x="2609698" y="5157216"/>
            <a:ext cx="95098" cy="105156"/>
          </a:xfrm>
          <a:prstGeom prst="rect">
            <a:avLst/>
          </a:prstGeom>
        </p:spPr>
      </p:pic>
      <p:sp>
        <p:nvSpPr>
          <p:cNvPr id="88" name="Text 64"/>
          <p:cNvSpPr txBox="1"/>
          <p:nvPr/>
        </p:nvSpPr>
        <p:spPr>
          <a:xfrm>
            <a:off x="2704795" y="5136185"/>
            <a:ext cx="4105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DBpia 조영희 외, '실명인증기반 실명기능한 AI를 활용한 4단계 대학생 중도탈락 예측', 2025</a:t>
            </a:r>
            <a:endParaRPr lang="en-US" sz="800" dirty="0"/>
          </a:p>
        </p:txBody>
      </p:sp>
      <p:sp>
        <p:nvSpPr>
          <p:cNvPr id="89" name="Shape 65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0" name="Text 66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91" name="Text 67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2496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결론(2) 구체적 방안 인사이트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972007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2514600" y="671170"/>
            <a:ext cx="85954" cy="1143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638044" y="638251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활용 방안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247595" y="1143000"/>
            <a:ext cx="9829800" cy="1638605"/>
          </a:xfrm>
          <a:prstGeom prst="roundRect">
            <a:avLst>
              <a:gd name="adj" fmla="val 32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2428646" y="1314907"/>
            <a:ext cx="133502" cy="152705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2704795" y="1276502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조기경보 시스템 (EWS)</a:t>
            </a:r>
            <a:endParaRPr lang="en-US" sz="12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61895" y="1681582"/>
            <a:ext cx="114300" cy="1143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2553005" y="1628546"/>
            <a:ext cx="4210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신호 식별: 학업지표 저하, 등록금 납부 지연, 장학금 미수령 등 위험 신호 자동 탐지</a:t>
            </a:r>
            <a:endParaRPr lang="en-US" sz="9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61895" y="1947672"/>
            <a:ext cx="114300" cy="1143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2553005" y="1895551"/>
            <a:ext cx="3724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알림: 학생·지도교수·튜터에게 위험 상황 알림 + 지원 프로그램 정보 제공</a:t>
            </a:r>
            <a:endParaRPr lang="en-US" sz="9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61895" y="2214677"/>
            <a:ext cx="114300" cy="1143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2553005" y="2162556"/>
            <a:ext cx="3591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지원: 학습공동체, 튜터링, 멘토링, 재정 지원 등 학생별 특화된 지원</a:t>
            </a:r>
            <a:endParaRPr lang="en-US" sz="9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361895" y="2481682"/>
            <a:ext cx="114300" cy="11430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47595" y="2857500"/>
            <a:ext cx="9829800" cy="1638605"/>
          </a:xfrm>
          <a:prstGeom prst="roundRect">
            <a:avLst>
              <a:gd name="adj" fmla="val 32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2247595" y="4572000"/>
            <a:ext cx="9829800" cy="1638605"/>
          </a:xfrm>
          <a:prstGeom prst="roundRect">
            <a:avLst>
              <a:gd name="adj" fmla="val 32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6" name="Text 37"/>
          <p:cNvSpPr txBox="1"/>
          <p:nvPr/>
        </p:nvSpPr>
        <p:spPr>
          <a:xfrm>
            <a:off x="2553005" y="2428646"/>
            <a:ext cx="2829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변화: 학생 스스로 위기 인식 및 능동적 대응 동기부여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2553005" y="3343046"/>
            <a:ext cx="3324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학습전략 개선: 효과적 학습법, 시간관리, 과목별 학습 전략 공유/코칭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2553005" y="3610051"/>
            <a:ext cx="3076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동료(peer) 학습: 학생 간 상호학습, 협력적 문제해결, 지식 공유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2361895" y="2971800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2400300" y="3029407"/>
            <a:ext cx="190195" cy="15270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2704795" y="2991002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학습공동체 운영 OS</a:t>
            </a:r>
            <a:endParaRPr lang="en-US" sz="120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361895" y="3396082"/>
            <a:ext cx="114300" cy="114300"/>
          </a:xfrm>
          <a:prstGeom prst="rect">
            <a:avLst/>
          </a:prstGeom>
        </p:spPr>
      </p:pic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361895" y="3662172"/>
            <a:ext cx="114300" cy="114300"/>
          </a:xfrm>
          <a:prstGeom prst="rect">
            <a:avLst/>
          </a:prstGeom>
        </p:spPr>
      </p:pic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361895" y="3929177"/>
            <a:ext cx="114300" cy="114300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2553005" y="3877056"/>
            <a:ext cx="2553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보충학습 설계: 취약 과목 중심 맞춤형 학습 프로그램</a:t>
            </a:r>
            <a:endParaRPr lang="en-US" sz="9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361895" y="4196182"/>
            <a:ext cx="114300" cy="1143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2704795" y="4705502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정책적 확장</a:t>
            </a:r>
            <a:endParaRPr lang="en-US" sz="1200" dirty="0"/>
          </a:p>
        </p:txBody>
      </p:sp>
      <p:sp>
        <p:nvSpPr>
          <p:cNvPr id="58" name="Text 44"/>
          <p:cNvSpPr txBox="1"/>
          <p:nvPr/>
        </p:nvSpPr>
        <p:spPr>
          <a:xfrm>
            <a:off x="2553005" y="4143146"/>
            <a:ext cx="2905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학업·사회적 통합: 소속감과 연결성 향상으로 이탈 위험 감소</a:t>
            </a:r>
            <a:endParaRPr lang="en-US" sz="900" dirty="0"/>
          </a:p>
        </p:txBody>
      </p:sp>
      <p:sp>
        <p:nvSpPr>
          <p:cNvPr id="59" name="Text 45"/>
          <p:cNvSpPr txBox="1"/>
          <p:nvPr/>
        </p:nvSpPr>
        <p:spPr>
          <a:xfrm>
            <a:off x="2553005" y="5324551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제도 개선: 이탈 원인 분석 통한 학사·재정·상담 체계 고도화</a:t>
            </a:r>
            <a:endParaRPr lang="en-US" sz="900" dirty="0"/>
          </a:p>
        </p:txBody>
      </p:sp>
      <p:sp>
        <p:nvSpPr>
          <p:cNvPr id="60" name="Shape 46"/>
          <p:cNvSpPr/>
          <p:nvPr/>
        </p:nvSpPr>
        <p:spPr>
          <a:xfrm>
            <a:off x="2361895" y="4686300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00" b="-100"/>
          <a:stretch/>
        </p:blipFill>
        <p:spPr>
          <a:xfrm>
            <a:off x="2438705" y="4743907"/>
            <a:ext cx="114300" cy="152705"/>
          </a:xfrm>
          <a:prstGeom prst="rect">
            <a:avLst/>
          </a:prstGeom>
        </p:spPr>
      </p:pic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361895" y="5110582"/>
            <a:ext cx="114300" cy="114300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2553005" y="5057546"/>
            <a:ext cx="3286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자체 리스크 관리: 전체 학생 중도이탈률 모니터링 및 저감 정책</a:t>
            </a:r>
            <a:endParaRPr lang="en-US" sz="90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361895" y="5376672"/>
            <a:ext cx="114300" cy="114300"/>
          </a:xfrm>
          <a:prstGeom prst="rect">
            <a:avLst/>
          </a:prstGeom>
        </p:spPr>
      </p:pic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361895" y="5643677"/>
            <a:ext cx="114300" cy="114300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2553005" y="5591556"/>
            <a:ext cx="2619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측정 및 환류: 중재 프로그램 효과성 검증 및 개선</a:t>
            </a:r>
            <a:endParaRPr lang="en-US" sz="900" dirty="0"/>
          </a:p>
        </p:txBody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361895" y="5910682"/>
            <a:ext cx="114300" cy="114300"/>
          </a:xfrm>
          <a:prstGeom prst="rect">
            <a:avLst/>
          </a:prstGeom>
        </p:spPr>
      </p:pic>
      <p:sp>
        <p:nvSpPr>
          <p:cNvPr id="68" name="Text 49"/>
          <p:cNvSpPr txBox="1"/>
          <p:nvPr/>
        </p:nvSpPr>
        <p:spPr>
          <a:xfrm>
            <a:off x="2553005" y="5857646"/>
            <a:ext cx="2753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간 협력: 다기관 데이터 통합 및 공동 대응 체계 구축</a:t>
            </a:r>
            <a:endParaRPr lang="en-US" sz="900" dirty="0"/>
          </a:p>
        </p:txBody>
      </p:sp>
      <p:sp>
        <p:nvSpPr>
          <p:cNvPr id="69" name="Shape 50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51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71" name="Text 52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 예측 시스템 개요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76879" y="609905"/>
            <a:ext cx="7525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시스템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3453689" y="671170"/>
            <a:ext cx="105156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96335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경보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2247595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이탈 위험 요인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2247595" y="1447495"/>
            <a:ext cx="3200400" cy="1429207"/>
          </a:xfrm>
          <a:prstGeom prst="roundRect">
            <a:avLst>
              <a:gd name="adj" fmla="val 426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361895" y="1561795"/>
            <a:ext cx="381305" cy="3813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2443277" y="1666951"/>
            <a:ext cx="219456" cy="171907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2819095" y="163860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학업성취도</a:t>
            </a:r>
            <a:endParaRPr lang="en-US" sz="12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61895" y="2042770"/>
            <a:ext cx="114300" cy="1143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2533802" y="20098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GPA</a:t>
            </a:r>
            <a:endParaRPr lang="en-US" sz="9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61895" y="2233879"/>
            <a:ext cx="114300" cy="1143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2533802" y="2200046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학점 이수 실패</a:t>
            </a:r>
            <a:endParaRPr lang="en-US" sz="9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361895" y="2424074"/>
            <a:ext cx="114300" cy="1143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2533802" y="23911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누적된 학업 실패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2361895" y="2600554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이탈의 가장 강력한 예측 변수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5562295" y="1447495"/>
            <a:ext cx="3200400" cy="1429207"/>
          </a:xfrm>
          <a:prstGeom prst="roundRect">
            <a:avLst>
              <a:gd name="adj" fmla="val 426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5676595" y="1561795"/>
            <a:ext cx="381305" cy="3813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1" b="-841"/>
          <a:stretch/>
        </p:blipFill>
        <p:spPr>
          <a:xfrm>
            <a:off x="5772607" y="1666951"/>
            <a:ext cx="190195" cy="171907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133795" y="163860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등록금납부 지연</a:t>
            </a:r>
            <a:endParaRPr lang="en-US" sz="120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76595" y="2042770"/>
            <a:ext cx="114300" cy="11430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848502" y="2009851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납부 지연 및 연체</a:t>
            </a:r>
            <a:endParaRPr lang="en-US" sz="9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676595" y="2233879"/>
            <a:ext cx="114300" cy="11430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848502" y="2200046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경제적 어려움 신호</a:t>
            </a:r>
            <a:endParaRPr lang="en-US" sz="90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676595" y="2424074"/>
            <a:ext cx="114300" cy="11430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5848502" y="2391156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지속 의지 감소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5676595" y="2600554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재정적 문제를 나타내는 지표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8876995" y="1447495"/>
            <a:ext cx="3200400" cy="1429207"/>
          </a:xfrm>
          <a:prstGeom prst="roundRect">
            <a:avLst>
              <a:gd name="adj" fmla="val 426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0" name="Shape 47"/>
          <p:cNvSpPr/>
          <p:nvPr/>
        </p:nvSpPr>
        <p:spPr>
          <a:xfrm>
            <a:off x="8991295" y="1561795"/>
            <a:ext cx="381305" cy="381305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096451" y="1666951"/>
            <a:ext cx="171907" cy="171907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9448495" y="163860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장학금 지급 변동</a:t>
            </a:r>
            <a:endParaRPr lang="en-US" sz="120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991295" y="2042770"/>
            <a:ext cx="114300" cy="114300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9163202" y="20098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장학금 감소</a:t>
            </a:r>
            <a:endParaRPr lang="en-US" sz="900" dirty="0"/>
          </a:p>
        </p:txBody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991295" y="2233879"/>
            <a:ext cx="114300" cy="114300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9163202" y="2200046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장학금 중단</a:t>
            </a:r>
            <a:endParaRPr lang="en-US" sz="900" dirty="0"/>
          </a:p>
        </p:txBody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991295" y="2424074"/>
            <a:ext cx="114300" cy="114300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2247595" y="377190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 대응 시스템</a:t>
            </a:r>
            <a:endParaRPr lang="en-US" sz="1200" dirty="0"/>
          </a:p>
        </p:txBody>
      </p:sp>
      <p:sp>
        <p:nvSpPr>
          <p:cNvPr id="69" name="Text 52"/>
          <p:cNvSpPr txBox="1"/>
          <p:nvPr/>
        </p:nvSpPr>
        <p:spPr>
          <a:xfrm>
            <a:off x="9163202" y="23911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경제적 부담 증가</a:t>
            </a:r>
            <a:endParaRPr lang="en-US" sz="900" dirty="0"/>
          </a:p>
        </p:txBody>
      </p:sp>
      <p:sp>
        <p:nvSpPr>
          <p:cNvPr id="70" name="Text 53"/>
          <p:cNvSpPr txBox="1"/>
          <p:nvPr/>
        </p:nvSpPr>
        <p:spPr>
          <a:xfrm>
            <a:off x="8991295" y="2600554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중도이탈 위험 상승 요인</a:t>
            </a:r>
            <a:endParaRPr lang="en-US" sz="900" dirty="0"/>
          </a:p>
        </p:txBody>
      </p:sp>
      <p:sp>
        <p:nvSpPr>
          <p:cNvPr id="71" name="Shape 54"/>
          <p:cNvSpPr/>
          <p:nvPr/>
        </p:nvSpPr>
        <p:spPr>
          <a:xfrm>
            <a:off x="6687007" y="3075127"/>
            <a:ext cx="952805" cy="381305"/>
          </a:xfrm>
          <a:prstGeom prst="roundRect">
            <a:avLst>
              <a:gd name="adj" fmla="val 23981"/>
            </a:avLst>
          </a:prstGeom>
          <a:solidFill>
            <a:srgbClr val="EF4444"/>
          </a:solidFill>
          <a:ln/>
        </p:spPr>
      </p:sp>
      <p:sp>
        <p:nvSpPr>
          <p:cNvPr id="72" name="Text 55"/>
          <p:cNvSpPr txBox="1"/>
          <p:nvPr/>
        </p:nvSpPr>
        <p:spPr>
          <a:xfrm>
            <a:off x="6952183" y="3179369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이탈위험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6687007" y="3456432"/>
            <a:ext cx="952805" cy="286207"/>
          </a:xfrm>
          <a:prstGeom prst="rect">
            <a:avLst/>
          </a:prstGeom>
          <a:noFill/>
          <a:ln w="381000">
            <a:solidFill>
              <a:srgbClr val="EF4444"/>
            </a:solidFill>
            <a:prstDash val="solid"/>
          </a:ln>
        </p:spPr>
      </p:sp>
      <p:sp>
        <p:nvSpPr>
          <p:cNvPr id="74" name="Shape 57"/>
          <p:cNvSpPr/>
          <p:nvPr/>
        </p:nvSpPr>
        <p:spPr>
          <a:xfrm>
            <a:off x="2247595" y="4076395"/>
            <a:ext cx="4095598" cy="609905"/>
          </a:xfrm>
          <a:prstGeom prst="roundRect">
            <a:avLst>
              <a:gd name="adj" fmla="val 2342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2361895" y="4190695"/>
            <a:ext cx="381305" cy="3813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rcRect l="-760" r="-760" t="0" b="0"/>
          <a:stretch/>
        </p:blipFill>
        <p:spPr>
          <a:xfrm>
            <a:off x="2476195" y="4295851"/>
            <a:ext cx="152705" cy="171907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2819095" y="4190695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자동경보시스템</a:t>
            </a:r>
            <a:endParaRPr lang="en-US" sz="1200" dirty="0"/>
          </a:p>
        </p:txBody>
      </p:sp>
      <p:sp>
        <p:nvSpPr>
          <p:cNvPr id="78" name="Text 60"/>
          <p:cNvSpPr txBox="1"/>
          <p:nvPr/>
        </p:nvSpPr>
        <p:spPr>
          <a:xfrm>
            <a:off x="2819095" y="4410151"/>
            <a:ext cx="2171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지표 실시간 모니터링 및 고위험군 알림</a:t>
            </a:r>
            <a:endParaRPr lang="en-US" sz="900" dirty="0"/>
          </a:p>
        </p:txBody>
      </p:sp>
      <p:sp>
        <p:nvSpPr>
          <p:cNvPr id="79" name="Text 61"/>
          <p:cNvSpPr txBox="1"/>
          <p:nvPr/>
        </p:nvSpPr>
        <p:spPr>
          <a:xfrm>
            <a:off x="7114946" y="4257446"/>
            <a:ext cx="224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00" dirty="0"/>
          </a:p>
        </p:txBody>
      </p:sp>
      <p:sp>
        <p:nvSpPr>
          <p:cNvPr id="80" name="Shape 62"/>
          <p:cNvSpPr/>
          <p:nvPr/>
        </p:nvSpPr>
        <p:spPr>
          <a:xfrm>
            <a:off x="7981798" y="4076395"/>
            <a:ext cx="4095598" cy="609905"/>
          </a:xfrm>
          <a:prstGeom prst="roundRect">
            <a:avLst>
              <a:gd name="adj" fmla="val 2342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1" name="Shape 63"/>
          <p:cNvSpPr/>
          <p:nvPr/>
        </p:nvSpPr>
        <p:spPr>
          <a:xfrm>
            <a:off x="8096098" y="4190695"/>
            <a:ext cx="381305" cy="3813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2" name="Image 16" descr="preencoded.png">    </p:cNvPr>
          <p:cNvPicPr>
            <a:picLocks noChangeAspect="1"/>
          </p:cNvPicPr>
          <p:nvPr/>
        </p:nvPicPr>
        <p:blipFill>
          <a:blip r:embed="rId17"/>
          <a:srcRect l="-1064" r="-1064" t="0" b="0"/>
          <a:stretch/>
        </p:blipFill>
        <p:spPr>
          <a:xfrm>
            <a:off x="8177479" y="4295851"/>
            <a:ext cx="219456" cy="171907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8553298" y="4190695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학습공동체</a:t>
            </a:r>
            <a:endParaRPr lang="en-US" sz="1200" dirty="0"/>
          </a:p>
        </p:txBody>
      </p:sp>
      <p:sp>
        <p:nvSpPr>
          <p:cNvPr id="84" name="Text 65"/>
          <p:cNvSpPr txBox="1"/>
          <p:nvPr/>
        </p:nvSpPr>
        <p:spPr>
          <a:xfrm>
            <a:off x="8553298" y="4410151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멘토링·튜터링·또래학습 지원 체계</a:t>
            </a:r>
            <a:endParaRPr lang="en-US" sz="900" dirty="0"/>
          </a:p>
        </p:txBody>
      </p:sp>
      <p:pic>
        <p:nvPicPr>
          <p:cNvPr id="85" name="Image 17" descr="preencoded.png">    </p:cNvPr>
          <p:cNvPicPr>
            <a:picLocks noChangeAspect="1"/>
          </p:cNvPicPr>
          <p:nvPr/>
        </p:nvPicPr>
        <p:blipFill>
          <a:blip r:embed="rId18"/>
          <a:srcRect l="-1773" r="-1773" t="0" b="0"/>
          <a:stretch/>
        </p:blipFill>
        <p:spPr>
          <a:xfrm>
            <a:off x="7095744" y="4800600"/>
            <a:ext cx="133502" cy="171907"/>
          </a:xfrm>
          <a:prstGeom prst="rect">
            <a:avLst/>
          </a:prstGeom>
        </p:spPr>
      </p:pic>
      <p:sp>
        <p:nvSpPr>
          <p:cNvPr id="86" name="Shape 66"/>
          <p:cNvSpPr/>
          <p:nvPr/>
        </p:nvSpPr>
        <p:spPr>
          <a:xfrm>
            <a:off x="3476549" y="5029200"/>
            <a:ext cx="7372807" cy="629107"/>
          </a:xfrm>
          <a:prstGeom prst="roundRect">
            <a:avLst>
              <a:gd name="adj" fmla="val 22023"/>
            </a:avLst>
          </a:prstGeom>
          <a:solidFill>
            <a:srgbClr val="E0EDFF"/>
          </a:solidFill>
          <a:ln w="12700">
            <a:solidFill>
              <a:srgbClr val="5B8FF9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7" name="Shape 67"/>
          <p:cNvSpPr/>
          <p:nvPr/>
        </p:nvSpPr>
        <p:spPr>
          <a:xfrm>
            <a:off x="3600907" y="5152644"/>
            <a:ext cx="381305" cy="3813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8" name="Image 18" descr="preencoded.png">    </p:cNvPr>
          <p:cNvPicPr>
            <a:picLocks noChangeAspect="1"/>
          </p:cNvPicPr>
          <p:nvPr/>
        </p:nvPicPr>
        <p:blipFill>
          <a:blip r:embed="rId19"/>
          <a:srcRect l="-1773" r="-1773" t="0" b="0"/>
          <a:stretch/>
        </p:blipFill>
        <p:spPr>
          <a:xfrm>
            <a:off x="3724351" y="5257800"/>
            <a:ext cx="133502" cy="171907"/>
          </a:xfrm>
          <a:prstGeom prst="rect">
            <a:avLst/>
          </a:prstGeom>
        </p:spPr>
      </p:pic>
      <p:sp>
        <p:nvSpPr>
          <p:cNvPr id="89" name="Text 68"/>
          <p:cNvSpPr txBox="1"/>
          <p:nvPr/>
        </p:nvSpPr>
        <p:spPr>
          <a:xfrm>
            <a:off x="4058107" y="5152644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운영자동화</a:t>
            </a:r>
            <a:endParaRPr lang="en-US" sz="1200" dirty="0"/>
          </a:p>
        </p:txBody>
      </p:sp>
      <p:sp>
        <p:nvSpPr>
          <p:cNvPr id="90" name="Text 69"/>
          <p:cNvSpPr txBox="1"/>
          <p:nvPr/>
        </p:nvSpPr>
        <p:spPr>
          <a:xfrm>
            <a:off x="4058107" y="5372100"/>
            <a:ext cx="3458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위험신호 감지 → 학생연결 → 개입 → 효과측정의 자동화된 워크플로우</a:t>
            </a:r>
            <a:endParaRPr lang="en-US" sz="900" dirty="0"/>
          </a:p>
        </p:txBody>
      </p:sp>
      <p:sp>
        <p:nvSpPr>
          <p:cNvPr id="91" name="Shape 70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Text 71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93" name="Text 72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875995"/>
          </a:xfrm>
          <a:prstGeom prst="roundRect">
            <a:avLst>
              <a:gd name="adj" fmla="val 13615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자동경보시스템 + 학습공동체 (1) 조기경보시스템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857707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2514600" y="652882"/>
            <a:ext cx="105156" cy="1143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657246" y="619049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경보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367735" y="609905"/>
            <a:ext cx="1076249" cy="190195"/>
          </a:xfrm>
          <a:prstGeom prst="roundRect">
            <a:avLst>
              <a:gd name="adj" fmla="val 96154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43630" y="652882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96335" y="619049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플로우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2247595" y="1095451"/>
            <a:ext cx="7401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중도이탈 위험을 조기에 감지하고 개입하기 위한 자동화된 경보 시스템 프로세스입니다. 위기상황 발생부터 동기부여까지 체계적인 흐름을 제공합니다.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2247595" y="1295705"/>
            <a:ext cx="9829800" cy="875995"/>
          </a:xfrm>
          <a:prstGeom prst="roundRect">
            <a:avLst>
              <a:gd name="adj" fmla="val 1134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343607" y="1390802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00300" y="1447495"/>
            <a:ext cx="152705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2686507" y="139080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위기상황 발생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2686507" y="1628546"/>
            <a:ext cx="5839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 하락, 등록금 미납, 출결 불량 등 위기 징후가 발생합니다. 이러한 위기 상황은 학생의 학업 지속에 위험 신호가 됩니다.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2686507" y="18095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2743200" y="182880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성적하락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3399739" y="1809598"/>
            <a:ext cx="819302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3456432" y="1828800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등록금미납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4252874" y="1809598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FFBEB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4310482" y="182880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출결불량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7105802" y="2247595"/>
            <a:ext cx="114300" cy="75895"/>
          </a:xfrm>
          <a:prstGeom prst="rect">
            <a:avLst/>
          </a:prstGeom>
          <a:noFill/>
          <a:ln w="101600">
            <a:solidFill>
              <a:srgbClr val="5B8FF9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2247595" y="2343607"/>
            <a:ext cx="9829800" cy="875995"/>
          </a:xfrm>
          <a:prstGeom prst="roundRect">
            <a:avLst>
              <a:gd name="adj" fmla="val 1134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2343607" y="2438705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00300" y="2495398"/>
            <a:ext cx="152705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2686507" y="2438705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지표수집&amp;탐지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2686507" y="2676449"/>
            <a:ext cx="5820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학적, 재정, 상담 등 다양한 데이터 지표를 자동으로 수집하고 분석합니다. 머신러닝 알고리즘이 이탈 가능성을 예측합니다.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2686507" y="2857500"/>
            <a:ext cx="819302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2743200" y="2876702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학적데이터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3539642" y="2857500"/>
            <a:ext cx="819302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3596335" y="2876702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재정데이터</a:t>
            </a:r>
            <a:endParaRPr lang="en-US" sz="1200" dirty="0"/>
          </a:p>
        </p:txBody>
      </p:sp>
      <p:sp>
        <p:nvSpPr>
          <p:cNvPr id="58" name="Shape 51"/>
          <p:cNvSpPr/>
          <p:nvPr/>
        </p:nvSpPr>
        <p:spPr>
          <a:xfrm>
            <a:off x="4392778" y="2857500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5F3FF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4450385" y="2876702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상담기록</a:t>
            </a:r>
            <a:endParaRPr lang="en-US" sz="1200" dirty="0"/>
          </a:p>
        </p:txBody>
      </p:sp>
      <p:sp>
        <p:nvSpPr>
          <p:cNvPr id="60" name="Shape 53"/>
          <p:cNvSpPr/>
          <p:nvPr/>
        </p:nvSpPr>
        <p:spPr>
          <a:xfrm>
            <a:off x="7105802" y="3295498"/>
            <a:ext cx="114300" cy="75895"/>
          </a:xfrm>
          <a:prstGeom prst="rect">
            <a:avLst/>
          </a:prstGeom>
          <a:noFill/>
          <a:ln w="101600">
            <a:solidFill>
              <a:srgbClr val="5B8FF9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2247595" y="3390595"/>
            <a:ext cx="9829800" cy="875995"/>
          </a:xfrm>
          <a:prstGeom prst="roundRect">
            <a:avLst>
              <a:gd name="adj" fmla="val 1134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2" name="Shape 55"/>
          <p:cNvSpPr/>
          <p:nvPr/>
        </p:nvSpPr>
        <p:spPr>
          <a:xfrm>
            <a:off x="2343607" y="3486607"/>
            <a:ext cx="267005" cy="267005"/>
          </a:xfrm>
          <a:prstGeom prst="ellipse">
            <a:avLst/>
          </a:prstGeom>
          <a:solidFill>
            <a:srgbClr val="FF4D4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400300" y="3543300"/>
            <a:ext cx="152705" cy="15270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2686507" y="3486607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이탈위험경고+후속조치</a:t>
            </a:r>
            <a:endParaRPr lang="en-US" sz="1200" dirty="0"/>
          </a:p>
        </p:txBody>
      </p:sp>
      <p:sp>
        <p:nvSpPr>
          <p:cNvPr id="65" name="Text 57"/>
          <p:cNvSpPr txBox="1"/>
          <p:nvPr/>
        </p:nvSpPr>
        <p:spPr>
          <a:xfrm>
            <a:off x="2686507" y="3724351"/>
            <a:ext cx="5886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학생/교수/행정직원에게 맞춤형 알림을 전송하고 개입 조치를 시행합니다. 경고 수준에 따른 차별화된 접근법을 적용합니다.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2686507" y="3905402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/>
        </p:spPr>
      </p:sp>
      <p:sp>
        <p:nvSpPr>
          <p:cNvPr id="67" name="Text 59"/>
          <p:cNvSpPr txBox="1"/>
          <p:nvPr/>
        </p:nvSpPr>
        <p:spPr>
          <a:xfrm>
            <a:off x="2743200" y="3924605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자동알림</a:t>
            </a:r>
            <a:endParaRPr lang="en-US" sz="1200" dirty="0"/>
          </a:p>
        </p:txBody>
      </p:sp>
      <p:sp>
        <p:nvSpPr>
          <p:cNvPr id="68" name="Shape 60"/>
          <p:cNvSpPr/>
          <p:nvPr/>
        </p:nvSpPr>
        <p:spPr>
          <a:xfrm>
            <a:off x="3399739" y="3905402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69" name="Text 61"/>
          <p:cNvSpPr txBox="1"/>
          <p:nvPr/>
        </p:nvSpPr>
        <p:spPr>
          <a:xfrm>
            <a:off x="3456432" y="3924605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상담연계</a:t>
            </a:r>
            <a:endParaRPr lang="en-US" sz="1200" dirty="0"/>
          </a:p>
        </p:txBody>
      </p:sp>
      <p:sp>
        <p:nvSpPr>
          <p:cNvPr id="70" name="Shape 62"/>
          <p:cNvSpPr/>
          <p:nvPr/>
        </p:nvSpPr>
        <p:spPr>
          <a:xfrm>
            <a:off x="4112971" y="3905402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/>
        </p:spPr>
      </p:sp>
      <p:sp>
        <p:nvSpPr>
          <p:cNvPr id="71" name="Text 63"/>
          <p:cNvSpPr txBox="1"/>
          <p:nvPr/>
        </p:nvSpPr>
        <p:spPr>
          <a:xfrm>
            <a:off x="4169664" y="3924605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지원조치</a:t>
            </a:r>
            <a:endParaRPr lang="en-US" sz="1200" dirty="0"/>
          </a:p>
        </p:txBody>
      </p:sp>
      <p:sp>
        <p:nvSpPr>
          <p:cNvPr id="72" name="Shape 64"/>
          <p:cNvSpPr/>
          <p:nvPr/>
        </p:nvSpPr>
        <p:spPr>
          <a:xfrm>
            <a:off x="7105802" y="4343400"/>
            <a:ext cx="114300" cy="75895"/>
          </a:xfrm>
          <a:prstGeom prst="rect">
            <a:avLst/>
          </a:prstGeom>
          <a:noFill/>
          <a:ln w="101600">
            <a:solidFill>
              <a:srgbClr val="5B8FF9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2247595" y="4438498"/>
            <a:ext cx="9829800" cy="875995"/>
          </a:xfrm>
          <a:prstGeom prst="roundRect">
            <a:avLst>
              <a:gd name="adj" fmla="val 1134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4" name="Shape 66"/>
          <p:cNvSpPr/>
          <p:nvPr/>
        </p:nvSpPr>
        <p:spPr>
          <a:xfrm>
            <a:off x="2343607" y="4533595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2419502" y="4591202"/>
            <a:ext cx="114300" cy="152705"/>
          </a:xfrm>
          <a:prstGeom prst="rect">
            <a:avLst/>
          </a:prstGeom>
        </p:spPr>
      </p:pic>
      <p:sp>
        <p:nvSpPr>
          <p:cNvPr id="76" name="Text 67"/>
          <p:cNvSpPr txBox="1"/>
          <p:nvPr/>
        </p:nvSpPr>
        <p:spPr>
          <a:xfrm>
            <a:off x="2686507" y="453359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위기상황 인지+변화 동기부여</a:t>
            </a:r>
            <a:endParaRPr lang="en-US" sz="1200" dirty="0"/>
          </a:p>
        </p:txBody>
      </p:sp>
      <p:sp>
        <p:nvSpPr>
          <p:cNvPr id="77" name="Text 68"/>
          <p:cNvSpPr txBox="1"/>
          <p:nvPr/>
        </p:nvSpPr>
        <p:spPr>
          <a:xfrm>
            <a:off x="2686507" y="4772254"/>
            <a:ext cx="6486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상황을 명확히 인지시키고 개선을 위한 실질적인 행동 변화를 유도합니다. 학생이 스스로 문제를 해결할 수 있는 환경을 제공합니다.</a:t>
            </a:r>
            <a:endParaRPr lang="en-US" sz="900" dirty="0"/>
          </a:p>
        </p:txBody>
      </p:sp>
      <p:sp>
        <p:nvSpPr>
          <p:cNvPr id="78" name="Shape 69"/>
          <p:cNvSpPr/>
          <p:nvPr/>
        </p:nvSpPr>
        <p:spPr>
          <a:xfrm>
            <a:off x="2686507" y="4953305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/>
        </p:spPr>
      </p:sp>
      <p:sp>
        <p:nvSpPr>
          <p:cNvPr id="79" name="Text 70"/>
          <p:cNvSpPr txBox="1"/>
          <p:nvPr/>
        </p:nvSpPr>
        <p:spPr>
          <a:xfrm>
            <a:off x="2743200" y="49725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자기인식</a:t>
            </a:r>
            <a:endParaRPr lang="en-US" sz="1200" dirty="0"/>
          </a:p>
        </p:txBody>
      </p:sp>
      <p:sp>
        <p:nvSpPr>
          <p:cNvPr id="80" name="Shape 71"/>
          <p:cNvSpPr/>
          <p:nvPr/>
        </p:nvSpPr>
        <p:spPr>
          <a:xfrm>
            <a:off x="3399739" y="4953305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81" name="Text 72"/>
          <p:cNvSpPr txBox="1"/>
          <p:nvPr/>
        </p:nvSpPr>
        <p:spPr>
          <a:xfrm>
            <a:off x="3456432" y="49725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목표설정</a:t>
            </a:r>
            <a:endParaRPr lang="en-US" sz="1200" dirty="0"/>
          </a:p>
        </p:txBody>
      </p:sp>
      <p:sp>
        <p:nvSpPr>
          <p:cNvPr id="82" name="Shape 73"/>
          <p:cNvSpPr/>
          <p:nvPr/>
        </p:nvSpPr>
        <p:spPr>
          <a:xfrm>
            <a:off x="4112971" y="4953305"/>
            <a:ext cx="676656" cy="267005"/>
          </a:xfrm>
          <a:prstGeom prst="roundRect">
            <a:avLst>
              <a:gd name="adj" fmla="val 48924"/>
            </a:avLst>
          </a:prstGeom>
          <a:solidFill>
            <a:srgbClr val="F5F3FF"/>
          </a:solidFill>
          <a:ln/>
        </p:spPr>
      </p:sp>
      <p:sp>
        <p:nvSpPr>
          <p:cNvPr id="83" name="Text 74"/>
          <p:cNvSpPr txBox="1"/>
          <p:nvPr/>
        </p:nvSpPr>
        <p:spPr>
          <a:xfrm>
            <a:off x="4169664" y="49725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행동계획</a:t>
            </a:r>
            <a:endParaRPr lang="en-US" sz="1200" dirty="0"/>
          </a:p>
        </p:txBody>
      </p:sp>
      <p:sp>
        <p:nvSpPr>
          <p:cNvPr id="84" name="Shape 75"/>
          <p:cNvSpPr/>
          <p:nvPr/>
        </p:nvSpPr>
        <p:spPr>
          <a:xfrm>
            <a:off x="2247595" y="5410505"/>
            <a:ext cx="9829800" cy="800100"/>
          </a:xfrm>
          <a:prstGeom prst="roundRect">
            <a:avLst>
              <a:gd name="adj" fmla="val 13605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8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343607" y="5553151"/>
            <a:ext cx="152705" cy="152705"/>
          </a:xfrm>
          <a:prstGeom prst="rect">
            <a:avLst/>
          </a:prstGeom>
        </p:spPr>
      </p:pic>
      <p:sp>
        <p:nvSpPr>
          <p:cNvPr id="86" name="Text 76"/>
          <p:cNvSpPr txBox="1"/>
          <p:nvPr/>
        </p:nvSpPr>
        <p:spPr>
          <a:xfrm>
            <a:off x="2572207" y="5505602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지표 (KPI)</a:t>
            </a:r>
            <a:endParaRPr lang="en-US" sz="1200" dirty="0"/>
          </a:p>
        </p:txBody>
      </p:sp>
      <p:pic>
        <p:nvPicPr>
          <p:cNvPr id="8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343607" y="5893308"/>
            <a:ext cx="133502" cy="133502"/>
          </a:xfrm>
          <a:prstGeom prst="rect">
            <a:avLst/>
          </a:prstGeom>
        </p:spPr>
      </p:pic>
      <p:sp>
        <p:nvSpPr>
          <p:cNvPr id="88" name="Text 77"/>
          <p:cNvSpPr txBox="1"/>
          <p:nvPr/>
        </p:nvSpPr>
        <p:spPr>
          <a:xfrm>
            <a:off x="2533802" y="5762549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경보 후 개입 완료율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2533802" y="5924398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 이상 목표</a:t>
            </a:r>
            <a:endParaRPr lang="en-US" sz="1000" dirty="0"/>
          </a:p>
        </p:txBody>
      </p:sp>
      <p:pic>
        <p:nvPicPr>
          <p:cNvPr id="9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575097" y="5893308"/>
            <a:ext cx="133502" cy="133502"/>
          </a:xfrm>
          <a:prstGeom prst="rect">
            <a:avLst/>
          </a:prstGeom>
        </p:spPr>
      </p:pic>
      <p:sp>
        <p:nvSpPr>
          <p:cNvPr id="91" name="Text 79"/>
          <p:cNvSpPr txBox="1"/>
          <p:nvPr/>
        </p:nvSpPr>
        <p:spPr>
          <a:xfrm>
            <a:off x="5766206" y="5762549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학생 상담 참여율</a:t>
            </a:r>
            <a:endParaRPr lang="en-US" sz="900" dirty="0"/>
          </a:p>
        </p:txBody>
      </p:sp>
      <p:sp>
        <p:nvSpPr>
          <p:cNvPr id="92" name="Text 80"/>
          <p:cNvSpPr txBox="1"/>
          <p:nvPr/>
        </p:nvSpPr>
        <p:spPr>
          <a:xfrm>
            <a:off x="5766206" y="5924398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80% 이상 목표</a:t>
            </a:r>
            <a:endParaRPr lang="en-US" sz="1000" dirty="0"/>
          </a:p>
        </p:txBody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807501" y="5893308"/>
            <a:ext cx="133502" cy="133502"/>
          </a:xfrm>
          <a:prstGeom prst="rect">
            <a:avLst/>
          </a:prstGeom>
        </p:spPr>
      </p:pic>
      <p:sp>
        <p:nvSpPr>
          <p:cNvPr id="94" name="Text 81"/>
          <p:cNvSpPr txBox="1"/>
          <p:nvPr/>
        </p:nvSpPr>
        <p:spPr>
          <a:xfrm>
            <a:off x="8997696" y="5762549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성취 개선률</a:t>
            </a:r>
            <a:endParaRPr lang="en-US" sz="900" dirty="0"/>
          </a:p>
        </p:txBody>
      </p:sp>
      <p:sp>
        <p:nvSpPr>
          <p:cNvPr id="95" name="Text 82"/>
          <p:cNvSpPr txBox="1"/>
          <p:nvPr/>
        </p:nvSpPr>
        <p:spPr>
          <a:xfrm>
            <a:off x="8997696" y="5924398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65% 이상 목표</a:t>
            </a:r>
            <a:endParaRPr lang="en-US" sz="1000" dirty="0"/>
          </a:p>
        </p:txBody>
      </p:sp>
      <p:sp>
        <p:nvSpPr>
          <p:cNvPr id="96" name="Shape 83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7" name="Text 84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98" name="Text 85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33602"/>
          </a:xfrm>
          <a:prstGeom prst="roundRect">
            <a:avLst>
              <a:gd name="adj" fmla="val 11993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3706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자동경보시스템 + 학습공동체 (2) 학습공동체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29107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2514600" y="690372"/>
            <a:ext cx="142646" cy="1143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695651" y="657454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지원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300984" y="629107"/>
            <a:ext cx="895198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3376879" y="690372"/>
            <a:ext cx="142646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57930" y="657454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통합적 접근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62202"/>
            <a:ext cx="9829800" cy="1181405"/>
          </a:xfrm>
          <a:prstGeom prst="roundRect">
            <a:avLst>
              <a:gd name="adj" fmla="val 6242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361895" y="1276502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19502" y="1333195"/>
            <a:ext cx="152705" cy="15270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2704795" y="1295705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학습전략 개선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2361895" y="1657807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2423160" y="1679753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2756002" y="1609344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과목별 맞춤 학습전략 제공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2361895" y="1957730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2423160" y="1980590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800" dirty="0"/>
          </a:p>
        </p:txBody>
      </p:sp>
      <p:sp>
        <p:nvSpPr>
          <p:cNvPr id="45" name="Text 39"/>
          <p:cNvSpPr txBox="1"/>
          <p:nvPr/>
        </p:nvSpPr>
        <p:spPr>
          <a:xfrm>
            <a:off x="2756002" y="1910182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계획 수립 및 관리 방법 코칭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7210044" y="1657807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7271309" y="1679753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7604150" y="1609344"/>
            <a:ext cx="1962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개인별 학습 스타일 파악 및 개선점 제시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7210044" y="1957730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7271309" y="1980590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보충</a:t>
            </a:r>
            <a:endParaRPr lang="en-US" sz="800" dirty="0"/>
          </a:p>
        </p:txBody>
      </p:sp>
      <p:sp>
        <p:nvSpPr>
          <p:cNvPr id="51" name="Text 45"/>
          <p:cNvSpPr txBox="1"/>
          <p:nvPr/>
        </p:nvSpPr>
        <p:spPr>
          <a:xfrm>
            <a:off x="7604150" y="1910182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 과목 중심 맞춤형 학습 프로그램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2247595" y="2411273"/>
            <a:ext cx="9829800" cy="1181405"/>
          </a:xfrm>
          <a:prstGeom prst="roundRect">
            <a:avLst>
              <a:gd name="adj" fmla="val 6242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2361895" y="2525573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2400300" y="2583180"/>
            <a:ext cx="190195" cy="152705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2704795" y="254477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동료학습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2361895" y="2906878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2423160" y="2929738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튜터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2756002" y="2859329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우수학생-취약학생 매칭 프로그램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2361895" y="3207715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2423160" y="3230575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</a:t>
            </a:r>
            <a:endParaRPr lang="en-US" sz="800" dirty="0"/>
          </a:p>
        </p:txBody>
      </p:sp>
      <p:sp>
        <p:nvSpPr>
          <p:cNvPr id="61" name="Text 54"/>
          <p:cNvSpPr txBox="1"/>
          <p:nvPr/>
        </p:nvSpPr>
        <p:spPr>
          <a:xfrm>
            <a:off x="2756002" y="3160166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과목별 협력 학습 그룹 운영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7210044" y="2906878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63" name="Text 56"/>
          <p:cNvSpPr txBox="1"/>
          <p:nvPr/>
        </p:nvSpPr>
        <p:spPr>
          <a:xfrm>
            <a:off x="7271309" y="2929738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멘토</a:t>
            </a:r>
            <a:endParaRPr lang="en-US" sz="800" dirty="0"/>
          </a:p>
        </p:txBody>
      </p:sp>
      <p:sp>
        <p:nvSpPr>
          <p:cNvPr id="64" name="Text 57"/>
          <p:cNvSpPr txBox="1"/>
          <p:nvPr/>
        </p:nvSpPr>
        <p:spPr>
          <a:xfrm>
            <a:off x="7604150" y="2859329"/>
            <a:ext cx="1933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선후배 연결을 통한 학업·대학생활 조언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7210044" y="3207715"/>
            <a:ext cx="323698" cy="209398"/>
          </a:xfrm>
          <a:prstGeom prst="roundRect">
            <a:avLst>
              <a:gd name="adj" fmla="val 396982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66" name="Text 59"/>
          <p:cNvSpPr txBox="1"/>
          <p:nvPr/>
        </p:nvSpPr>
        <p:spPr>
          <a:xfrm>
            <a:off x="7271309" y="3230575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</a:t>
            </a:r>
            <a:endParaRPr lang="en-US" sz="800" dirty="0"/>
          </a:p>
        </p:txBody>
      </p:sp>
      <p:sp>
        <p:nvSpPr>
          <p:cNvPr id="67" name="Text 60"/>
          <p:cNvSpPr txBox="1"/>
          <p:nvPr/>
        </p:nvSpPr>
        <p:spPr>
          <a:xfrm>
            <a:off x="7604150" y="3160166"/>
            <a:ext cx="1515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프로젝트, 토론 세션 활성화</a:t>
            </a:r>
            <a:endParaRPr lang="en-US" sz="900" dirty="0"/>
          </a:p>
        </p:txBody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91172" y="3674974"/>
            <a:ext cx="142646" cy="190195"/>
          </a:xfrm>
          <a:prstGeom prst="rect">
            <a:avLst/>
          </a:prstGeom>
        </p:spPr>
      </p:pic>
      <p:sp>
        <p:nvSpPr>
          <p:cNvPr id="69" name="Shape 61"/>
          <p:cNvSpPr/>
          <p:nvPr/>
        </p:nvSpPr>
        <p:spPr>
          <a:xfrm>
            <a:off x="2247595" y="3965753"/>
            <a:ext cx="4858207" cy="1371600"/>
          </a:xfrm>
          <a:prstGeom prst="roundRect">
            <a:avLst>
              <a:gd name="adj" fmla="val 463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0" name="Shape 62"/>
          <p:cNvSpPr/>
          <p:nvPr/>
        </p:nvSpPr>
        <p:spPr>
          <a:xfrm>
            <a:off x="2361895" y="4080053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2428646" y="4136746"/>
            <a:ext cx="133502" cy="152705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2704795" y="4098341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📚 학업적 통합</a:t>
            </a:r>
            <a:endParaRPr lang="en-US" sz="1200" dirty="0"/>
          </a:p>
        </p:txBody>
      </p:sp>
      <p:pic>
        <p:nvPicPr>
          <p:cNvPr id="7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361895" y="4470502"/>
            <a:ext cx="152705" cy="152705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2572207" y="4451299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성취도 향상, 학습 만족도 증가</a:t>
            </a:r>
            <a:endParaRPr lang="en-US" sz="90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361895" y="4755794"/>
            <a:ext cx="152705" cy="152705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2572207" y="4736592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비판적 사고력 개발, 과목 이해력 심화</a:t>
            </a:r>
            <a:endParaRPr lang="en-US" sz="900" dirty="0"/>
          </a:p>
        </p:txBody>
      </p:sp>
      <p:pic>
        <p:nvPicPr>
          <p:cNvPr id="7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361895" y="5042002"/>
            <a:ext cx="152705" cy="152705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2572207" y="5022799"/>
            <a:ext cx="2067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자기주도학습 역량 강화, 학습 지속성 향상</a:t>
            </a:r>
            <a:endParaRPr lang="en-US" sz="900" dirty="0"/>
          </a:p>
        </p:txBody>
      </p:sp>
      <p:sp>
        <p:nvSpPr>
          <p:cNvPr id="79" name="Shape 67"/>
          <p:cNvSpPr/>
          <p:nvPr/>
        </p:nvSpPr>
        <p:spPr>
          <a:xfrm>
            <a:off x="7220102" y="3965753"/>
            <a:ext cx="4858207" cy="1371600"/>
          </a:xfrm>
          <a:prstGeom prst="roundRect">
            <a:avLst>
              <a:gd name="adj" fmla="val 463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0" name="Shape 68"/>
          <p:cNvSpPr/>
          <p:nvPr/>
        </p:nvSpPr>
        <p:spPr>
          <a:xfrm>
            <a:off x="7334402" y="4080053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7372807" y="4136746"/>
            <a:ext cx="190195" cy="152705"/>
          </a:xfrm>
          <a:prstGeom prst="rect">
            <a:avLst/>
          </a:prstGeom>
        </p:spPr>
      </p:pic>
      <p:sp>
        <p:nvSpPr>
          <p:cNvPr id="82" name="Text 69"/>
          <p:cNvSpPr txBox="1"/>
          <p:nvPr/>
        </p:nvSpPr>
        <p:spPr>
          <a:xfrm>
            <a:off x="7677302" y="4098341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🤝 사회적 통합</a:t>
            </a:r>
            <a:endParaRPr lang="en-US" sz="1200" dirty="0"/>
          </a:p>
        </p:txBody>
      </p:sp>
      <p:pic>
        <p:nvPicPr>
          <p:cNvPr id="8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334402" y="4470502"/>
            <a:ext cx="152705" cy="152705"/>
          </a:xfrm>
          <a:prstGeom prst="rect">
            <a:avLst/>
          </a:prstGeom>
        </p:spPr>
      </p:pic>
      <p:sp>
        <p:nvSpPr>
          <p:cNvPr id="84" name="Text 70"/>
          <p:cNvSpPr txBox="1"/>
          <p:nvPr/>
        </p:nvSpPr>
        <p:spPr>
          <a:xfrm>
            <a:off x="7543800" y="4451299"/>
            <a:ext cx="1962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소속감 증가, 대학 커뮤니티 참여 활성화</a:t>
            </a:r>
            <a:endParaRPr lang="en-US" sz="900" dirty="0"/>
          </a:p>
        </p:txBody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334402" y="4755794"/>
            <a:ext cx="152705" cy="152705"/>
          </a:xfrm>
          <a:prstGeom prst="rect">
            <a:avLst/>
          </a:prstGeom>
        </p:spPr>
      </p:pic>
      <p:sp>
        <p:nvSpPr>
          <p:cNvPr id="86" name="Text 71"/>
          <p:cNvSpPr txBox="1"/>
          <p:nvPr/>
        </p:nvSpPr>
        <p:spPr>
          <a:xfrm>
            <a:off x="7543800" y="4736592"/>
            <a:ext cx="2115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또래 네트워크 형성, 학과/전공 정체성 강화</a:t>
            </a:r>
            <a:endParaRPr lang="en-US" sz="900" dirty="0"/>
          </a:p>
        </p:txBody>
      </p:sp>
      <p:pic>
        <p:nvPicPr>
          <p:cNvPr id="8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334402" y="5042002"/>
            <a:ext cx="152705" cy="152705"/>
          </a:xfrm>
          <a:prstGeom prst="rect">
            <a:avLst/>
          </a:prstGeom>
        </p:spPr>
      </p:pic>
      <p:sp>
        <p:nvSpPr>
          <p:cNvPr id="88" name="Text 72"/>
          <p:cNvSpPr txBox="1"/>
          <p:nvPr/>
        </p:nvSpPr>
        <p:spPr>
          <a:xfrm>
            <a:off x="7543800" y="5022799"/>
            <a:ext cx="2210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정서적 지지 시스템 구축, 중도이탈 의향 감소</a:t>
            </a:r>
            <a:endParaRPr lang="en-US" sz="900" dirty="0"/>
          </a:p>
        </p:txBody>
      </p:sp>
      <p:sp>
        <p:nvSpPr>
          <p:cNvPr id="89" name="Shape 73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0" name="Text 74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91" name="Text 75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13/18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" y="1228954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4690" y="124815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47749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80844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714854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" y="1762049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" y="2295144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" y="2829154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4690" y="17812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4690" y="231434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4690" y="2848356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247949"/>
            <a:ext cx="1819656" cy="457200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247949"/>
            <a:ext cx="28346" cy="457200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3756" y="3362249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4690" y="3381451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400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(단기)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7525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2514600" y="671170"/>
            <a:ext cx="105156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262579" y="609905"/>
            <a:ext cx="8668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57246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 개선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38474" y="671170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491179" y="6382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가시적 성과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230575" y="1143000"/>
            <a:ext cx="7867498" cy="609905"/>
          </a:xfrm>
          <a:prstGeom prst="roundRect">
            <a:avLst>
              <a:gd name="adj" fmla="val 28111"/>
            </a:avLst>
          </a:prstGeom>
          <a:solidFill>
            <a:srgbClr val="F0F7FF"/>
          </a:solidFill>
          <a:ln w="25400">
            <a:solidFill>
              <a:srgbClr val="5B8FF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6223406" y="1324051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실질적 등가부여 환경 필요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2247595" y="2333549"/>
            <a:ext cx="3200400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2361895" y="2447849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19502" y="2505456"/>
            <a:ext cx="152705" cy="15270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562295" y="2333549"/>
            <a:ext cx="3200400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8876995" y="2333549"/>
            <a:ext cx="3200400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3" name="Text 37"/>
          <p:cNvSpPr txBox="1"/>
          <p:nvPr/>
        </p:nvSpPr>
        <p:spPr>
          <a:xfrm>
            <a:off x="2704795" y="2467051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행동변화 유도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9334195" y="2467051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배분 최적화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2361895" y="2790749"/>
            <a:ext cx="30623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알림과 권고를 통해 학생들의 즉각적인 행동 변화를 유도합니다.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2361895" y="3247949"/>
            <a:ext cx="724205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38705" y="3305556"/>
            <a:ext cx="105156" cy="105156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6019495" y="2467051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학습공동체 참여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5676595" y="2790749"/>
            <a:ext cx="3014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학습전략 코칭, 또래 튜터링, 그룹 스터디 등의 공동체 활동 참여를 촉진합니다.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8991295" y="2790749"/>
            <a:ext cx="30531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학생별 위험 수준에 따라 상담, 튜터링, 재정 보조금 등의 지원을 효율적으로 배분합니다.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5676595" y="3247949"/>
            <a:ext cx="819302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2581351" y="3278124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패턴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5676595" y="2447849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5715000" y="2505456"/>
            <a:ext cx="190195" cy="152705"/>
          </a:xfrm>
          <a:prstGeom prst="rect">
            <a:avLst/>
          </a:prstGeom>
        </p:spPr>
      </p:pic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53405" y="3305556"/>
            <a:ext cx="105156" cy="105156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8991295" y="3247949"/>
            <a:ext cx="819302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5896051" y="3278124"/>
            <a:ext cx="604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통합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8991295" y="2447849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9038844" y="2505456"/>
            <a:ext cx="171907" cy="152705"/>
          </a:xfrm>
          <a:prstGeom prst="rect">
            <a:avLst/>
          </a:prstGeom>
        </p:spPr>
      </p:pic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068105" y="3305556"/>
            <a:ext cx="105156" cy="105156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9210751" y="3278124"/>
            <a:ext cx="604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 증대</a:t>
            </a:r>
            <a:endParaRPr lang="en-US" sz="800" dirty="0"/>
          </a:p>
        </p:txBody>
      </p:sp>
      <p:sp>
        <p:nvSpPr>
          <p:cNvPr id="62" name="Shape 51"/>
          <p:cNvSpPr/>
          <p:nvPr/>
        </p:nvSpPr>
        <p:spPr>
          <a:xfrm>
            <a:off x="2247595" y="3696919"/>
            <a:ext cx="9829800" cy="914400"/>
          </a:xfrm>
          <a:prstGeom prst="roundRect">
            <a:avLst>
              <a:gd name="adj" fmla="val 1041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361895" y="3847795"/>
            <a:ext cx="133502" cy="133502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2572207" y="3811219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성과 지표</a:t>
            </a:r>
            <a:endParaRPr lang="en-US" sz="1000" dirty="0"/>
          </a:p>
        </p:txBody>
      </p:sp>
      <p:sp>
        <p:nvSpPr>
          <p:cNvPr id="65" name="Text 53"/>
          <p:cNvSpPr txBox="1"/>
          <p:nvPr/>
        </p:nvSpPr>
        <p:spPr>
          <a:xfrm>
            <a:off x="2361895" y="4069080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제출률</a:t>
            </a:r>
            <a:endParaRPr lang="en-US" sz="900" dirty="0"/>
          </a:p>
        </p:txBody>
      </p:sp>
      <p:sp>
        <p:nvSpPr>
          <p:cNvPr id="66" name="Text 54"/>
          <p:cNvSpPr txBox="1"/>
          <p:nvPr/>
        </p:nvSpPr>
        <p:spPr>
          <a:xfrm>
            <a:off x="2361895" y="4230929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+15.2%</a:t>
            </a:r>
            <a:endParaRPr lang="en-US" sz="1000" dirty="0"/>
          </a:p>
        </p:txBody>
      </p:sp>
      <p:sp>
        <p:nvSpPr>
          <p:cNvPr id="67" name="Text 55"/>
          <p:cNvSpPr txBox="1"/>
          <p:nvPr/>
        </p:nvSpPr>
        <p:spPr>
          <a:xfrm>
            <a:off x="5562295" y="4069080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중간/기말고사 성적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5562295" y="423092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+8.7%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8762695" y="4069080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출석률</a:t>
            </a:r>
            <a:endParaRPr lang="en-US" sz="900" dirty="0"/>
          </a:p>
        </p:txBody>
      </p:sp>
      <p:sp>
        <p:nvSpPr>
          <p:cNvPr id="70" name="Text 58"/>
          <p:cNvSpPr txBox="1"/>
          <p:nvPr/>
        </p:nvSpPr>
        <p:spPr>
          <a:xfrm>
            <a:off x="8762695" y="4230929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+12.3%</a:t>
            </a:r>
            <a:endParaRPr lang="en-US" sz="1000" dirty="0"/>
          </a:p>
        </p:txBody>
      </p:sp>
      <p:sp>
        <p:nvSpPr>
          <p:cNvPr id="71" name="Shape 59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60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73" name="Text 61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14/18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" y="1228954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4690" y="124815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47749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80844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714854"/>
            <a:ext cx="28346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" y="1762049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" y="2295144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" y="2829154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4690" y="17812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4690" y="231434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4690" y="2848356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247949"/>
            <a:ext cx="1819656" cy="457200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247949"/>
            <a:ext cx="28346" cy="457200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3756" y="3362249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4690" y="3381451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400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(장기)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761695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271723" y="609905"/>
            <a:ext cx="972007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성과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48533" y="671170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00323" y="638251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 개선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886200" y="1143000"/>
            <a:ext cx="6553505" cy="629107"/>
          </a:xfrm>
          <a:prstGeom prst="roundRect">
            <a:avLst>
              <a:gd name="adj" fmla="val 22023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000500" y="1324051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58107" y="1380744"/>
            <a:ext cx="152705" cy="15270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4343400" y="1257300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재등록/이탈경로 모니터링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4343400" y="1495044"/>
            <a:ext cx="3324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학생들의 학업 상태를 지속적으로 관찰하여 위험군 식별 및 경로 추적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3886200" y="2009851"/>
            <a:ext cx="6553505" cy="629107"/>
          </a:xfrm>
          <a:prstGeom prst="roundRect">
            <a:avLst>
              <a:gd name="adj" fmla="val 22023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000500" y="2190902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067251" y="2247595"/>
            <a:ext cx="133502" cy="15270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4343400" y="212415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반복적 데이터 수집 및 추적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4343400" y="2361895"/>
            <a:ext cx="3143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장기간의 데이터 축적을 통한 패턴 발견 및 예측 모델 정확도 향상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3886200" y="2876702"/>
            <a:ext cx="6553505" cy="629107"/>
          </a:xfrm>
          <a:prstGeom prst="roundRect">
            <a:avLst>
              <a:gd name="adj" fmla="val 22023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4000500" y="3057754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4038905" y="3114446"/>
            <a:ext cx="190195" cy="15270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343400" y="2991002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📚 학습공동체 설계 고도화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4343400" y="3228746"/>
            <a:ext cx="2695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맞춤형 학습 지원 체계 확립 및 지속적 개선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3886200" y="3743554"/>
            <a:ext cx="6553505" cy="629107"/>
          </a:xfrm>
          <a:prstGeom prst="roundRect">
            <a:avLst>
              <a:gd name="adj" fmla="val 22023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4000500" y="3924605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4038905" y="3981298"/>
            <a:ext cx="190195" cy="15270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4343400" y="3857854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일련 프로세스 및 튜터링 최적화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4343400" y="4095598"/>
            <a:ext cx="3296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워크플로우와 학생별 최적 튜터 매칭으로 지원 효율 극대화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3886200" y="4610405"/>
            <a:ext cx="6553505" cy="647395"/>
          </a:xfrm>
          <a:prstGeom prst="roundRect">
            <a:avLst>
              <a:gd name="adj" fmla="val 20771"/>
            </a:avLst>
          </a:prstGeom>
          <a:solidFill>
            <a:srgbClr val="52C41A">
              <a:alpha val="10000"/>
            </a:srgbClr>
          </a:solidFill>
          <a:ln w="12700">
            <a:solidFill>
              <a:srgbClr val="52C41A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4009644" y="4800600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4058107" y="4858207"/>
            <a:ext cx="171907" cy="152705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4352544" y="4733849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✨ 제도적/구조적 효과 증대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4352544" y="4972507"/>
            <a:ext cx="3495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재등록률 증가, 중도이탈률 감소, 지원 효율성 향상으로 교육 성과 극대화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2247595" y="5391302"/>
            <a:ext cx="9829800" cy="705002"/>
          </a:xfrm>
          <a:prstGeom prst="roundRect">
            <a:avLst>
              <a:gd name="adj" fmla="val 1752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2" name="Text 52"/>
          <p:cNvSpPr txBox="1"/>
          <p:nvPr/>
        </p:nvSpPr>
        <p:spPr>
          <a:xfrm>
            <a:off x="6495898" y="5505602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지표 (KPI)</a:t>
            </a:r>
            <a:endParaRPr lang="en-US" sz="1200" dirty="0"/>
          </a:p>
        </p:txBody>
      </p:sp>
      <p:sp>
        <p:nvSpPr>
          <p:cNvPr id="63" name="Shape 53"/>
          <p:cNvSpPr/>
          <p:nvPr/>
        </p:nvSpPr>
        <p:spPr>
          <a:xfrm>
            <a:off x="5343754" y="5790895"/>
            <a:ext cx="771754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/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5419649" y="5810098"/>
            <a:ext cx="133502" cy="152705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5610758" y="5800954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재등록률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6259982" y="5790895"/>
            <a:ext cx="1133856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/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335878" y="5810098"/>
            <a:ext cx="152705" cy="152705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6545275" y="5800954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학사경고 전환율</a:t>
            </a:r>
            <a:endParaRPr lang="en-US" sz="900" dirty="0"/>
          </a:p>
        </p:txBody>
      </p:sp>
      <p:sp>
        <p:nvSpPr>
          <p:cNvPr id="69" name="Shape 57"/>
          <p:cNvSpPr/>
          <p:nvPr/>
        </p:nvSpPr>
        <p:spPr>
          <a:xfrm>
            <a:off x="7541971" y="5790895"/>
            <a:ext cx="1447495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/>
        </p:spPr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0" b="-100"/>
          <a:stretch/>
        </p:blipFill>
        <p:spPr>
          <a:xfrm>
            <a:off x="7618781" y="5810098"/>
            <a:ext cx="114300" cy="152705"/>
          </a:xfrm>
          <a:prstGeom prst="rect">
            <a:avLst/>
          </a:prstGeom>
        </p:spPr>
      </p:pic>
      <p:sp>
        <p:nvSpPr>
          <p:cNvPr id="71" name="Text 58"/>
          <p:cNvSpPr txBox="1"/>
          <p:nvPr/>
        </p:nvSpPr>
        <p:spPr>
          <a:xfrm>
            <a:off x="7789774" y="5800954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조기경보 후 개입완료율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Text 60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74" name="Text 61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15/18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향후 계획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761695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671170"/>
            <a:ext cx="114300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271723" y="609905"/>
            <a:ext cx="100035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2667305" y="6382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48533" y="671170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00323" y="638251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발전 방향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247595" y="1143000"/>
            <a:ext cx="4858207" cy="2066544"/>
          </a:xfrm>
          <a:prstGeom prst="roundRect">
            <a:avLst>
              <a:gd name="adj" fmla="val 203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19502" y="1314907"/>
            <a:ext cx="152705" cy="152705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7220102" y="1143000"/>
            <a:ext cx="4858207" cy="2066544"/>
          </a:xfrm>
          <a:prstGeom prst="roundRect">
            <a:avLst>
              <a:gd name="adj" fmla="val 203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2704795" y="12765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변수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2361895" y="1638605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2361895" y="2529230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2438705" y="1668780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2438705" y="2559406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800" dirty="0"/>
          </a:p>
        </p:txBody>
      </p:sp>
      <p:sp>
        <p:nvSpPr>
          <p:cNvPr id="45" name="Text 39"/>
          <p:cNvSpPr txBox="1"/>
          <p:nvPr/>
        </p:nvSpPr>
        <p:spPr>
          <a:xfrm>
            <a:off x="2787091" y="1600200"/>
            <a:ext cx="1396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과목 수, 평균 성적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2787091" y="1897380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납부 여부, 장학금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2787091" y="2193646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수업형태(주간/야간), 지원 방식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2787091" y="2490826"/>
            <a:ext cx="1233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부모 학력, 직업 정보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2361895" y="1934870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2438705" y="1965960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2361895" y="2232050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52C41A">
              <a:alpha val="10000"/>
            </a:srgbClr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2438705" y="2262226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2C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학적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2361895" y="2788006"/>
            <a:ext cx="4629607" cy="304495"/>
          </a:xfrm>
          <a:prstGeom prst="roundRect">
            <a:avLst>
              <a:gd name="adj" fmla="val 75075"/>
            </a:avLst>
          </a:prstGeom>
          <a:solidFill>
            <a:srgbClr val="EFF6FF"/>
          </a:solidFill>
          <a:ln/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38705" y="2887675"/>
            <a:ext cx="114300" cy="114300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2590495" y="2854757"/>
            <a:ext cx="3010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성취도와 재정 요인이 모델의 예측에 가장 큰 영향을 미침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7334402" y="1257300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7381951" y="1314907"/>
            <a:ext cx="171907" cy="152705"/>
          </a:xfrm>
          <a:prstGeom prst="rect">
            <a:avLst/>
          </a:prstGeom>
        </p:spPr>
      </p:pic>
      <p:sp>
        <p:nvSpPr>
          <p:cNvPr id="58" name="Shape 50"/>
          <p:cNvSpPr/>
          <p:nvPr/>
        </p:nvSpPr>
        <p:spPr>
          <a:xfrm>
            <a:off x="2247595" y="3321101"/>
            <a:ext cx="4858207" cy="1943100"/>
          </a:xfrm>
          <a:prstGeom prst="roundRect">
            <a:avLst>
              <a:gd name="adj" fmla="val 230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7220102" y="3321101"/>
            <a:ext cx="4858207" cy="1943100"/>
          </a:xfrm>
          <a:prstGeom prst="roundRect">
            <a:avLst>
              <a:gd name="adj" fmla="val 2307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0" name="Text 52"/>
          <p:cNvSpPr txBox="1"/>
          <p:nvPr/>
        </p:nvSpPr>
        <p:spPr>
          <a:xfrm>
            <a:off x="7677302" y="12765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성능</a:t>
            </a:r>
            <a:endParaRPr lang="en-US" sz="1200" dirty="0"/>
          </a:p>
        </p:txBody>
      </p:sp>
      <p:sp>
        <p:nvSpPr>
          <p:cNvPr id="61" name="Text 53"/>
          <p:cNvSpPr txBox="1"/>
          <p:nvPr/>
        </p:nvSpPr>
        <p:spPr>
          <a:xfrm>
            <a:off x="2704795" y="3454603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200" dirty="0"/>
          </a:p>
        </p:txBody>
      </p:sp>
      <p:sp>
        <p:nvSpPr>
          <p:cNvPr id="62" name="Text 54"/>
          <p:cNvSpPr txBox="1"/>
          <p:nvPr/>
        </p:nvSpPr>
        <p:spPr>
          <a:xfrm>
            <a:off x="7677302" y="3454603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200" dirty="0"/>
          </a:p>
        </p:txBody>
      </p:sp>
      <p:sp>
        <p:nvSpPr>
          <p:cNvPr id="63" name="Shape 55"/>
          <p:cNvSpPr/>
          <p:nvPr/>
        </p:nvSpPr>
        <p:spPr>
          <a:xfrm>
            <a:off x="7334402" y="2437790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7410298" y="2467966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</a:t>
            </a:r>
            <a:endParaRPr lang="en-US" sz="800" dirty="0"/>
          </a:p>
        </p:txBody>
      </p:sp>
      <p:sp>
        <p:nvSpPr>
          <p:cNvPr id="65" name="Text 57"/>
          <p:cNvSpPr txBox="1"/>
          <p:nvPr/>
        </p:nvSpPr>
        <p:spPr>
          <a:xfrm>
            <a:off x="7758684" y="2103120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Forest: 최고 성능 모델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7758684" y="2400300"/>
            <a:ext cx="1929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학습 속도, 적은 메모리 사용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7758684" y="2696566"/>
            <a:ext cx="2291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확장성, 대규모 데이터 핸들링 효율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7334402" y="2734970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69" name="Text 61"/>
          <p:cNvSpPr txBox="1"/>
          <p:nvPr/>
        </p:nvSpPr>
        <p:spPr>
          <a:xfrm>
            <a:off x="7410298" y="2765146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</a:t>
            </a:r>
            <a:endParaRPr lang="en-US" sz="800" dirty="0"/>
          </a:p>
        </p:txBody>
      </p:sp>
      <p:sp>
        <p:nvSpPr>
          <p:cNvPr id="70" name="Shape 62"/>
          <p:cNvSpPr/>
          <p:nvPr/>
        </p:nvSpPr>
        <p:spPr>
          <a:xfrm>
            <a:off x="7334402" y="2140610"/>
            <a:ext cx="352044" cy="228600"/>
          </a:xfrm>
          <a:prstGeom prst="roundRect">
            <a:avLst>
              <a:gd name="adj" fmla="val 333333"/>
            </a:avLst>
          </a:prstGeom>
          <a:solidFill>
            <a:srgbClr val="52C41A">
              <a:alpha val="10000"/>
            </a:srgbClr>
          </a:solidFill>
          <a:ln/>
        </p:spPr>
      </p:sp>
      <p:sp>
        <p:nvSpPr>
          <p:cNvPr id="71" name="Text 63"/>
          <p:cNvSpPr txBox="1"/>
          <p:nvPr/>
        </p:nvSpPr>
        <p:spPr>
          <a:xfrm>
            <a:off x="7410298" y="2171700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2C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2361895" y="4845406"/>
            <a:ext cx="4629607" cy="304495"/>
          </a:xfrm>
          <a:prstGeom prst="roundRect">
            <a:avLst>
              <a:gd name="adj" fmla="val 75075"/>
            </a:avLst>
          </a:prstGeom>
          <a:solidFill>
            <a:srgbClr val="EFF6FF"/>
          </a:solidFill>
          <a:ln/>
        </p:spPr>
      </p:sp>
      <p:sp>
        <p:nvSpPr>
          <p:cNvPr id="73" name="Text 65"/>
          <p:cNvSpPr txBox="1"/>
          <p:nvPr/>
        </p:nvSpPr>
        <p:spPr>
          <a:xfrm>
            <a:off x="2581351" y="4912157"/>
            <a:ext cx="2867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성공을 위한 핵심은 조기 개입과 지속적인 지원의 결합</a:t>
            </a:r>
            <a:endParaRPr lang="en-US" sz="900" dirty="0"/>
          </a:p>
        </p:txBody>
      </p:sp>
      <p:sp>
        <p:nvSpPr>
          <p:cNvPr id="74" name="Shape 66"/>
          <p:cNvSpPr/>
          <p:nvPr/>
        </p:nvSpPr>
        <p:spPr>
          <a:xfrm>
            <a:off x="7334402" y="1600200"/>
            <a:ext cx="1591056" cy="352044"/>
          </a:xfrm>
          <a:prstGeom prst="roundRect">
            <a:avLst>
              <a:gd name="adj" fmla="val 42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75" name="Text 67"/>
          <p:cNvSpPr txBox="1"/>
          <p:nvPr/>
        </p:nvSpPr>
        <p:spPr>
          <a:xfrm>
            <a:off x="7456018" y="1661465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 0.932609</a:t>
            </a:r>
            <a:endParaRPr lang="en-US" sz="1200" dirty="0"/>
          </a:p>
        </p:txBody>
      </p:sp>
      <p:sp>
        <p:nvSpPr>
          <p:cNvPr id="76" name="Shape 68"/>
          <p:cNvSpPr/>
          <p:nvPr/>
        </p:nvSpPr>
        <p:spPr>
          <a:xfrm>
            <a:off x="8994038" y="1600200"/>
            <a:ext cx="1619402" cy="352044"/>
          </a:xfrm>
          <a:prstGeom prst="roundRect">
            <a:avLst>
              <a:gd name="adj" fmla="val 421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77" name="Text 69"/>
          <p:cNvSpPr txBox="1"/>
          <p:nvPr/>
        </p:nvSpPr>
        <p:spPr>
          <a:xfrm>
            <a:off x="9116568" y="1661465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 0.914601</a:t>
            </a:r>
            <a:endParaRPr lang="en-US" sz="1200" dirty="0"/>
          </a:p>
        </p:txBody>
      </p:sp>
      <p:sp>
        <p:nvSpPr>
          <p:cNvPr id="78" name="Shape 70"/>
          <p:cNvSpPr/>
          <p:nvPr/>
        </p:nvSpPr>
        <p:spPr>
          <a:xfrm>
            <a:off x="2361895" y="3435401"/>
            <a:ext cx="267005" cy="2670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2438705" y="3493008"/>
            <a:ext cx="114300" cy="152705"/>
          </a:xfrm>
          <a:prstGeom prst="rect">
            <a:avLst/>
          </a:prstGeom>
        </p:spPr>
      </p:pic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361895" y="3825850"/>
            <a:ext cx="152705" cy="152705"/>
          </a:xfrm>
          <a:prstGeom prst="rect">
            <a:avLst/>
          </a:prstGeom>
        </p:spPr>
      </p:pic>
      <p:sp>
        <p:nvSpPr>
          <p:cNvPr id="81" name="Text 71"/>
          <p:cNvSpPr txBox="1"/>
          <p:nvPr/>
        </p:nvSpPr>
        <p:spPr>
          <a:xfrm>
            <a:off x="2590495" y="3797503"/>
            <a:ext cx="2891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참여도 + 재정 요인이 중도이탈에 결정적 영향</a:t>
            </a:r>
            <a:endParaRPr lang="en-US" sz="1000" dirty="0"/>
          </a:p>
        </p:txBody>
      </p:sp>
      <p:pic>
        <p:nvPicPr>
          <p:cNvPr id="8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361895" y="4092854"/>
            <a:ext cx="152705" cy="152705"/>
          </a:xfrm>
          <a:prstGeom prst="rect">
            <a:avLst/>
          </a:prstGeom>
        </p:spPr>
      </p:pic>
      <p:sp>
        <p:nvSpPr>
          <p:cNvPr id="83" name="Text 72"/>
          <p:cNvSpPr txBox="1"/>
          <p:nvPr/>
        </p:nvSpPr>
        <p:spPr>
          <a:xfrm>
            <a:off x="2590495" y="4064508"/>
            <a:ext cx="3072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 성취도(승인 학점, 평점)가 가장 강력한 예측 지표</a:t>
            </a:r>
            <a:endParaRPr lang="en-US" sz="1000" dirty="0"/>
          </a:p>
        </p:txBody>
      </p:sp>
      <p:pic>
        <p:nvPicPr>
          <p:cNvPr id="8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361895" y="4359859"/>
            <a:ext cx="152705" cy="152705"/>
          </a:xfrm>
          <a:prstGeom prst="rect">
            <a:avLst/>
          </a:prstGeom>
        </p:spPr>
      </p:pic>
      <p:sp>
        <p:nvSpPr>
          <p:cNvPr id="85" name="Text 73"/>
          <p:cNvSpPr txBox="1"/>
          <p:nvPr/>
        </p:nvSpPr>
        <p:spPr>
          <a:xfrm>
            <a:off x="2590495" y="4330598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등록금 납부 상태는 이탈 직전 조기 경고 신호</a:t>
            </a:r>
            <a:endParaRPr lang="en-US" sz="1000" dirty="0"/>
          </a:p>
        </p:txBody>
      </p:sp>
      <p:pic>
        <p:nvPicPr>
          <p:cNvPr id="8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361895" y="4625950"/>
            <a:ext cx="152705" cy="152705"/>
          </a:xfrm>
          <a:prstGeom prst="rect">
            <a:avLst/>
          </a:prstGeom>
        </p:spPr>
      </p:pic>
      <p:sp>
        <p:nvSpPr>
          <p:cNvPr id="87" name="Text 74"/>
          <p:cNvSpPr txBox="1"/>
          <p:nvPr/>
        </p:nvSpPr>
        <p:spPr>
          <a:xfrm>
            <a:off x="2590495" y="4597603"/>
            <a:ext cx="2852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개입으로 이탈률 완화 및 학생 성공 지원 가능</a:t>
            </a:r>
            <a:endParaRPr lang="en-US" sz="1000" dirty="0"/>
          </a:p>
        </p:txBody>
      </p:sp>
      <p:pic>
        <p:nvPicPr>
          <p:cNvPr id="88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2438705" y="4945075"/>
            <a:ext cx="105156" cy="114300"/>
          </a:xfrm>
          <a:prstGeom prst="rect">
            <a:avLst/>
          </a:prstGeom>
        </p:spPr>
      </p:pic>
      <p:sp>
        <p:nvSpPr>
          <p:cNvPr id="89" name="Shape 75"/>
          <p:cNvSpPr/>
          <p:nvPr/>
        </p:nvSpPr>
        <p:spPr>
          <a:xfrm>
            <a:off x="7334402" y="4845406"/>
            <a:ext cx="4629607" cy="304495"/>
          </a:xfrm>
          <a:prstGeom prst="roundRect">
            <a:avLst>
              <a:gd name="adj" fmla="val 75075"/>
            </a:avLst>
          </a:prstGeom>
          <a:solidFill>
            <a:srgbClr val="EFF6FF"/>
          </a:solidFill>
          <a:ln/>
        </p:spPr>
      </p:sp>
      <p:sp>
        <p:nvSpPr>
          <p:cNvPr id="90" name="Text 76"/>
          <p:cNvSpPr txBox="1"/>
          <p:nvPr/>
        </p:nvSpPr>
        <p:spPr>
          <a:xfrm>
            <a:off x="7563002" y="3797503"/>
            <a:ext cx="2348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기반 설명 강화 - 모델 해석력 개선</a:t>
            </a:r>
            <a:endParaRPr lang="en-US" sz="1000" dirty="0"/>
          </a:p>
        </p:txBody>
      </p:sp>
      <p:sp>
        <p:nvSpPr>
          <p:cNvPr id="91" name="Text 77"/>
          <p:cNvSpPr txBox="1"/>
          <p:nvPr/>
        </p:nvSpPr>
        <p:spPr>
          <a:xfrm>
            <a:off x="7563002" y="4597603"/>
            <a:ext cx="2643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확장(다기관), MLOps 파이프라인 구축</a:t>
            </a:r>
            <a:endParaRPr lang="en-US" sz="1000" dirty="0"/>
          </a:p>
        </p:txBody>
      </p:sp>
      <p:sp>
        <p:nvSpPr>
          <p:cNvPr id="92" name="Shape 78"/>
          <p:cNvSpPr/>
          <p:nvPr/>
        </p:nvSpPr>
        <p:spPr>
          <a:xfrm>
            <a:off x="7334402" y="3435401"/>
            <a:ext cx="267005" cy="267005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9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391095" y="3493008"/>
            <a:ext cx="152705" cy="152705"/>
          </a:xfrm>
          <a:prstGeom prst="rect">
            <a:avLst/>
          </a:prstGeom>
        </p:spPr>
      </p:pic>
      <p:pic>
        <p:nvPicPr>
          <p:cNvPr id="9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334402" y="3825850"/>
            <a:ext cx="152705" cy="152705"/>
          </a:xfrm>
          <a:prstGeom prst="rect">
            <a:avLst/>
          </a:prstGeom>
        </p:spPr>
      </p:pic>
      <p:pic>
        <p:nvPicPr>
          <p:cNvPr id="9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334402" y="4092854"/>
            <a:ext cx="152705" cy="152705"/>
          </a:xfrm>
          <a:prstGeom prst="rect">
            <a:avLst/>
          </a:prstGeom>
        </p:spPr>
      </p:pic>
      <p:sp>
        <p:nvSpPr>
          <p:cNvPr id="96" name="Text 79"/>
          <p:cNvSpPr txBox="1"/>
          <p:nvPr/>
        </p:nvSpPr>
        <p:spPr>
          <a:xfrm>
            <a:off x="7563002" y="4064508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시계열·누적 이력 반영 - 학기별 변화 추적</a:t>
            </a:r>
            <a:endParaRPr lang="en-US" sz="1000" dirty="0"/>
          </a:p>
        </p:txBody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7334402" y="4359859"/>
            <a:ext cx="152705" cy="152705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7563002" y="4330598"/>
            <a:ext cx="2319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러닝/모니터링 - 실시간 대응체계</a:t>
            </a:r>
            <a:endParaRPr lang="en-US" sz="1000" dirty="0"/>
          </a:p>
        </p:txBody>
      </p:sp>
      <p:pic>
        <p:nvPicPr>
          <p:cNvPr id="9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334402" y="4625950"/>
            <a:ext cx="152705" cy="152705"/>
          </a:xfrm>
          <a:prstGeom prst="rect">
            <a:avLst/>
          </a:prstGeom>
        </p:spPr>
      </p:pic>
      <p:pic>
        <p:nvPicPr>
          <p:cNvPr id="10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410298" y="4945075"/>
            <a:ext cx="114300" cy="114300"/>
          </a:xfrm>
          <a:prstGeom prst="rect">
            <a:avLst/>
          </a:prstGeom>
        </p:spPr>
      </p:pic>
      <p:sp>
        <p:nvSpPr>
          <p:cNvPr id="101" name="Text 81"/>
          <p:cNvSpPr txBox="1"/>
          <p:nvPr/>
        </p:nvSpPr>
        <p:spPr>
          <a:xfrm>
            <a:off x="7563002" y="4912157"/>
            <a:ext cx="2734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모델 개선과 시스템 최적화를 통한 정확도 향상</a:t>
            </a:r>
            <a:endParaRPr lang="en-US" sz="900" dirty="0"/>
          </a:p>
        </p:txBody>
      </p:sp>
      <p:sp>
        <p:nvSpPr>
          <p:cNvPr id="102" name="Shape 82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3" name="Text 83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104" name="Text 84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16/18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914400"/>
          </a:xfrm>
          <a:prstGeom prst="roundRect">
            <a:avLst>
              <a:gd name="adj" fmla="val 12500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438705" y="295351"/>
            <a:ext cx="2809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구현 결과 - Streamlit 웹 앱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705" y="609905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2514600" y="671170"/>
            <a:ext cx="142646" cy="114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616452" y="609905"/>
            <a:ext cx="972007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4659782" y="609905"/>
            <a:ext cx="972007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2695651" y="638251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애플리케이션</a:t>
            </a:r>
            <a:endParaRPr lang="en-US" sz="9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92347" y="671170"/>
            <a:ext cx="114300" cy="1143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3845052" y="638251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기반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36592" y="671170"/>
            <a:ext cx="114300" cy="1143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4888382" y="638251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시각화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2247595" y="1143000"/>
            <a:ext cx="9829800" cy="1410005"/>
          </a:xfrm>
          <a:prstGeom prst="roundRect">
            <a:avLst>
              <a:gd name="adj" fmla="val 4382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361895" y="1257300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19502" y="1314907"/>
            <a:ext cx="152705" cy="15270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2704795" y="12765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2361895" y="1619402"/>
            <a:ext cx="267005" cy="267005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2424074" y="1695298"/>
            <a:ext cx="142646" cy="11430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2704795" y="1600200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및 기술 스택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7563002" y="1600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2704795" y="1819656"/>
            <a:ext cx="2581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1.x, Python 3.10, pandas, scikit-learn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7563002" y="1819656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 (최종 모델)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2704795" y="2018995"/>
            <a:ext cx="666598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rcRect l="-1677" r="-1677" t="0" b="0"/>
          <a:stretch/>
        </p:blipFill>
        <p:spPr>
          <a:xfrm>
            <a:off x="2781605" y="2077517"/>
            <a:ext cx="95098" cy="105156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3440887" y="2018995"/>
            <a:ext cx="780898" cy="228600"/>
          </a:xfrm>
          <a:prstGeom prst="roundRect">
            <a:avLst>
              <a:gd name="adj" fmla="val 333333"/>
            </a:avLst>
          </a:prstGeom>
          <a:solidFill>
            <a:srgbClr val="5B8FF9">
              <a:alpha val="10000"/>
            </a:srgbClr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2915107" y="2050085"/>
            <a:ext cx="46177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8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516782" y="2077517"/>
            <a:ext cx="105156" cy="105156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3660343" y="2050085"/>
            <a:ext cx="5660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8F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800" dirty="0"/>
          </a:p>
        </p:txBody>
      </p:sp>
      <p:sp>
        <p:nvSpPr>
          <p:cNvPr id="55" name="Shape 45"/>
          <p:cNvSpPr/>
          <p:nvPr/>
        </p:nvSpPr>
        <p:spPr>
          <a:xfrm>
            <a:off x="7220102" y="1619402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295998" y="1695298"/>
            <a:ext cx="114300" cy="114300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7563002" y="2018995"/>
            <a:ext cx="657454" cy="418795"/>
          </a:xfrm>
          <a:prstGeom prst="roundRect">
            <a:avLst>
              <a:gd name="adj" fmla="val 19849"/>
            </a:avLst>
          </a:prstGeom>
          <a:solidFill>
            <a:srgbClr val="EFF6FF"/>
          </a:solidFill>
          <a:ln/>
        </p:spPr>
      </p:sp>
      <p:sp>
        <p:nvSpPr>
          <p:cNvPr id="58" name="Shape 47"/>
          <p:cNvSpPr/>
          <p:nvPr/>
        </p:nvSpPr>
        <p:spPr>
          <a:xfrm>
            <a:off x="8289036" y="2018995"/>
            <a:ext cx="657454" cy="418795"/>
          </a:xfrm>
          <a:prstGeom prst="roundRect">
            <a:avLst>
              <a:gd name="adj" fmla="val 19849"/>
            </a:avLst>
          </a:prstGeom>
          <a:solidFill>
            <a:srgbClr val="EFF6FF"/>
          </a:solidFill>
          <a:ln/>
        </p:spPr>
      </p:sp>
      <p:sp>
        <p:nvSpPr>
          <p:cNvPr id="59" name="Text 48"/>
          <p:cNvSpPr txBox="1"/>
          <p:nvPr/>
        </p:nvSpPr>
        <p:spPr>
          <a:xfrm>
            <a:off x="7638898" y="2048256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8364931" y="204825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7638898" y="2210105"/>
            <a:ext cx="538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0.9146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8364931" y="2210105"/>
            <a:ext cx="538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0.9326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2286000" y="2667305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애플리케이션 화면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2247595" y="2933395"/>
            <a:ext cx="3181198" cy="1600200"/>
          </a:xfrm>
          <a:prstGeom prst="roundRect">
            <a:avLst>
              <a:gd name="adj" fmla="val 340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324405" y="3029407"/>
            <a:ext cx="114300" cy="114300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5575097" y="2933395"/>
            <a:ext cx="3181198" cy="1600200"/>
          </a:xfrm>
          <a:prstGeom prst="roundRect">
            <a:avLst>
              <a:gd name="adj" fmla="val 340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8902598" y="2933395"/>
            <a:ext cx="3181198" cy="1600200"/>
          </a:xfrm>
          <a:prstGeom prst="roundRect">
            <a:avLst>
              <a:gd name="adj" fmla="val 340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8" name="Text 56"/>
          <p:cNvSpPr txBox="1"/>
          <p:nvPr/>
        </p:nvSpPr>
        <p:spPr>
          <a:xfrm>
            <a:off x="2476195" y="3010205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정보 입력 화면</a:t>
            </a:r>
            <a:endParaRPr lang="en-US" sz="900" dirty="0"/>
          </a:p>
        </p:txBody>
      </p:sp>
      <p:sp>
        <p:nvSpPr>
          <p:cNvPr id="69" name="Text 57"/>
          <p:cNvSpPr txBox="1"/>
          <p:nvPr/>
        </p:nvSpPr>
        <p:spPr>
          <a:xfrm>
            <a:off x="5803697" y="3010205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탐색 대시보드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2324405" y="3200400"/>
            <a:ext cx="3029407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</p:spPr>
      </p:sp>
      <p:sp>
        <p:nvSpPr>
          <p:cNvPr id="71" name="Shape 59"/>
          <p:cNvSpPr/>
          <p:nvPr/>
        </p:nvSpPr>
        <p:spPr>
          <a:xfrm>
            <a:off x="5651906" y="3200400"/>
            <a:ext cx="3029407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18689" b="18689"/>
          <a:stretch/>
        </p:blipFill>
        <p:spPr>
          <a:xfrm>
            <a:off x="2324405" y="3200400"/>
            <a:ext cx="3029407" cy="1067105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2324405" y="4295851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기초 정보 입력 폼</a:t>
            </a:r>
            <a:endParaRPr lang="en-US" sz="900" dirty="0"/>
          </a:p>
        </p:txBody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651906" y="3029407"/>
            <a:ext cx="114300" cy="114300"/>
          </a:xfrm>
          <a:prstGeom prst="rect">
            <a:avLst/>
          </a:prstGeom>
        </p:spPr>
      </p:pic>
      <p:sp>
        <p:nvSpPr>
          <p:cNvPr id="75" name="Text 61"/>
          <p:cNvSpPr txBox="1"/>
          <p:nvPr/>
        </p:nvSpPr>
        <p:spPr>
          <a:xfrm>
            <a:off x="9150401" y="3010205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 화면</a:t>
            </a:r>
            <a:endParaRPr lang="en-US" sz="900" dirty="0"/>
          </a:p>
        </p:txBody>
      </p:sp>
      <p:sp>
        <p:nvSpPr>
          <p:cNvPr id="76" name="Shape 62"/>
          <p:cNvSpPr/>
          <p:nvPr/>
        </p:nvSpPr>
        <p:spPr>
          <a:xfrm>
            <a:off x="8978494" y="3200400"/>
            <a:ext cx="3029407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</p:spPr>
      </p:sp>
      <p:pic>
        <p:nvPicPr>
          <p:cNvPr id="7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18689" b="18689"/>
          <a:stretch/>
        </p:blipFill>
        <p:spPr>
          <a:xfrm>
            <a:off x="5651906" y="3200400"/>
            <a:ext cx="3029407" cy="1067105"/>
          </a:xfrm>
          <a:prstGeom prst="rect">
            <a:avLst/>
          </a:prstGeom>
        </p:spPr>
      </p:pic>
      <p:pic>
        <p:nvPicPr>
          <p:cNvPr id="7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18689" b="18689"/>
          <a:stretch/>
        </p:blipFill>
        <p:spPr>
          <a:xfrm>
            <a:off x="8978494" y="3200400"/>
            <a:ext cx="3029407" cy="1067105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5651906" y="4295851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데이터 분석 화면</a:t>
            </a:r>
            <a:endParaRPr lang="en-US" sz="900" dirty="0"/>
          </a:p>
        </p:txBody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8978494" y="3029407"/>
            <a:ext cx="133502" cy="114300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8978494" y="4295851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 예측 결과</a:t>
            </a:r>
            <a:endParaRPr lang="en-US" sz="900" dirty="0"/>
          </a:p>
        </p:txBody>
      </p:sp>
      <p:sp>
        <p:nvSpPr>
          <p:cNvPr id="82" name="Shape 65"/>
          <p:cNvSpPr/>
          <p:nvPr/>
        </p:nvSpPr>
        <p:spPr>
          <a:xfrm>
            <a:off x="2247595" y="4610405"/>
            <a:ext cx="4839005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3" name="Shape 66"/>
          <p:cNvSpPr/>
          <p:nvPr/>
        </p:nvSpPr>
        <p:spPr>
          <a:xfrm>
            <a:off x="2361895" y="4724705"/>
            <a:ext cx="267005" cy="267005"/>
          </a:xfrm>
          <a:prstGeom prst="ellipse">
            <a:avLst/>
          </a:prstGeom>
          <a:solidFill>
            <a:srgbClr val="52C41A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84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419502" y="4781398"/>
            <a:ext cx="152705" cy="152705"/>
          </a:xfrm>
          <a:prstGeom prst="rect">
            <a:avLst/>
          </a:prstGeom>
        </p:spPr>
      </p:pic>
      <p:sp>
        <p:nvSpPr>
          <p:cNvPr id="85" name="Shape 67"/>
          <p:cNvSpPr/>
          <p:nvPr/>
        </p:nvSpPr>
        <p:spPr>
          <a:xfrm>
            <a:off x="7239305" y="4610405"/>
            <a:ext cx="4839005" cy="1257300"/>
          </a:xfrm>
          <a:prstGeom prst="roundRect">
            <a:avLst>
              <a:gd name="adj" fmla="val 551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6" name="Text 68"/>
          <p:cNvSpPr txBox="1"/>
          <p:nvPr/>
        </p:nvSpPr>
        <p:spPr>
          <a:xfrm>
            <a:off x="2704795" y="4762195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및 운영 계획</a:t>
            </a:r>
            <a:endParaRPr lang="en-US" sz="1000" dirty="0"/>
          </a:p>
        </p:txBody>
      </p:sp>
      <p:sp>
        <p:nvSpPr>
          <p:cNvPr id="87" name="Text 69"/>
          <p:cNvSpPr txBox="1"/>
          <p:nvPr/>
        </p:nvSpPr>
        <p:spPr>
          <a:xfrm>
            <a:off x="2361895" y="5020056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구현 및 시연 후 실제 환경 배포 계획</a:t>
            </a:r>
            <a:endParaRPr lang="en-US" sz="900" dirty="0"/>
          </a:p>
        </p:txBody>
      </p:sp>
      <p:pic>
        <p:nvPicPr>
          <p:cNvPr id="8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361895" y="5238598"/>
            <a:ext cx="114300" cy="114300"/>
          </a:xfrm>
          <a:prstGeom prst="rect">
            <a:avLst/>
          </a:prstGeom>
        </p:spPr>
      </p:pic>
      <p:sp>
        <p:nvSpPr>
          <p:cNvPr id="89" name="Text 70"/>
          <p:cNvSpPr txBox="1"/>
          <p:nvPr/>
        </p:nvSpPr>
        <p:spPr>
          <a:xfrm>
            <a:off x="2514600" y="5219395"/>
            <a:ext cx="2105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Cloud 또는 내부망 서버 호스팅</a:t>
            </a:r>
            <a:endParaRPr lang="en-US" sz="900" dirty="0"/>
          </a:p>
        </p:txBody>
      </p:sp>
      <p:pic>
        <p:nvPicPr>
          <p:cNvPr id="9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2361895" y="5429707"/>
            <a:ext cx="114300" cy="114300"/>
          </a:xfrm>
          <a:prstGeom prst="rect">
            <a:avLst/>
          </a:prstGeom>
        </p:spPr>
      </p:pic>
      <p:sp>
        <p:nvSpPr>
          <p:cNvPr id="91" name="Text 71"/>
          <p:cNvSpPr txBox="1"/>
          <p:nvPr/>
        </p:nvSpPr>
        <p:spPr>
          <a:xfrm>
            <a:off x="2514600" y="541050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주기적 모델 재학습 및 성능 개선</a:t>
            </a:r>
            <a:endParaRPr lang="en-US" sz="900" dirty="0"/>
          </a:p>
        </p:txBody>
      </p:sp>
      <p:pic>
        <p:nvPicPr>
          <p:cNvPr id="9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2361895" y="5619902"/>
            <a:ext cx="114300" cy="114300"/>
          </a:xfrm>
          <a:prstGeom prst="rect">
            <a:avLst/>
          </a:prstGeom>
        </p:spPr>
      </p:pic>
      <p:sp>
        <p:nvSpPr>
          <p:cNvPr id="93" name="Text 72"/>
          <p:cNvSpPr txBox="1"/>
          <p:nvPr/>
        </p:nvSpPr>
        <p:spPr>
          <a:xfrm>
            <a:off x="7696505" y="4762195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가이드</a:t>
            </a:r>
            <a:endParaRPr lang="en-US" sz="1000" dirty="0"/>
          </a:p>
        </p:txBody>
      </p:sp>
      <p:sp>
        <p:nvSpPr>
          <p:cNvPr id="94" name="Text 73"/>
          <p:cNvSpPr txBox="1"/>
          <p:nvPr/>
        </p:nvSpPr>
        <p:spPr>
          <a:xfrm>
            <a:off x="7353605" y="5020056"/>
            <a:ext cx="2362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기본 UI 요소를 활용한 일관된 디자인</a:t>
            </a:r>
            <a:endParaRPr lang="en-US" sz="900" dirty="0"/>
          </a:p>
        </p:txBody>
      </p:sp>
      <p:sp>
        <p:nvSpPr>
          <p:cNvPr id="95" name="Text 74"/>
          <p:cNvSpPr txBox="1"/>
          <p:nvPr/>
        </p:nvSpPr>
        <p:spPr>
          <a:xfrm>
            <a:off x="2514600" y="5600700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학사시스템 연동 가능성 검토</a:t>
            </a:r>
            <a:endParaRPr lang="en-US" sz="900" dirty="0"/>
          </a:p>
        </p:txBody>
      </p:sp>
      <p:sp>
        <p:nvSpPr>
          <p:cNvPr id="96" name="Shape 75"/>
          <p:cNvSpPr/>
          <p:nvPr/>
        </p:nvSpPr>
        <p:spPr>
          <a:xfrm>
            <a:off x="7353605" y="4724705"/>
            <a:ext cx="267005" cy="267005"/>
          </a:xfrm>
          <a:prstGeom prst="ellipse">
            <a:avLst/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97" name="Image 19" descr="preencoded.png">    </p:cNvPr>
          <p:cNvPicPr>
            <a:picLocks noChangeAspect="1"/>
          </p:cNvPicPr>
          <p:nvPr/>
        </p:nvPicPr>
        <p:blipFill>
          <a:blip r:embed="rId20"/>
          <a:srcRect l="-33" r="-33" t="0" b="0"/>
          <a:stretch/>
        </p:blipFill>
        <p:spPr>
          <a:xfrm>
            <a:off x="7401154" y="4781398"/>
            <a:ext cx="171907" cy="152705"/>
          </a:xfrm>
          <a:prstGeom prst="rect">
            <a:avLst/>
          </a:prstGeom>
        </p:spPr>
      </p:pic>
      <p:pic>
        <p:nvPicPr>
          <p:cNvPr id="98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353605" y="5238598"/>
            <a:ext cx="114300" cy="114300"/>
          </a:xfrm>
          <a:prstGeom prst="rect">
            <a:avLst/>
          </a:prstGeom>
        </p:spPr>
      </p:pic>
      <p:sp>
        <p:nvSpPr>
          <p:cNvPr id="99" name="Text 76"/>
          <p:cNvSpPr txBox="1"/>
          <p:nvPr/>
        </p:nvSpPr>
        <p:spPr>
          <a:xfrm>
            <a:off x="7505395" y="5219395"/>
            <a:ext cx="2210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사이드바(#1a1d2e) + 화이트 메인 영역</a:t>
            </a:r>
            <a:endParaRPr lang="en-US" sz="900" dirty="0"/>
          </a:p>
        </p:txBody>
      </p:sp>
      <p:pic>
        <p:nvPicPr>
          <p:cNvPr id="100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7353605" y="5429707"/>
            <a:ext cx="114300" cy="114300"/>
          </a:xfrm>
          <a:prstGeom prst="rect">
            <a:avLst/>
          </a:prstGeom>
        </p:spPr>
      </p:pic>
      <p:sp>
        <p:nvSpPr>
          <p:cNvPr id="101" name="Text 77"/>
          <p:cNvSpPr txBox="1"/>
          <p:nvPr/>
        </p:nvSpPr>
        <p:spPr>
          <a:xfrm>
            <a:off x="7505395" y="5410505"/>
            <a:ext cx="1571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블루 그라데이션 헤더(#5b8ff9)</a:t>
            </a:r>
            <a:endParaRPr lang="en-US" sz="900" dirty="0"/>
          </a:p>
        </p:txBody>
      </p:sp>
      <p:pic>
        <p:nvPicPr>
          <p:cNvPr id="102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7353605" y="5619902"/>
            <a:ext cx="114300" cy="114300"/>
          </a:xfrm>
          <a:prstGeom prst="rect">
            <a:avLst/>
          </a:prstGeom>
        </p:spPr>
      </p:pic>
      <p:sp>
        <p:nvSpPr>
          <p:cNvPr id="103" name="Text 78"/>
          <p:cNvSpPr txBox="1"/>
          <p:nvPr/>
        </p:nvSpPr>
        <p:spPr>
          <a:xfrm>
            <a:off x="7505395" y="5600700"/>
            <a:ext cx="20866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디자인: 라운드(12px), 미니멀 그림자</a:t>
            </a:r>
            <a:endParaRPr lang="en-US" sz="900" dirty="0"/>
          </a:p>
        </p:txBody>
      </p:sp>
      <p:sp>
        <p:nvSpPr>
          <p:cNvPr id="104" name="Shape 79"/>
          <p:cNvSpPr/>
          <p:nvPr/>
        </p:nvSpPr>
        <p:spPr>
          <a:xfrm>
            <a:off x="2133295" y="6543446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5" name="Text 80"/>
          <p:cNvSpPr txBox="1"/>
          <p:nvPr/>
        </p:nvSpPr>
        <p:spPr>
          <a:xfrm>
            <a:off x="2210105" y="6620256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2025 SK Networks Family AI Camp</a:t>
            </a:r>
            <a:endParaRPr lang="en-US" sz="900" dirty="0"/>
          </a:p>
        </p:txBody>
      </p:sp>
      <p:sp>
        <p:nvSpPr>
          <p:cNvPr id="106" name="Text 81"/>
          <p:cNvSpPr txBox="1"/>
          <p:nvPr/>
        </p:nvSpPr>
        <p:spPr>
          <a:xfrm>
            <a:off x="11816791" y="6620256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17/18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3295" cy="685800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2124151" y="0"/>
            <a:ext cx="9144" cy="6858000"/>
          </a:xfrm>
          <a:prstGeom prst="rect">
            <a:avLst/>
          </a:prstGeom>
          <a:solidFill>
            <a:srgbClr val="2529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24205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2705" y="1426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 Family AI Camp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2705" y="314554"/>
            <a:ext cx="1709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SKN20-2nd-4TEAM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5" y="875995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내비게이션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2705" y="11146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7" y="12097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9846" y="12289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2705" y="160934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5" y="2104949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705" y="2600554"/>
            <a:ext cx="28346" cy="4187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5877" y="17053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5877" y="220004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5877" y="2695651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" y="1723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9846" y="221924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선택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" y="271485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2705" y="3095244"/>
            <a:ext cx="1819656" cy="418795"/>
          </a:xfrm>
          <a:prstGeom prst="rect">
            <a:avLst/>
          </a:prstGeom>
          <a:solidFill>
            <a:srgbClr val="5B8FF9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705" y="3095244"/>
            <a:ext cx="28346" cy="418795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5877" y="3191256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" y="3209544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결과분석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91656"/>
            <a:ext cx="2124151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-1613" r="-1613" t="0" b="0"/>
          <a:stretch/>
        </p:blipFill>
        <p:spPr>
          <a:xfrm>
            <a:off x="152705" y="6572707"/>
            <a:ext cx="114300" cy="1143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342900" y="654344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저장소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133295" y="0"/>
            <a:ext cx="100584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247595" y="114300"/>
            <a:ext cx="9829800" cy="875995"/>
          </a:xfrm>
          <a:prstGeom prst="roundRect">
            <a:avLst>
              <a:gd name="adj" fmla="val 13615"/>
            </a:avLst>
          </a:prstGeom>
          <a:solidFill>
            <a:srgbClr val="5B8FF9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671462" y="295351"/>
            <a:ext cx="1133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293815" y="638251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학업 중도 이탈률 예측 프로젝트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30575" y="2262226"/>
            <a:ext cx="7867498" cy="2361895"/>
          </a:xfrm>
          <a:prstGeom prst="roundRect">
            <a:avLst>
              <a:gd name="adj" fmla="val 1561"/>
            </a:avLst>
          </a:prstGeom>
          <a:solidFill>
            <a:srgbClr val="F0F7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990234" y="2357323"/>
            <a:ext cx="25246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 Signal Detector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558991" y="2757830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자퇴 시그널 감지조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858000" y="3138221"/>
            <a:ext cx="6099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2"/>
          <p:cNvSpPr/>
          <p:nvPr/>
        </p:nvSpPr>
        <p:spPr>
          <a:xfrm>
            <a:off x="4472330" y="3443630"/>
            <a:ext cx="961949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5035" y="3557930"/>
            <a:ext cx="152705" cy="152705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4853635" y="3519526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김황현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5578754" y="3443630"/>
            <a:ext cx="961949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31459" y="3557930"/>
            <a:ext cx="152705" cy="15270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960059" y="3519526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이도경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686093" y="3443630"/>
            <a:ext cx="961949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37883" y="3557930"/>
            <a:ext cx="152705" cy="152705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066483" y="3519526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이지은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7792517" y="3443630"/>
            <a:ext cx="961949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44307" y="3557930"/>
            <a:ext cx="152705" cy="15270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172907" y="3519526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정소영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8898941" y="3443630"/>
            <a:ext cx="961949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050731" y="3557930"/>
            <a:ext cx="152705" cy="15270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9279331" y="3519526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최유정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5747918" y="4129430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5704027" y="4319626"/>
            <a:ext cx="557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4,424명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6400800" y="412943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6388913" y="4319626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35개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7098487" y="412943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모델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6888175" y="4319626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8071409" y="4129430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 Score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8065922" y="4319626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0.932609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4588459" y="4738421"/>
            <a:ext cx="5152644" cy="457200"/>
          </a:xfrm>
          <a:prstGeom prst="roundRect">
            <a:avLst>
              <a:gd name="adj" fmla="val 33333"/>
            </a:avLst>
          </a:prstGeom>
          <a:solidFill>
            <a:srgbClr val="5B8FF9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448" b="-1448"/>
          <a:stretch/>
        </p:blipFill>
        <p:spPr>
          <a:xfrm>
            <a:off x="4817059" y="4881982"/>
            <a:ext cx="161849" cy="171907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5093208" y="4852721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github.com/SKNETWORKS-FAMILY-AICAMP/SKN20-2nd-4TEAM</a:t>
            </a:r>
            <a:endParaRPr lang="en-US" sz="1200" dirty="0"/>
          </a:p>
        </p:txBody>
      </p:sp>
      <p:sp>
        <p:nvSpPr>
          <p:cNvPr id="61" name="Shape 52"/>
          <p:cNvSpPr/>
          <p:nvPr/>
        </p:nvSpPr>
        <p:spPr>
          <a:xfrm>
            <a:off x="2133295" y="6467551"/>
            <a:ext cx="100584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2210105" y="6553505"/>
            <a:ext cx="1086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Networks</a:t>
            </a:r>
            <a:endParaRPr lang="en-US" sz="1200" dirty="0"/>
          </a:p>
        </p:txBody>
      </p:sp>
      <p:sp>
        <p:nvSpPr>
          <p:cNvPr id="63" name="Text 54"/>
          <p:cNvSpPr txBox="1"/>
          <p:nvPr/>
        </p:nvSpPr>
        <p:spPr>
          <a:xfrm>
            <a:off x="3213202" y="655350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Family AI Camp</a:t>
            </a:r>
            <a:endParaRPr lang="en-US" sz="1200" dirty="0"/>
          </a:p>
        </p:txBody>
      </p:sp>
      <p:sp>
        <p:nvSpPr>
          <p:cNvPr id="64" name="Shape 55"/>
          <p:cNvSpPr/>
          <p:nvPr/>
        </p:nvSpPr>
        <p:spPr>
          <a:xfrm>
            <a:off x="4425696" y="6572707"/>
            <a:ext cx="190195" cy="190195"/>
          </a:xfrm>
          <a:prstGeom prst="roundRect">
            <a:avLst>
              <a:gd name="adj" fmla="val 480770"/>
            </a:avLst>
          </a:prstGeom>
          <a:solidFill>
            <a:srgbClr val="3B82F6"/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4469587" y="6590995"/>
            <a:ext cx="191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900" dirty="0"/>
          </a:p>
        </p:txBody>
      </p:sp>
      <p:sp>
        <p:nvSpPr>
          <p:cNvPr id="66" name="Text 57"/>
          <p:cNvSpPr txBox="1"/>
          <p:nvPr/>
        </p:nvSpPr>
        <p:spPr>
          <a:xfrm>
            <a:off x="11816791" y="6581851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18/18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2025-11-05T02:26:44Z</dcterms:created>
  <dcterms:modified xsi:type="dcterms:W3CDTF">2025-11-05T02:26:44Z</dcterms:modified>
</cp:coreProperties>
</file>